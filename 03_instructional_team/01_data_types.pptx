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7" r:id="rId2"/>
    <p:sldId id="258" r:id="rId3"/>
    <p:sldId id="260" r:id="rId4"/>
    <p:sldId id="259" r:id="rId5"/>
    <p:sldId id="261" r:id="rId6"/>
    <p:sldId id="263" r:id="rId7"/>
    <p:sldId id="262" r:id="rId8"/>
    <p:sldId id="265" r:id="rId9"/>
    <p:sldId id="266" r:id="rId10"/>
    <p:sldId id="267" r:id="rId11"/>
    <p:sldId id="268" r:id="rId12"/>
    <p:sldId id="269" r:id="rId13"/>
    <p:sldId id="264" r:id="rId14"/>
    <p:sldId id="270" r:id="rId15"/>
    <p:sldId id="271" r:id="rId16"/>
    <p:sldId id="272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703"/>
    <p:restoredTop sz="97030"/>
  </p:normalViewPr>
  <p:slideViewPr>
    <p:cSldViewPr snapToGrid="0">
      <p:cViewPr varScale="1">
        <p:scale>
          <a:sx n="104" d="100"/>
          <a:sy n="104" d="100"/>
        </p:scale>
        <p:origin x="23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C5302-4D6F-4D45-98F3-BF8F1D8FC9E0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97B60-0069-334D-822C-06AE055F4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86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Hi everyone, I’m Julia — a PhD candidate at the Institute of Medical Science here at the University of Toronto.</a:t>
            </a:r>
          </a:p>
          <a:p>
            <a:br>
              <a:rPr lang="en-CA" dirty="0"/>
            </a:br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10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CA" sz="2800" dirty="0"/>
          </a:p>
          <a:p>
            <a:r>
              <a:rPr lang="en-CA" sz="4000" dirty="0"/>
              <a:t>By the end of this session</a:t>
            </a:r>
          </a:p>
          <a:p>
            <a:endParaRPr lang="en-CA" sz="4000" dirty="0"/>
          </a:p>
          <a:p>
            <a:r>
              <a:rPr lang="en-CA" sz="5400" b="1" dirty="0"/>
              <a:t>Navigate Jupyter Notebooks</a:t>
            </a:r>
            <a:endParaRPr lang="en-CA" sz="54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Open, run, and edit code and markdown cells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Understand the difference between code cells and markdown cells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Execute cells individually and in sequence</a:t>
            </a:r>
          </a:p>
          <a:p>
            <a:pPr>
              <a:buFont typeface="Arial" panose="020B0604020202020204" pitchFamily="34" charset="0"/>
              <a:buChar char="•"/>
            </a:pPr>
            <a:endParaRPr lang="en-CA" sz="5400" dirty="0"/>
          </a:p>
          <a:p>
            <a:r>
              <a:rPr lang="en-CA" sz="5400" b="1" dirty="0"/>
              <a:t>Understand Core Python Data Types</a:t>
            </a:r>
            <a:endParaRPr lang="en-CA" sz="54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Identify and work with common data types including integers, floats, strings, and </a:t>
            </a:r>
            <a:r>
              <a:rPr lang="en-CA" sz="5400" dirty="0" err="1"/>
              <a:t>booleans</a:t>
            </a:r>
            <a:endParaRPr lang="en-CA" sz="54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Recognize how data types affect program behavior and outputs</a:t>
            </a:r>
          </a:p>
          <a:p>
            <a:r>
              <a:rPr lang="en-CA" sz="5400" b="1" dirty="0"/>
              <a:t>Differentiate Between Statements and Expressions</a:t>
            </a:r>
            <a:endParaRPr lang="en-CA" sz="54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Explain the difference between a statement and an expression in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Evaluate expressions and interpret their results</a:t>
            </a:r>
          </a:p>
          <a:p>
            <a:r>
              <a:rPr lang="en-CA" sz="5400" b="1" dirty="0"/>
              <a:t>Apply Arithmetic Operators</a:t>
            </a:r>
            <a:endParaRPr lang="en-CA" sz="54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Use basic arithmetic operators (+, -, *, /)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Apply additional operators such as exponentiation (**), integer division (//), and modulo (%)</a:t>
            </a:r>
          </a:p>
          <a:p>
            <a:r>
              <a:rPr lang="en-CA" sz="5400" b="1" dirty="0"/>
              <a:t>Use Logical Operators</a:t>
            </a:r>
            <a:endParaRPr lang="en-CA" sz="54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Apply comparison operators (==, !=, &lt;, &gt;, &lt;=, &gt;=)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Use logical operators (and, or, not) to evaluate conditions</a:t>
            </a:r>
          </a:p>
          <a:p>
            <a:r>
              <a:rPr lang="en-CA" sz="5400" b="1" dirty="0"/>
              <a:t>Create and Use Variables</a:t>
            </a:r>
            <a:endParaRPr lang="en-CA" sz="54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Assign values to variables using meaningful names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Update and reuse variables in calculations and expressions</a:t>
            </a:r>
          </a:p>
          <a:p>
            <a:r>
              <a:rPr lang="en-CA" sz="5400" b="1" dirty="0"/>
              <a:t>Practice Coding in Python</a:t>
            </a:r>
            <a:endParaRPr lang="en-CA" sz="54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Write and execute simple Python code to reinforce core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5400" dirty="0"/>
              <a:t>Interpret error messages and troubleshoot basic issues</a:t>
            </a:r>
          </a:p>
          <a:p>
            <a:endParaRPr lang="en-CA" sz="4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85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A873E-666A-F739-2C33-FE2DC7F10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A1CC7-2987-6EB6-E9F3-E45A12BB1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67165-D9EE-49F7-0C82-1CC562BAE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EFAFA-B108-9E37-6031-CD2A9BD53A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267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5738C-F39A-499D-F173-62B6BF05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EA7FE-2E16-2793-E3AA-5D0089F22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FF3AB4-B17E-5338-7218-CA8D476D5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DC4D6-50BE-058E-1E01-FB91AEB8B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890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1080-B6B7-8E74-7B17-58B09081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8B86F-A820-FB2E-9A3F-A122B5A71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168A4-CC8A-7126-EE0A-587D06170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5E529-0331-B4EE-6422-FE4119798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961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18268-0BEC-F0FB-300C-50C0F7223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C9A00-B2F9-B71E-060F-C0B0C5CF6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306B4-AC1E-2325-562E-97049548D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D9651-D898-CE37-1A56-588DF5600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654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62961-1141-EA12-AA03-1FE38619F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66E7F-437A-4509-53E9-824630EDE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A11A0-80EE-4D69-9BA8-1738352B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7B065-DC02-7D0C-F6B2-182B6F6D4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035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20773-5C38-A468-0295-FA5770EA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37BC4-A6E6-E39E-0DDB-0CFF915D1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05797-3133-E227-7D8B-DCE53B422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0ADA6-376E-B7E1-7764-AC4D5ECB0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9048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FEFD5-CA42-E0D4-50E0-78FEB164C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8D162-4570-FFE0-7BF6-EC4E8D12B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13912-2A8E-982C-51A1-108A49DDC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D2BD2-E7D8-CB28-F799-D917D101F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918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95855-7A3E-E3AA-6765-88DCC082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2117A-A1D8-2105-1066-EB0A31A27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1E8BE-4444-9192-F28E-926A29086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15B9F-CD68-B082-B54B-2638E1A14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823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518DA-6D31-6FC4-F4B1-2E67AF2AE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BCB4A-13E6-5481-944A-BDB5FD507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C8C4D-F59C-D7C1-9F1B-F7677B54B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6AE8A-C57C-A328-4921-771248F6A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775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A7BBA-F83B-08B8-32BC-6718F2BF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B79CB-EF8A-8994-78A1-0F908BD24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AAABB-7C6F-08A7-499D-3B2CBF0A6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ABB2A-DF65-E35D-2549-322C3E44C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62433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97A49-9F45-002F-6B7B-8830968F7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D0536-A9E8-7AD1-6BC5-35C3CB6DE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3CD12-D4D1-26CF-9A7B-0C6ECC640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796B9-5741-63B8-0878-1CDED9C84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63255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13DD7-E800-0396-ADB2-4EF15F50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D6E52B-788A-D079-8A3D-293A0D4F1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8EBE1-2DAF-E1AC-06EB-32B7A2329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00AD5-1975-DBEF-AD1F-046EE125D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0216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82E9D-D8A3-060E-F588-9561CB6F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C4DDA-EBE2-55E5-CD71-021453FBD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AF361-4196-739B-8CA6-BDFFAB37C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EAB-DECF-E917-A1B5-A3EF194CD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284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69FD-889C-522F-82C4-BEE21B447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E75E4-804D-031A-0AF1-C09601CDC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C10CE-E41E-F8F3-B951-748F35BBD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ECDC9-C2E9-9E99-99F8-FD70C288C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98170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DB3B-0C9B-14EE-8313-4E95E5C4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F902B-079C-F4C5-6DB0-5BFEB799D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2AE56-A005-A2EE-AA72-28E6BDBBE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10565-0E7C-9A78-B306-43B0EAC35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343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9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8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7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6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32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35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3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33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86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1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0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137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1707-777C-7A52-3280-B460A827B0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01. 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53FD7-2DFC-6C46-9DD8-3F808B642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endParaRPr lang="en-US" sz="1400" b="1" dirty="0"/>
          </a:p>
          <a:p>
            <a:pPr algn="l"/>
            <a:r>
              <a:rPr lang="en-US" b="1" dirty="0"/>
              <a:t>Data Science Institute | Python</a:t>
            </a:r>
          </a:p>
          <a:p>
            <a:pPr algn="l"/>
            <a:endParaRPr lang="en-US" sz="1400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1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B004-DEF5-406C-8AD6-3F634E4E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CF6B-5C58-D402-B42A-C111665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7743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CA" sz="3400" dirty="0">
                <a:solidFill>
                  <a:schemeClr val="bg1"/>
                </a:solidFill>
              </a:rPr>
              <a:t>Introduction to Jupyter notebooks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CA" sz="3400" dirty="0">
                <a:solidFill>
                  <a:schemeClr val="bg1"/>
                </a:solidFill>
              </a:rPr>
              <a:t>Understand core python data types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CA" sz="3400" dirty="0">
                <a:solidFill>
                  <a:schemeClr val="bg1"/>
                </a:solidFill>
              </a:rPr>
              <a:t>Differentiate between statements and expressions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CA" sz="3400" dirty="0">
                <a:solidFill>
                  <a:schemeClr val="bg1"/>
                </a:solidFill>
              </a:rPr>
              <a:t>Use logical operators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CA" sz="3400" dirty="0">
                <a:solidFill>
                  <a:schemeClr val="bg1"/>
                </a:solidFill>
              </a:rPr>
              <a:t>Create and use variables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A841DD-E53E-2531-1197-7EEEC275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E0118AD-306C-038A-880A-26E22E39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Jupyter notebook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33DE7BA-8B2B-0345-9092-435B98731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63026" cy="4351338"/>
          </a:xfrm>
        </p:spPr>
        <p:txBody>
          <a:bodyPr>
            <a:normAutofit fontScale="92500" lnSpcReduction="20000"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We will be using </a:t>
            </a:r>
            <a:r>
              <a:rPr lang="en-CA" sz="2400" b="1" dirty="0">
                <a:solidFill>
                  <a:schemeClr val="bg1"/>
                </a:solidFill>
              </a:rPr>
              <a:t>Jupyter Notebooks</a:t>
            </a:r>
            <a:r>
              <a:rPr lang="en-CA" sz="2400" dirty="0">
                <a:solidFill>
                  <a:schemeClr val="bg1"/>
                </a:solidFill>
              </a:rPr>
              <a:t>, which are files that end in </a:t>
            </a:r>
            <a:r>
              <a:rPr lang="en-CA" sz="2400" b="1" dirty="0">
                <a:solidFill>
                  <a:schemeClr val="bg1"/>
                </a:solidFill>
              </a:rPr>
              <a:t>.</a:t>
            </a:r>
            <a:r>
              <a:rPr lang="en-CA" sz="2400" b="1" dirty="0" err="1">
                <a:solidFill>
                  <a:schemeClr val="bg1"/>
                </a:solidFill>
              </a:rPr>
              <a:t>ipynb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b="1" dirty="0">
                <a:solidFill>
                  <a:schemeClr val="bg1"/>
                </a:solidFill>
              </a:rPr>
              <a:t>What is a Jupyter Notebook?</a:t>
            </a:r>
            <a:endParaRPr lang="en-CA" sz="2400" dirty="0">
              <a:solidFill>
                <a:schemeClr val="bg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A notebook lets you write </a:t>
            </a:r>
            <a:r>
              <a:rPr lang="en-CA" b="1" dirty="0">
                <a:solidFill>
                  <a:schemeClr val="bg1"/>
                </a:solidFill>
              </a:rPr>
              <a:t>code and notes in the same place</a:t>
            </a:r>
            <a:endParaRPr lang="en-CA" dirty="0">
              <a:solidFill>
                <a:schemeClr val="bg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You can explain </a:t>
            </a:r>
            <a:r>
              <a:rPr lang="en-CA" i="1" dirty="0">
                <a:solidFill>
                  <a:schemeClr val="bg1"/>
                </a:solidFill>
              </a:rPr>
              <a:t>what you’re doing</a:t>
            </a:r>
            <a:r>
              <a:rPr lang="en-CA" dirty="0">
                <a:solidFill>
                  <a:schemeClr val="bg1"/>
                </a:solidFill>
              </a:rPr>
              <a:t> while writing Python code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Everything stays together in one document!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Jupyter Notebooks are made up of </a:t>
            </a:r>
            <a:r>
              <a:rPr lang="en-CA" sz="2400" b="1" dirty="0">
                <a:solidFill>
                  <a:schemeClr val="bg1"/>
                </a:solidFill>
              </a:rPr>
              <a:t>cells</a:t>
            </a:r>
            <a:r>
              <a:rPr lang="en-CA" sz="2400" dirty="0">
                <a:solidFill>
                  <a:schemeClr val="bg1"/>
                </a:solidFill>
              </a:rPr>
              <a:t>. Each cell can contain</a:t>
            </a:r>
            <a:r>
              <a:rPr lang="en-CA" sz="2400" b="1" dirty="0">
                <a:solidFill>
                  <a:schemeClr val="bg1"/>
                </a:solidFill>
              </a:rPr>
              <a:t> either code or text.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Code cells do the work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Text cells explain what the code is doing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Using both helps keep your notebook organized and easy to understand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endParaRPr lang="en-CA" sz="20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pic>
        <p:nvPicPr>
          <p:cNvPr id="1026" name="Picture 2" descr="Jupyter - ULHPC Technical Documentation">
            <a:extLst>
              <a:ext uri="{FF2B5EF4-FFF2-40B4-BE49-F238E27FC236}">
                <a16:creationId xmlns:a16="http://schemas.microsoft.com/office/drawing/2014/main" id="{971714BE-6C7A-84EA-FACF-C0B23595B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532" y="2314575"/>
            <a:ext cx="1922899" cy="222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51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26E22-A128-8BD8-C343-310F7F701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F948721-436B-40D6-5AF8-960B2FD61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69" y="1874953"/>
            <a:ext cx="7772400" cy="415627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BF078FA-6D10-ABBE-2028-86E5A8CD8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47" y="365125"/>
            <a:ext cx="11353800" cy="1325563"/>
          </a:xfrm>
        </p:spPr>
        <p:txBody>
          <a:bodyPr/>
          <a:lstStyle/>
          <a:p>
            <a:r>
              <a:rPr lang="en-CA" dirty="0">
                <a:solidFill>
                  <a:schemeClr val="bg1"/>
                </a:solidFill>
              </a:rPr>
              <a:t>Running Code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150EE1-DFED-5412-D48B-AEA9948C0006}"/>
              </a:ext>
            </a:extLst>
          </p:cNvPr>
          <p:cNvSpPr txBox="1"/>
          <p:nvPr/>
        </p:nvSpPr>
        <p:spPr>
          <a:xfrm>
            <a:off x="8717247" y="1321844"/>
            <a:ext cx="3150393" cy="48936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Code is written in </a:t>
            </a:r>
            <a:r>
              <a:rPr lang="en-CA" sz="2400" b="1" dirty="0">
                <a:solidFill>
                  <a:schemeClr val="bg1"/>
                </a:solidFill>
              </a:rPr>
              <a:t>cells</a:t>
            </a:r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You can run: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One cell at a time (Click the ▶ button, or Press </a:t>
            </a:r>
            <a:r>
              <a:rPr lang="en-CA" sz="2400" dirty="0">
                <a:solidFill>
                  <a:schemeClr val="bg1"/>
                </a:solidFill>
                <a:latin typeface="Courier" pitchFamily="2" charset="0"/>
              </a:rPr>
              <a:t>Shift + Enter/Return</a:t>
            </a:r>
          </a:p>
          <a:p>
            <a:r>
              <a:rPr lang="en-CA" sz="2400" i="1" dirty="0">
                <a:solidFill>
                  <a:schemeClr val="bg1"/>
                </a:solidFill>
              </a:rPr>
              <a:t>                   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All cells from top to bottom (Click Run all)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Results will appear right below the code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AD06EF-B106-D87D-FB62-7A4AA2486762}"/>
              </a:ext>
            </a:extLst>
          </p:cNvPr>
          <p:cNvSpPr/>
          <p:nvPr/>
        </p:nvSpPr>
        <p:spPr>
          <a:xfrm>
            <a:off x="1140996" y="3150641"/>
            <a:ext cx="7238444" cy="506959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EB2E51-F43B-BAA3-B35C-9C39FBC6466D}"/>
              </a:ext>
            </a:extLst>
          </p:cNvPr>
          <p:cNvSpPr/>
          <p:nvPr/>
        </p:nvSpPr>
        <p:spPr>
          <a:xfrm>
            <a:off x="2975459" y="2356535"/>
            <a:ext cx="645071" cy="307585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98C0D6-BB26-C773-9CEA-C201A6417DCC}"/>
              </a:ext>
            </a:extLst>
          </p:cNvPr>
          <p:cNvSpPr/>
          <p:nvPr/>
        </p:nvSpPr>
        <p:spPr>
          <a:xfrm>
            <a:off x="851647" y="1899667"/>
            <a:ext cx="1953337" cy="250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02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FB31D-F544-E6B8-41BA-8F7F15B7E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E47CC302-63BA-984D-F100-E67386886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69" y="1874953"/>
            <a:ext cx="7772400" cy="415627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DF57164-B63E-C79A-2BB2-0768029B4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CA" dirty="0">
                <a:solidFill>
                  <a:schemeClr val="bg1"/>
                </a:solidFill>
              </a:rPr>
              <a:t>Writing Notes and Explanations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144260-F913-962A-18D6-7D6EB3CAD186}"/>
              </a:ext>
            </a:extLst>
          </p:cNvPr>
          <p:cNvSpPr txBox="1"/>
          <p:nvPr/>
        </p:nvSpPr>
        <p:spPr>
          <a:xfrm>
            <a:off x="8752965" y="2338386"/>
            <a:ext cx="3150393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You can add </a:t>
            </a:r>
            <a:r>
              <a:rPr lang="en-CA" sz="2400" b="1" dirty="0">
                <a:solidFill>
                  <a:schemeClr val="bg1"/>
                </a:solidFill>
              </a:rPr>
              <a:t>text cells</a:t>
            </a:r>
            <a:r>
              <a:rPr lang="en-CA" sz="2400" dirty="0">
                <a:solidFill>
                  <a:schemeClr val="bg1"/>
                </a:solidFill>
              </a:rPr>
              <a:t> to write explanations, titles, or instructions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This helps you remember what your code does!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0879B3-B469-65BD-9786-EBC7018B3572}"/>
              </a:ext>
            </a:extLst>
          </p:cNvPr>
          <p:cNvSpPr/>
          <p:nvPr/>
        </p:nvSpPr>
        <p:spPr>
          <a:xfrm>
            <a:off x="1113579" y="3781168"/>
            <a:ext cx="7301371" cy="1079756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205B5D-02EB-1468-BE6D-2964E7C0F25C}"/>
              </a:ext>
            </a:extLst>
          </p:cNvPr>
          <p:cNvSpPr/>
          <p:nvPr/>
        </p:nvSpPr>
        <p:spPr>
          <a:xfrm>
            <a:off x="851647" y="1899667"/>
            <a:ext cx="1953337" cy="250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60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94A2A-C7E5-F815-5362-A091C1667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7CD9654-38DF-E045-0326-9D9819861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CA" dirty="0">
                <a:solidFill>
                  <a:schemeClr val="bg1"/>
                </a:solidFill>
              </a:rPr>
              <a:t>Text syntax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C864FB-A33E-0BAC-13FE-94AE872486E6}"/>
              </a:ext>
            </a:extLst>
          </p:cNvPr>
          <p:cNvSpPr txBox="1"/>
          <p:nvPr/>
        </p:nvSpPr>
        <p:spPr>
          <a:xfrm>
            <a:off x="3192321" y="1885641"/>
            <a:ext cx="664555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Syntax on left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Output on right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 descr="A white sheet with black text&#10;&#10;Description automatically generated">
            <a:extLst>
              <a:ext uri="{FF2B5EF4-FFF2-40B4-BE49-F238E27FC236}">
                <a16:creationId xmlns:a16="http://schemas.microsoft.com/office/drawing/2014/main" id="{9634D74C-4775-1E26-203C-8B995DE3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802"/>
          <a:stretch/>
        </p:blipFill>
        <p:spPr>
          <a:xfrm>
            <a:off x="1157014" y="2420758"/>
            <a:ext cx="9877971" cy="283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33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6F4BE-B446-0737-E32B-9EB712B6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191320A-7F4D-22E4-03D8-CFD5FCF29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43" y="1887310"/>
            <a:ext cx="7772400" cy="40313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E78FB8F-65B6-EC55-9AFF-80D5ECA11DC7}"/>
              </a:ext>
            </a:extLst>
          </p:cNvPr>
          <p:cNvSpPr/>
          <p:nvPr/>
        </p:nvSpPr>
        <p:spPr>
          <a:xfrm>
            <a:off x="851647" y="1899667"/>
            <a:ext cx="1953337" cy="250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C2BB9CA-CF20-115F-CCBA-74DB572EE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CA" dirty="0">
                <a:solidFill>
                  <a:schemeClr val="bg1"/>
                </a:solidFill>
              </a:rPr>
              <a:t>Adding New Code or 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67E74-7D24-1C2C-2F2E-CA22364CE4E1}"/>
              </a:ext>
            </a:extLst>
          </p:cNvPr>
          <p:cNvSpPr/>
          <p:nvPr/>
        </p:nvSpPr>
        <p:spPr>
          <a:xfrm>
            <a:off x="3635202" y="4959214"/>
            <a:ext cx="2184830" cy="255338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7695CD-D06F-A532-7C6F-B9311A17022C}"/>
              </a:ext>
            </a:extLst>
          </p:cNvPr>
          <p:cNvSpPr/>
          <p:nvPr/>
        </p:nvSpPr>
        <p:spPr>
          <a:xfrm>
            <a:off x="1549798" y="2380164"/>
            <a:ext cx="1403467" cy="140615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D8B1D-CF48-2C5C-4BEA-9679D85A2088}"/>
              </a:ext>
            </a:extLst>
          </p:cNvPr>
          <p:cNvSpPr txBox="1"/>
          <p:nvPr/>
        </p:nvSpPr>
        <p:spPr>
          <a:xfrm>
            <a:off x="8719117" y="1960268"/>
            <a:ext cx="3150393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Click </a:t>
            </a:r>
            <a:r>
              <a:rPr lang="en-CA" sz="2400" b="1" dirty="0">
                <a:solidFill>
                  <a:schemeClr val="bg1"/>
                </a:solidFill>
                <a:latin typeface="Courier" pitchFamily="2" charset="0"/>
              </a:rPr>
              <a:t>+ Code</a:t>
            </a:r>
            <a:r>
              <a:rPr lang="en-CA" sz="2400" dirty="0">
                <a:solidFill>
                  <a:schemeClr val="bg1"/>
                </a:solidFill>
              </a:rPr>
              <a:t> to add a new code cell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Click </a:t>
            </a:r>
            <a:r>
              <a:rPr lang="en-CA" sz="2400" b="1" dirty="0">
                <a:solidFill>
                  <a:schemeClr val="bg1"/>
                </a:solidFill>
                <a:latin typeface="Courier" pitchFamily="2" charset="0"/>
              </a:rPr>
              <a:t>+ Text </a:t>
            </a:r>
            <a:r>
              <a:rPr lang="en-CA" sz="2400" dirty="0">
                <a:solidFill>
                  <a:schemeClr val="bg1"/>
                </a:solidFill>
              </a:rPr>
              <a:t>to add a new text (Markdown) cell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The new cell appears below the current cell</a:t>
            </a:r>
          </a:p>
        </p:txBody>
      </p:sp>
    </p:spTree>
    <p:extLst>
      <p:ext uri="{BB962C8B-B14F-4D97-AF65-F5344CB8AC3E}">
        <p14:creationId xmlns:p14="http://schemas.microsoft.com/office/powerpoint/2010/main" val="3910840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2F3F4-2909-D4D1-213D-B3D288DF5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DE880B4-BB19-FFCD-477C-BB2E291A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 types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2387D5B-B076-9104-9DE5-E44FCD901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163"/>
            <a:ext cx="8963026" cy="3246437"/>
          </a:xfrm>
        </p:spPr>
        <p:txBody>
          <a:bodyPr>
            <a:norm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Every value in Python has a data type, which tells the computer:</a:t>
            </a:r>
          </a:p>
          <a:p>
            <a:pPr lvl="1" fontAlgn="base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How the value is stored, and</a:t>
            </a:r>
          </a:p>
          <a:p>
            <a:pPr lvl="1" fontAlgn="base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What kinds of operations you can perform with it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Here are a few basic types you will encounter: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89D1E7C-6A6D-0E46-9AB9-8192CF4DD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1" y="4247038"/>
            <a:ext cx="15452840" cy="6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524A4A-7975-1D92-606F-534EE9C8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792253"/>
              </p:ext>
            </p:extLst>
          </p:nvPr>
        </p:nvGraphicFramePr>
        <p:xfrm>
          <a:off x="1352551" y="3795077"/>
          <a:ext cx="8883532" cy="1981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140082">
                  <a:extLst>
                    <a:ext uri="{9D8B030D-6E8A-4147-A177-3AD203B41FA5}">
                      <a16:colId xmlns:a16="http://schemas.microsoft.com/office/drawing/2014/main" val="4156511981"/>
                    </a:ext>
                  </a:extLst>
                </a:gridCol>
                <a:gridCol w="2643188">
                  <a:extLst>
                    <a:ext uri="{9D8B030D-6E8A-4147-A177-3AD203B41FA5}">
                      <a16:colId xmlns:a16="http://schemas.microsoft.com/office/drawing/2014/main" val="272651257"/>
                    </a:ext>
                  </a:extLst>
                </a:gridCol>
                <a:gridCol w="2100262">
                  <a:extLst>
                    <a:ext uri="{9D8B030D-6E8A-4147-A177-3AD203B41FA5}">
                      <a16:colId xmlns:a16="http://schemas.microsoft.com/office/drawing/2014/main" val="15467019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Type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Description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Example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35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 number (or </a:t>
                      </a:r>
                      <a:r>
                        <a:rPr lang="en-CA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CA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Whole number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10, -3, 42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024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Floating point number (or </a:t>
                      </a:r>
                      <a:r>
                        <a:rPr lang="en-US" sz="2000" b="1" dirty="0"/>
                        <a:t>Float</a:t>
                      </a:r>
                      <a:r>
                        <a:rPr lang="en-US" sz="2000" dirty="0"/>
                        <a:t>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Decimal number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3.14, 0.01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String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Text strings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“Hello”, “Python”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588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Boolean (or </a:t>
                      </a:r>
                      <a:r>
                        <a:rPr lang="en-US" sz="2000" b="1" dirty="0"/>
                        <a:t>Bool</a:t>
                      </a:r>
                      <a:r>
                        <a:rPr lang="en-US" sz="2000" dirty="0"/>
                        <a:t>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True/False values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True, False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91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66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0C488-D2F5-BE17-2EAA-E0E72AF59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4C6C141-B054-CE29-B856-9B0919AAA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Statements and expressions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6CD582-851D-0C4E-CA02-22BABE969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0064"/>
            <a:ext cx="10906125" cy="5470781"/>
          </a:xfrm>
        </p:spPr>
        <p:txBody>
          <a:bodyPr>
            <a:norm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A </a:t>
            </a:r>
            <a:r>
              <a:rPr lang="en-CA" sz="2400" b="1" i="0" u="none" strike="noStrike" dirty="0">
                <a:solidFill>
                  <a:srgbClr val="000000"/>
                </a:solidFill>
                <a:effectLst/>
              </a:rPr>
              <a:t>statement</a:t>
            </a: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 is an instruction that </a:t>
            </a:r>
            <a:r>
              <a:rPr lang="en-CA" sz="2400" b="1" i="0" u="none" strike="noStrike" dirty="0">
                <a:solidFill>
                  <a:srgbClr val="000000"/>
                </a:solidFill>
                <a:effectLst/>
              </a:rPr>
              <a:t>tells the computer to do something.</a:t>
            </a:r>
          </a:p>
          <a:p>
            <a:pPr lvl="1" fontAlgn="base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You can think of statements as the basic building blocks of a program.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An </a:t>
            </a:r>
            <a:r>
              <a:rPr lang="en-CA" sz="2400" b="1" i="0" u="none" strike="noStrike" dirty="0">
                <a:solidFill>
                  <a:srgbClr val="000000"/>
                </a:solidFill>
                <a:effectLst/>
              </a:rPr>
              <a:t>expression</a:t>
            </a: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 is a type of statement that combines operators and operands that </a:t>
            </a:r>
            <a:r>
              <a:rPr lang="en-CA" sz="2400" b="1" i="0" u="none" strike="noStrike" dirty="0">
                <a:solidFill>
                  <a:srgbClr val="000000"/>
                </a:solidFill>
                <a:effectLst/>
              </a:rPr>
              <a:t>produces a value.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Example of an expression:</a:t>
            </a:r>
          </a:p>
          <a:p>
            <a:pPr marL="0" indent="0" fontAlgn="base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</a:pPr>
            <a:endParaRPr lang="en-CA" sz="4000" dirty="0">
              <a:solidFill>
                <a:srgbClr val="000000"/>
              </a:solidFill>
            </a:endParaRPr>
          </a:p>
          <a:p>
            <a:pPr marL="0" indent="0" fontAlgn="base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</a:pPr>
            <a:endParaRPr lang="en-CA" sz="1400" b="0" i="0" u="none" strike="noStrike" dirty="0">
              <a:solidFill>
                <a:srgbClr val="000000"/>
              </a:solidFill>
              <a:effectLst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When you run an expression, Python evaluates it and shows the result.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endParaRPr lang="en-CA" sz="2400" b="0" i="0" u="none" strike="noStrike" dirty="0">
              <a:solidFill>
                <a:srgbClr val="000000"/>
              </a:solidFill>
              <a:effectLst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1CB5F00-C22B-0B5D-4CA6-529B886B8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1" y="4247038"/>
            <a:ext cx="15452840" cy="6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46C337-B519-29C7-DDD3-D720A9ED6257}"/>
              </a:ext>
            </a:extLst>
          </p:cNvPr>
          <p:cNvSpPr txBox="1"/>
          <p:nvPr/>
        </p:nvSpPr>
        <p:spPr>
          <a:xfrm>
            <a:off x="2269332" y="4747472"/>
            <a:ext cx="6100762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 + 3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5C62FA-C190-A6CE-75EB-CC3CFC2D18BA}"/>
              </a:ext>
            </a:extLst>
          </p:cNvPr>
          <p:cNvCxnSpPr>
            <a:cxnSpLocks/>
          </p:cNvCxnSpPr>
          <p:nvPr/>
        </p:nvCxnSpPr>
        <p:spPr>
          <a:xfrm flipH="1">
            <a:off x="2836941" y="4590007"/>
            <a:ext cx="841661" cy="25977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3DBB258-968C-6CCF-225C-6A159A694C24}"/>
              </a:ext>
            </a:extLst>
          </p:cNvPr>
          <p:cNvSpPr txBox="1"/>
          <p:nvPr/>
        </p:nvSpPr>
        <p:spPr>
          <a:xfrm>
            <a:off x="3678602" y="4409335"/>
            <a:ext cx="86462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4"/>
                </a:solidFill>
              </a:rPr>
              <a:t>Operator</a:t>
            </a:r>
            <a:r>
              <a:rPr lang="en-US" sz="2000" dirty="0">
                <a:solidFill>
                  <a:schemeClr val="accent4"/>
                </a:solidFill>
                <a:sym typeface="Wingdings" pitchFamily="2" charset="2"/>
              </a:rPr>
              <a:t>: </a:t>
            </a:r>
            <a:r>
              <a:rPr lang="en-CA" sz="2000" dirty="0">
                <a:solidFill>
                  <a:schemeClr val="accent4"/>
                </a:solidFill>
              </a:rPr>
              <a:t>A symbol that tells Python to perform a specific action on values.</a:t>
            </a:r>
          </a:p>
          <a:p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4DD058-A139-6290-4EE7-F56A89C4BBF7}"/>
              </a:ext>
            </a:extLst>
          </p:cNvPr>
          <p:cNvCxnSpPr>
            <a:cxnSpLocks/>
          </p:cNvCxnSpPr>
          <p:nvPr/>
        </p:nvCxnSpPr>
        <p:spPr>
          <a:xfrm flipH="1" flipV="1">
            <a:off x="2493658" y="5163021"/>
            <a:ext cx="889953" cy="33729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649481-DB15-A54E-5006-4EA26A3B0A73}"/>
              </a:ext>
            </a:extLst>
          </p:cNvPr>
          <p:cNvCxnSpPr>
            <a:cxnSpLocks/>
          </p:cNvCxnSpPr>
          <p:nvPr/>
        </p:nvCxnSpPr>
        <p:spPr>
          <a:xfrm flipH="1" flipV="1">
            <a:off x="3222481" y="5086667"/>
            <a:ext cx="161130" cy="42697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B3AB547-398B-0803-EF0E-965404D6813C}"/>
              </a:ext>
            </a:extLst>
          </p:cNvPr>
          <p:cNvSpPr txBox="1"/>
          <p:nvPr/>
        </p:nvSpPr>
        <p:spPr>
          <a:xfrm>
            <a:off x="3440765" y="5301393"/>
            <a:ext cx="54436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Operand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CA" sz="2000" dirty="0">
                <a:solidFill>
                  <a:schemeClr val="accent2">
                    <a:lumMod val="75000"/>
                  </a:schemeClr>
                </a:solidFill>
              </a:rPr>
              <a:t>The value(s) that the operator acts on.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EA89EB-043A-894F-5994-2F1702F2C81D}"/>
              </a:ext>
            </a:extLst>
          </p:cNvPr>
          <p:cNvSpPr txBox="1"/>
          <p:nvPr/>
        </p:nvSpPr>
        <p:spPr>
          <a:xfrm>
            <a:off x="2269332" y="6262042"/>
            <a:ext cx="6100762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5</a:t>
            </a:r>
          </a:p>
        </p:txBody>
      </p:sp>
      <p:pic>
        <p:nvPicPr>
          <p:cNvPr id="7170" name="Picture 2" descr="Building block - Free kid and baby icons">
            <a:extLst>
              <a:ext uri="{FF2B5EF4-FFF2-40B4-BE49-F238E27FC236}">
                <a16:creationId xmlns:a16="http://schemas.microsoft.com/office/drawing/2014/main" id="{A2D9EDC7-C7FF-2DBC-EE8B-7A6BB7E38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5154" y="0"/>
            <a:ext cx="2032009" cy="2032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7393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30A27-BDD1-813A-E624-94D9C7301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D9BAFE3-251F-7A1B-884E-4CB5F8856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Arithmetic operators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23C7E8A-02BE-3212-0E60-BFA91E8B7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1" y="4247038"/>
            <a:ext cx="15452840" cy="6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6A8029-1BCA-5FCE-C925-31270B150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623288"/>
              </p:ext>
            </p:extLst>
          </p:nvPr>
        </p:nvGraphicFramePr>
        <p:xfrm>
          <a:off x="1352551" y="2559232"/>
          <a:ext cx="8883532" cy="2987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74959">
                  <a:extLst>
                    <a:ext uri="{9D8B030D-6E8A-4147-A177-3AD203B41FA5}">
                      <a16:colId xmlns:a16="http://schemas.microsoft.com/office/drawing/2014/main" val="4156511981"/>
                    </a:ext>
                  </a:extLst>
                </a:gridCol>
                <a:gridCol w="4211251">
                  <a:extLst>
                    <a:ext uri="{9D8B030D-6E8A-4147-A177-3AD203B41FA5}">
                      <a16:colId xmlns:a16="http://schemas.microsoft.com/office/drawing/2014/main" val="272651257"/>
                    </a:ext>
                  </a:extLst>
                </a:gridCol>
                <a:gridCol w="1698661">
                  <a:extLst>
                    <a:ext uri="{9D8B030D-6E8A-4147-A177-3AD203B41FA5}">
                      <a16:colId xmlns:a16="http://schemas.microsoft.com/office/drawing/2014/main" val="1546701967"/>
                    </a:ext>
                  </a:extLst>
                </a:gridCol>
                <a:gridCol w="1698661">
                  <a:extLst>
                    <a:ext uri="{9D8B030D-6E8A-4147-A177-3AD203B41FA5}">
                      <a16:colId xmlns:a16="http://schemas.microsoft.com/office/drawing/2014/main" val="968386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Operator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Description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Example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Result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35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</a:rPr>
                        <a:t>+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</a:rPr>
                        <a:t>Addition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 + 3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421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</a:rPr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</a:rPr>
                        <a:t>Subtraction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10 - 3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024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</a:rPr>
                        <a:t>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</a:rPr>
                        <a:t>Multiplication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 * 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30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66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</a:rPr>
                        <a:t>/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</a:rPr>
                        <a:t>Division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 / 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3.333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93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</a:rPr>
                        <a:t>**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Exponentiation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10**3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1000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417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%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Modulo or remainder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10 % 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588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</a:rPr>
                        <a:t>//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</a:rPr>
                        <a:t>Integer division (always rounds down)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 // 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9124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D35CFFD-E5DE-DC09-10C3-0ED75C495CEE}"/>
              </a:ext>
            </a:extLst>
          </p:cNvPr>
          <p:cNvSpPr txBox="1"/>
          <p:nvPr/>
        </p:nvSpPr>
        <p:spPr>
          <a:xfrm>
            <a:off x="1352551" y="1894127"/>
            <a:ext cx="8401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Here are a few basic arithmetic operators you will encounter:</a:t>
            </a:r>
          </a:p>
        </p:txBody>
      </p:sp>
    </p:spTree>
    <p:extLst>
      <p:ext uri="{BB962C8B-B14F-4D97-AF65-F5344CB8AC3E}">
        <p14:creationId xmlns:p14="http://schemas.microsoft.com/office/powerpoint/2010/main" val="3982171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664CF-14ED-CBE7-A19F-5A19B4291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4CAA731-7068-C934-12EA-AF616F67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Boolean operators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ADE456A-56BF-E912-F4CB-47FE0724D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1" y="4247038"/>
            <a:ext cx="15452840" cy="6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2819C1-2F86-3384-01DB-A28FBAAC173F}"/>
              </a:ext>
            </a:extLst>
          </p:cNvPr>
          <p:cNvSpPr txBox="1"/>
          <p:nvPr/>
        </p:nvSpPr>
        <p:spPr>
          <a:xfrm>
            <a:off x="623887" y="1641466"/>
            <a:ext cx="1072991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Python has a Boolean data type: </a:t>
            </a:r>
            <a:r>
              <a:rPr lang="en-CA" sz="2400" b="1" dirty="0">
                <a:solidFill>
                  <a:srgbClr val="000000"/>
                </a:solidFill>
                <a:latin typeface="Aptos" panose="02110004020202020204"/>
              </a:rPr>
              <a:t>B</a:t>
            </a:r>
            <a:r>
              <a:rPr kumimoji="0" lang="en-C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ool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  <a:p>
            <a:pPr marL="800100" lvl="1" indent="-342900" fontAlgn="base">
              <a:buFont typeface="Courier New" panose="02070309020205020404" pitchFamily="49" charset="0"/>
              <a:buChar char="o"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Only two possible values: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2" charset="0"/>
              </a:rPr>
              <a:t>True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2" charset="0"/>
              </a:rPr>
              <a:t>False</a:t>
            </a:r>
          </a:p>
          <a:p>
            <a:pPr marL="800100" lvl="1" indent="-342900" fontAlgn="base">
              <a:buFont typeface="Courier New" panose="02070309020205020404" pitchFamily="49" charset="0"/>
              <a:buChar char="o"/>
            </a:pPr>
            <a:endParaRPr kumimoji="0" lang="en-CA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" pitchFamily="2" charset="0"/>
            </a:endParaRPr>
          </a:p>
          <a:p>
            <a:pPr marL="800100" lvl="1" indent="-342900" fontAlgn="base">
              <a:buFont typeface="Courier New" panose="02070309020205020404" pitchFamily="49" charset="0"/>
              <a:buChar char="o"/>
            </a:pPr>
            <a:endParaRPr kumimoji="0" lang="en-CA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" pitchFamily="2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Comparison Expressions</a:t>
            </a:r>
          </a:p>
          <a:p>
            <a:pPr marL="800100" lvl="1" indent="-342900" fontAlgn="base">
              <a:buFont typeface="Courier New" panose="02070309020205020404" pitchFamily="49" charset="0"/>
              <a:buChar char="o"/>
            </a:pP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 a comparison operators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and produce a Boolean result (True or False)</a:t>
            </a:r>
          </a:p>
          <a:p>
            <a:pPr marL="800100" lvl="1" indent="-342900" fontAlgn="base"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rgbClr val="000000"/>
                </a:solidFill>
                <a:latin typeface="Aptos" panose="02110004020202020204"/>
              </a:rPr>
              <a:t>Here are some common comparison operators: 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8E9D1D-FEF4-3806-E41F-B95BB1966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485093"/>
              </p:ext>
            </p:extLst>
          </p:nvPr>
        </p:nvGraphicFramePr>
        <p:xfrm>
          <a:off x="1352551" y="3889533"/>
          <a:ext cx="8883532" cy="2621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74959">
                  <a:extLst>
                    <a:ext uri="{9D8B030D-6E8A-4147-A177-3AD203B41FA5}">
                      <a16:colId xmlns:a16="http://schemas.microsoft.com/office/drawing/2014/main" val="4156511981"/>
                    </a:ext>
                  </a:extLst>
                </a:gridCol>
                <a:gridCol w="4211251">
                  <a:extLst>
                    <a:ext uri="{9D8B030D-6E8A-4147-A177-3AD203B41FA5}">
                      <a16:colId xmlns:a16="http://schemas.microsoft.com/office/drawing/2014/main" val="272651257"/>
                    </a:ext>
                  </a:extLst>
                </a:gridCol>
                <a:gridCol w="1698661">
                  <a:extLst>
                    <a:ext uri="{9D8B030D-6E8A-4147-A177-3AD203B41FA5}">
                      <a16:colId xmlns:a16="http://schemas.microsoft.com/office/drawing/2014/main" val="1546701967"/>
                    </a:ext>
                  </a:extLst>
                </a:gridCol>
                <a:gridCol w="1698661">
                  <a:extLst>
                    <a:ext uri="{9D8B030D-6E8A-4147-A177-3AD203B41FA5}">
                      <a16:colId xmlns:a16="http://schemas.microsoft.com/office/drawing/2014/main" val="968386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Operator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Description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Example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Result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35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&gt;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Greater than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 &gt; 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421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&gt;=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Greater than or equal 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 &gt;= 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024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&lt;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Less than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 &lt; 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66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&lt;=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Less than or equal 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 &lt;= 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93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==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Equal 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 == 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417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>
                          <a:effectLst/>
                        </a:rPr>
                        <a:t>!=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</a:rPr>
                        <a:t>Not equal 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10 != 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effectLst/>
                          <a:latin typeface="Courier" pitchFamily="2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588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20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C3AFE-BB67-4580-9521-4D2E17F6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46A0AEC-6124-597F-56E3-581DBBBFE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Order of operation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1B1CFD6-9CB4-347D-1EAB-E1E2FAAD6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1" y="4247038"/>
            <a:ext cx="15452840" cy="6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D05414-A7ED-95C5-BE12-AF9191BBD0FB}"/>
              </a:ext>
            </a:extLst>
          </p:cNvPr>
          <p:cNvSpPr txBox="1"/>
          <p:nvPr/>
        </p:nvSpPr>
        <p:spPr>
          <a:xfrm>
            <a:off x="623887" y="1641466"/>
            <a:ext cx="1072991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Python follows a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specific order when evaluating expressions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This is called operator precedence.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CA" sz="2400" dirty="0">
              <a:solidFill>
                <a:srgbClr val="000000"/>
              </a:solidFill>
              <a:latin typeface="Aptos" panose="02110004020202020204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CA" sz="2400" dirty="0">
              <a:solidFill>
                <a:srgbClr val="000000"/>
              </a:solidFill>
              <a:latin typeface="Aptos" panose="02110004020202020204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CA" sz="2400" dirty="0">
              <a:solidFill>
                <a:srgbClr val="000000"/>
              </a:solidFill>
              <a:latin typeface="Aptos" panose="02110004020202020204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CA" sz="2400" dirty="0">
              <a:solidFill>
                <a:srgbClr val="000000"/>
              </a:solidFill>
              <a:latin typeface="Aptos" panose="02110004020202020204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sz="2400" dirty="0">
                <a:solidFill>
                  <a:srgbClr val="000000"/>
                </a:solidFill>
                <a:latin typeface="Aptos" panose="02110004020202020204"/>
              </a:rPr>
              <a:t>Examples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5154EF-765E-25E3-C42E-D2E1EB800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439469"/>
              </p:ext>
            </p:extLst>
          </p:nvPr>
        </p:nvGraphicFramePr>
        <p:xfrm>
          <a:off x="1352551" y="2610962"/>
          <a:ext cx="9791699" cy="2494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04874">
                  <a:extLst>
                    <a:ext uri="{9D8B030D-6E8A-4147-A177-3AD203B41FA5}">
                      <a16:colId xmlns:a16="http://schemas.microsoft.com/office/drawing/2014/main" val="4156511981"/>
                    </a:ext>
                  </a:extLst>
                </a:gridCol>
                <a:gridCol w="2328863">
                  <a:extLst>
                    <a:ext uri="{9D8B030D-6E8A-4147-A177-3AD203B41FA5}">
                      <a16:colId xmlns:a16="http://schemas.microsoft.com/office/drawing/2014/main" val="272651257"/>
                    </a:ext>
                  </a:extLst>
                </a:gridCol>
                <a:gridCol w="6557962">
                  <a:extLst>
                    <a:ext uri="{9D8B030D-6E8A-4147-A177-3AD203B41FA5}">
                      <a16:colId xmlns:a16="http://schemas.microsoft.com/office/drawing/2014/main" val="15467019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 b="1">
                          <a:effectLst/>
                        </a:rPr>
                        <a:t>Order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b="1">
                          <a:effectLst/>
                        </a:rPr>
                        <a:t>Operator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b="1">
                          <a:effectLst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35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**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Exponentiation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421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Negation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024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*, /, //, %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Multiplication, division, integer division, and modulo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66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+, -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Addition and subtraction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93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&lt;, &lt;=, &gt;, &gt;=, ==, !=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Less than, less than or equal to, greater than, greater than or equal to, equal, not equal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41728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4A7D636-4B8E-DC8B-1777-EF08302D03EB}"/>
              </a:ext>
            </a:extLst>
          </p:cNvPr>
          <p:cNvSpPr txBox="1"/>
          <p:nvPr/>
        </p:nvSpPr>
        <p:spPr>
          <a:xfrm>
            <a:off x="1352551" y="5674015"/>
            <a:ext cx="6100762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10 + 3 * 2</a:t>
            </a:r>
            <a:r>
              <a:rPr lang="en-CA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0BC695-8368-9317-8C31-9BD94E708360}"/>
              </a:ext>
            </a:extLst>
          </p:cNvPr>
          <p:cNvSpPr txBox="1"/>
          <p:nvPr/>
        </p:nvSpPr>
        <p:spPr>
          <a:xfrm>
            <a:off x="1352551" y="6326499"/>
            <a:ext cx="6100762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(10 + 3) * 2</a:t>
            </a:r>
            <a:r>
              <a:rPr lang="en-CA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8DE4F-B99B-F278-D758-6D469219B5A6}"/>
              </a:ext>
            </a:extLst>
          </p:cNvPr>
          <p:cNvSpPr txBox="1"/>
          <p:nvPr/>
        </p:nvSpPr>
        <p:spPr>
          <a:xfrm>
            <a:off x="6004323" y="5531218"/>
            <a:ext cx="5401865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i="1" dirty="0">
                <a:solidFill>
                  <a:schemeClr val="bg1"/>
                </a:solidFill>
              </a:rPr>
              <a:t>Multiplication first</a:t>
            </a:r>
            <a:r>
              <a:rPr lang="en-CA" sz="2400" dirty="0">
                <a:solidFill>
                  <a:schemeClr val="bg1"/>
                </a:solidFill>
              </a:rPr>
              <a:t>: 3*2 = 6 → 10 + 6 = 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E98B5-2F8C-E647-4AB5-EECDC1F6EE1B}"/>
              </a:ext>
            </a:extLst>
          </p:cNvPr>
          <p:cNvSpPr txBox="1"/>
          <p:nvPr/>
        </p:nvSpPr>
        <p:spPr>
          <a:xfrm>
            <a:off x="6004323" y="6187944"/>
            <a:ext cx="5401865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i="1" dirty="0">
                <a:solidFill>
                  <a:schemeClr val="bg1"/>
                </a:solidFill>
              </a:rPr>
              <a:t>Parentheses first: </a:t>
            </a:r>
            <a:r>
              <a:rPr lang="en-CA" sz="2400" dirty="0">
                <a:solidFill>
                  <a:schemeClr val="bg1"/>
                </a:solidFill>
              </a:rPr>
              <a:t>10+3 = 13 → 13*2 = 26</a:t>
            </a:r>
          </a:p>
        </p:txBody>
      </p:sp>
    </p:spTree>
    <p:extLst>
      <p:ext uri="{BB962C8B-B14F-4D97-AF65-F5344CB8AC3E}">
        <p14:creationId xmlns:p14="http://schemas.microsoft.com/office/powerpoint/2010/main" val="160031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9135F-2E1B-094B-902E-E4F97537A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DA8B32D-1A36-EFAA-DD4E-54336A3B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Variables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0A1A47B-E7CE-55FC-4A85-BD5E4572B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163"/>
            <a:ext cx="8963026" cy="4351338"/>
          </a:xfrm>
        </p:spPr>
        <p:txBody>
          <a:bodyPr>
            <a:normAutofit lnSpcReduction="10000"/>
          </a:bodyPr>
          <a:lstStyle/>
          <a:p>
            <a:pPr rtl="0" fontAlgn="base">
              <a:spcBef>
                <a:spcPts val="1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A variable is a name that stores a piece of information —</a:t>
            </a:r>
            <a:br>
              <a:rPr lang="en-CA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like labeling a box so you remember what’s inside.</a:t>
            </a:r>
          </a:p>
          <a:p>
            <a:pPr rtl="0" fontAlgn="base">
              <a:spcBef>
                <a:spcPts val="1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In Python:</a:t>
            </a:r>
          </a:p>
          <a:p>
            <a:pPr lvl="1" fontAlgn="base">
              <a:spcBef>
                <a:spcPts val="1500"/>
              </a:spcBef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Variable names can include letters, numbers, and underscores</a:t>
            </a:r>
          </a:p>
          <a:p>
            <a:pPr lvl="1" fontAlgn="base">
              <a:spcBef>
                <a:spcPts val="1500"/>
              </a:spcBef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Variable names cannot begin with a number</a:t>
            </a:r>
          </a:p>
          <a:p>
            <a:pPr lvl="1" fontAlgn="base">
              <a:spcBef>
                <a:spcPts val="1500"/>
              </a:spcBef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Variable names are case-sensitive</a:t>
            </a:r>
            <a:br>
              <a:rPr lang="en-CA" b="0" i="0" u="none" strike="noStrike" dirty="0">
                <a:solidFill>
                  <a:srgbClr val="000000"/>
                </a:solidFill>
                <a:effectLst/>
              </a:rPr>
            </a:b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Courier" pitchFamily="2" charset="0"/>
              </a:rPr>
              <a:t>age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 and 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Courier" pitchFamily="2" charset="0"/>
              </a:rPr>
              <a:t>Age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 are different variables)</a:t>
            </a:r>
          </a:p>
          <a:p>
            <a:pPr rtl="0" fontAlgn="base">
              <a:spcBef>
                <a:spcPts val="1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Creating a Variable</a:t>
            </a:r>
          </a:p>
          <a:p>
            <a:pPr lvl="1" fontAlgn="base">
              <a:spcBef>
                <a:spcPts val="1500"/>
              </a:spcBef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Use the assignment operator 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Courier" pitchFamily="2" charset="0"/>
              </a:rPr>
              <a:t>=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6E1E5-0D11-E713-B53B-ED411FE95A82}"/>
              </a:ext>
            </a:extLst>
          </p:cNvPr>
          <p:cNvSpPr txBox="1"/>
          <p:nvPr/>
        </p:nvSpPr>
        <p:spPr>
          <a:xfrm>
            <a:off x="1681163" y="5783619"/>
            <a:ext cx="6100762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degrees_celsius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CA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3074" name="Picture 2" descr="Box - Free Icon PNG, SVG">
            <a:extLst>
              <a:ext uri="{FF2B5EF4-FFF2-40B4-BE49-F238E27FC236}">
                <a16:creationId xmlns:a16="http://schemas.microsoft.com/office/drawing/2014/main" id="{86214017-7D9E-BE18-0D65-F3EF94B04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712" y="365125"/>
            <a:ext cx="2279650" cy="227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2144AD-4CF6-AA18-42ED-DCFBA47B45B8}"/>
              </a:ext>
            </a:extLst>
          </p:cNvPr>
          <p:cNvSpPr txBox="1"/>
          <p:nvPr/>
        </p:nvSpPr>
        <p:spPr>
          <a:xfrm>
            <a:off x="6004323" y="5531218"/>
            <a:ext cx="5401865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This is called an assignment statement!</a:t>
            </a:r>
          </a:p>
        </p:txBody>
      </p:sp>
    </p:spTree>
    <p:extLst>
      <p:ext uri="{BB962C8B-B14F-4D97-AF65-F5344CB8AC3E}">
        <p14:creationId xmlns:p14="http://schemas.microsoft.com/office/powerpoint/2010/main" val="1321370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CE246-4B92-D1A7-AEFE-523B406C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9A9EA6F-F454-5CA7-AD24-2249692D6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Reassigning a variable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EE0F469-5FCD-3180-C888-A96CDFF62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42988"/>
            <a:ext cx="9320213" cy="4862513"/>
          </a:xfrm>
        </p:spPr>
        <p:txBody>
          <a:bodyPr>
            <a:normAutofit/>
          </a:bodyPr>
          <a:lstStyle/>
          <a:p>
            <a:pPr marL="0" indent="0" rtl="0" fontAlgn="base">
              <a:spcBef>
                <a:spcPts val="1500"/>
              </a:spcBef>
              <a:spcAft>
                <a:spcPts val="0"/>
              </a:spcAft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fontAlgn="base">
              <a:spcBef>
                <a:spcPts val="1500"/>
              </a:spcBef>
            </a:pPr>
            <a:r>
              <a:rPr lang="en-CA" sz="2400" dirty="0">
                <a:solidFill>
                  <a:schemeClr val="bg1"/>
                </a:solidFill>
              </a:rPr>
              <a:t>You can use the value stored in one variable to calculate and create another variable.</a:t>
            </a:r>
          </a:p>
          <a:p>
            <a:pPr marL="0" indent="0" fontAlgn="base">
              <a:spcBef>
                <a:spcPts val="1500"/>
              </a:spcBef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rtl="0" fontAlgn="base">
              <a:spcBef>
                <a:spcPts val="1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A </a:t>
            </a:r>
            <a:r>
              <a:rPr lang="en-CA" sz="2400" b="1" dirty="0">
                <a:solidFill>
                  <a:schemeClr val="bg1"/>
                </a:solidFill>
              </a:rPr>
              <a:t>variable</a:t>
            </a:r>
            <a:r>
              <a:rPr lang="en-CA" sz="2400" dirty="0">
                <a:solidFill>
                  <a:schemeClr val="bg1"/>
                </a:solidFill>
              </a:rPr>
              <a:t> stores a value, but you can </a:t>
            </a:r>
            <a:r>
              <a:rPr lang="en-CA" sz="2400" b="1" dirty="0">
                <a:solidFill>
                  <a:schemeClr val="bg1"/>
                </a:solidFill>
              </a:rPr>
              <a:t>change the value</a:t>
            </a:r>
            <a:r>
              <a:rPr lang="en-CA" sz="2400" dirty="0">
                <a:solidFill>
                  <a:schemeClr val="bg1"/>
                </a:solidFill>
              </a:rPr>
              <a:t> by </a:t>
            </a:r>
            <a:r>
              <a:rPr lang="en-CA" sz="2400" b="1" dirty="0">
                <a:solidFill>
                  <a:schemeClr val="bg1"/>
                </a:solidFill>
              </a:rPr>
              <a:t>reassigning it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pPr lvl="1" fontAlgn="base">
              <a:spcBef>
                <a:spcPts val="1500"/>
              </a:spcBef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Reassigning a variable changes only that variable</a:t>
            </a:r>
          </a:p>
          <a:p>
            <a:pPr lvl="1" fontAlgn="base">
              <a:spcBef>
                <a:spcPts val="1500"/>
              </a:spcBef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Other variables that were assigned the old value do not change</a:t>
            </a:r>
          </a:p>
          <a:p>
            <a:pPr lvl="1" fontAlgn="base">
              <a:spcBef>
                <a:spcPts val="1500"/>
              </a:spcBef>
            </a:pPr>
            <a:endParaRPr lang="en-US" sz="20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B17E4-8E9A-284C-DB43-E5BB0380394E}"/>
              </a:ext>
            </a:extLst>
          </p:cNvPr>
          <p:cNvSpPr txBox="1"/>
          <p:nvPr/>
        </p:nvSpPr>
        <p:spPr>
          <a:xfrm>
            <a:off x="1223962" y="2368551"/>
            <a:ext cx="974407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</a:t>
            </a:r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egrees_fahrenheit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</a:t>
            </a:r>
            <a:r>
              <a:rPr lang="en-CA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/ </a:t>
            </a:r>
            <a:r>
              <a:rPr lang="en-CA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* degrees_celsius + </a:t>
            </a:r>
            <a:r>
              <a:rPr lang="en-CA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32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8C48D-BE0F-E347-28E0-BC141CA4EFFD}"/>
              </a:ext>
            </a:extLst>
          </p:cNvPr>
          <p:cNvSpPr txBox="1"/>
          <p:nvPr/>
        </p:nvSpPr>
        <p:spPr>
          <a:xfrm>
            <a:off x="1223962" y="4969231"/>
            <a:ext cx="6100762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degrees_celsius = </a:t>
            </a:r>
            <a:r>
              <a:rPr lang="en-CA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2145E8-0EC5-7B19-0BF5-D868DF3E3CFB}"/>
              </a:ext>
            </a:extLst>
          </p:cNvPr>
          <p:cNvSpPr txBox="1"/>
          <p:nvPr/>
        </p:nvSpPr>
        <p:spPr>
          <a:xfrm>
            <a:off x="5566172" y="5068034"/>
            <a:ext cx="5401865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Reassigning degrees Celsius to 30 will </a:t>
            </a:r>
            <a:r>
              <a:rPr lang="en-CA" sz="2400" b="1" dirty="0">
                <a:solidFill>
                  <a:schemeClr val="bg1"/>
                </a:solidFill>
              </a:rPr>
              <a:t>not change the value </a:t>
            </a:r>
            <a:r>
              <a:rPr lang="en-CA" sz="2400" dirty="0">
                <a:solidFill>
                  <a:schemeClr val="bg1"/>
                </a:solidFill>
              </a:rPr>
              <a:t>of degrees Fahrenheit!</a:t>
            </a:r>
          </a:p>
        </p:txBody>
      </p:sp>
    </p:spTree>
    <p:extLst>
      <p:ext uri="{BB962C8B-B14F-4D97-AF65-F5344CB8AC3E}">
        <p14:creationId xmlns:p14="http://schemas.microsoft.com/office/powerpoint/2010/main" val="1574285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2DBD56-EB9C-EB63-BC31-3BE92155B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8C7E688-A8C2-1AE1-DC72-20B29CC2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Using a Variable in Its Own Assignment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50C2D45-9118-89E2-9B55-C8AAB7095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42988"/>
            <a:ext cx="9320213" cy="4862513"/>
          </a:xfrm>
        </p:spPr>
        <p:txBody>
          <a:bodyPr>
            <a:normAutofit/>
          </a:bodyPr>
          <a:lstStyle/>
          <a:p>
            <a:pPr marL="0" indent="0" rtl="0" fontAlgn="base">
              <a:spcBef>
                <a:spcPts val="1500"/>
              </a:spcBef>
              <a:spcAft>
                <a:spcPts val="0"/>
              </a:spcAft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fontAlgn="base">
              <a:spcBef>
                <a:spcPts val="1500"/>
              </a:spcBef>
            </a:pPr>
            <a:r>
              <a:rPr lang="en-CA" sz="2400" dirty="0">
                <a:solidFill>
                  <a:schemeClr val="bg1"/>
                </a:solidFill>
              </a:rPr>
              <a:t>You can update a variable based on its current value</a:t>
            </a:r>
          </a:p>
          <a:p>
            <a:pPr fontAlgn="base">
              <a:spcBef>
                <a:spcPts val="1500"/>
              </a:spcBef>
            </a:pPr>
            <a:endParaRPr lang="en-CA" sz="2400" dirty="0">
              <a:solidFill>
                <a:schemeClr val="bg1"/>
              </a:solidFill>
            </a:endParaRPr>
          </a:p>
          <a:p>
            <a:pPr fontAlgn="base">
              <a:spcBef>
                <a:spcPts val="1500"/>
              </a:spcBef>
            </a:pPr>
            <a:endParaRPr lang="en-CA" sz="2400" dirty="0">
              <a:solidFill>
                <a:schemeClr val="bg1"/>
              </a:solidFill>
            </a:endParaRPr>
          </a:p>
          <a:p>
            <a:pPr fontAlgn="base">
              <a:spcBef>
                <a:spcPts val="1500"/>
              </a:spcBef>
            </a:pPr>
            <a:endParaRPr lang="en-CA" sz="2400" dirty="0">
              <a:solidFill>
                <a:schemeClr val="bg1"/>
              </a:solidFill>
            </a:endParaRPr>
          </a:p>
          <a:p>
            <a:pPr fontAlgn="base">
              <a:spcBef>
                <a:spcPts val="1500"/>
              </a:spcBef>
            </a:pPr>
            <a:r>
              <a:rPr lang="en-US" sz="2400" dirty="0">
                <a:solidFill>
                  <a:schemeClr val="bg1"/>
                </a:solidFill>
              </a:rPr>
              <a:t>This is useful for running totals, counters, or updating values dynamically</a:t>
            </a:r>
          </a:p>
          <a:p>
            <a:pPr fontAlgn="base">
              <a:spcBef>
                <a:spcPts val="1500"/>
              </a:spcBef>
            </a:pPr>
            <a:endParaRPr lang="en-CA" sz="2400" dirty="0">
              <a:solidFill>
                <a:schemeClr val="bg1"/>
              </a:solidFill>
            </a:endParaRPr>
          </a:p>
          <a:p>
            <a:pPr lvl="1" fontAlgn="base">
              <a:spcBef>
                <a:spcPts val="1500"/>
              </a:spcBef>
            </a:pPr>
            <a:endParaRPr lang="en-US" sz="20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09E6E-6DDE-14D4-1578-6E71CFADAA3E}"/>
              </a:ext>
            </a:extLst>
          </p:cNvPr>
          <p:cNvSpPr txBox="1"/>
          <p:nvPr/>
        </p:nvSpPr>
        <p:spPr>
          <a:xfrm>
            <a:off x="1223962" y="2137718"/>
            <a:ext cx="974407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degrees_celsius = degrees_celsius + </a:t>
            </a:r>
            <a:r>
              <a:rPr lang="en-CA" sz="2400" dirty="0">
                <a:solidFill>
                  <a:srgbClr val="116644"/>
                </a:solidFill>
                <a:latin typeface="Courier New" panose="02070309020205020404" pitchFamily="49" charset="0"/>
              </a:rPr>
              <a:t>10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4D4A5-8D10-ECEF-EF14-DB9AD61917CF}"/>
              </a:ext>
            </a:extLst>
          </p:cNvPr>
          <p:cNvSpPr txBox="1"/>
          <p:nvPr/>
        </p:nvSpPr>
        <p:spPr>
          <a:xfrm>
            <a:off x="6418659" y="2512749"/>
            <a:ext cx="4935141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This would a</a:t>
            </a:r>
            <a:r>
              <a:rPr kumimoji="0" lang="en-CA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dd 10 to the current value of degrees_celsius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237DB3-D970-0EBD-167B-3863A06432E2}"/>
              </a:ext>
            </a:extLst>
          </p:cNvPr>
          <p:cNvSpPr/>
          <p:nvPr/>
        </p:nvSpPr>
        <p:spPr>
          <a:xfrm>
            <a:off x="1223962" y="4576764"/>
            <a:ext cx="1819276" cy="13287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degrees_celsius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F8AB8C-8589-13E4-2A81-0342FF5BE034}"/>
              </a:ext>
            </a:extLst>
          </p:cNvPr>
          <p:cNvSpPr/>
          <p:nvPr/>
        </p:nvSpPr>
        <p:spPr>
          <a:xfrm>
            <a:off x="3429001" y="4576763"/>
            <a:ext cx="1819276" cy="13287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degrees_celsius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438AEA-5711-7585-E009-7E6B0601221E}"/>
              </a:ext>
            </a:extLst>
          </p:cNvPr>
          <p:cNvSpPr/>
          <p:nvPr/>
        </p:nvSpPr>
        <p:spPr>
          <a:xfrm>
            <a:off x="5509021" y="4576762"/>
            <a:ext cx="1819276" cy="13287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degrees_celsius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1F6635-5B7F-F89D-A005-84DA2EB2C404}"/>
              </a:ext>
            </a:extLst>
          </p:cNvPr>
          <p:cNvSpPr txBox="1"/>
          <p:nvPr/>
        </p:nvSpPr>
        <p:spPr>
          <a:xfrm>
            <a:off x="1826464" y="5969655"/>
            <a:ext cx="8776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ourier" pitchFamily="2" charset="0"/>
              </a:rPr>
              <a:t>30        40        50       60       …</a:t>
            </a:r>
          </a:p>
        </p:txBody>
      </p:sp>
      <p:pic>
        <p:nvPicPr>
          <p:cNvPr id="15" name="Graphic 14" descr="Play with solid fill">
            <a:extLst>
              <a:ext uri="{FF2B5EF4-FFF2-40B4-BE49-F238E27FC236}">
                <a16:creationId xmlns:a16="http://schemas.microsoft.com/office/drawing/2014/main" id="{1B4EE15B-C241-9180-C863-958918A02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4510" y="2168824"/>
            <a:ext cx="399451" cy="399451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2C4B7694-F5D8-7E7E-EF80-EC9AD5016F52}"/>
              </a:ext>
            </a:extLst>
          </p:cNvPr>
          <p:cNvSpPr/>
          <p:nvPr/>
        </p:nvSpPr>
        <p:spPr>
          <a:xfrm>
            <a:off x="781646" y="2154536"/>
            <a:ext cx="399451" cy="43055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247CC4-A44A-1B75-FBC6-8B5BDBC19349}"/>
              </a:ext>
            </a:extLst>
          </p:cNvPr>
          <p:cNvSpPr/>
          <p:nvPr/>
        </p:nvSpPr>
        <p:spPr>
          <a:xfrm>
            <a:off x="7589041" y="4576761"/>
            <a:ext cx="1819276" cy="13287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degrees_celsius</a:t>
            </a:r>
          </a:p>
        </p:txBody>
      </p:sp>
    </p:spTree>
    <p:extLst>
      <p:ext uri="{BB962C8B-B14F-4D97-AF65-F5344CB8AC3E}">
        <p14:creationId xmlns:p14="http://schemas.microsoft.com/office/powerpoint/2010/main" val="1208675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D19D86-A9B2-2AE6-8253-63DD90081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997D1F4-C9B7-2AEC-B7A0-F29916749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Augmented assignment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0A9AB41-83DC-9450-9899-D2E96BEF4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42988"/>
            <a:ext cx="10129837" cy="5643562"/>
          </a:xfrm>
        </p:spPr>
        <p:txBody>
          <a:bodyPr>
            <a:normAutofit/>
          </a:bodyPr>
          <a:lstStyle/>
          <a:p>
            <a:pPr marL="0" indent="0" rtl="0" fontAlgn="base">
              <a:spcBef>
                <a:spcPts val="1500"/>
              </a:spcBef>
              <a:spcAft>
                <a:spcPts val="0"/>
              </a:spcAft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fontAlgn="base">
              <a:spcBef>
                <a:spcPts val="1500"/>
              </a:spcBef>
            </a:pPr>
            <a:r>
              <a:rPr lang="en-CA" sz="2400" dirty="0">
                <a:solidFill>
                  <a:schemeClr val="bg1"/>
                </a:solidFill>
              </a:rPr>
              <a:t>Instead of writing:</a:t>
            </a:r>
          </a:p>
          <a:p>
            <a:pPr marL="0" indent="0" fontAlgn="base">
              <a:spcBef>
                <a:spcPts val="1500"/>
              </a:spcBef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marL="0" indent="0" fontAlgn="base">
              <a:spcBef>
                <a:spcPts val="1500"/>
              </a:spcBef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fontAlgn="base">
              <a:spcBef>
                <a:spcPts val="1500"/>
              </a:spcBef>
            </a:pPr>
            <a:r>
              <a:rPr lang="en-CA" sz="2400" dirty="0">
                <a:solidFill>
                  <a:schemeClr val="bg1"/>
                </a:solidFill>
              </a:rPr>
              <a:t>You can use a </a:t>
            </a:r>
            <a:r>
              <a:rPr lang="en-CA" sz="2400" b="1" dirty="0">
                <a:solidFill>
                  <a:schemeClr val="bg1"/>
                </a:solidFill>
              </a:rPr>
              <a:t>shorthand operator</a:t>
            </a:r>
            <a:r>
              <a:rPr lang="en-CA" sz="2400" dirty="0">
                <a:solidFill>
                  <a:schemeClr val="bg1"/>
                </a:solidFill>
              </a:rPr>
              <a:t> called an </a:t>
            </a:r>
            <a:r>
              <a:rPr lang="en-CA" sz="2400" b="1" dirty="0">
                <a:solidFill>
                  <a:schemeClr val="bg1"/>
                </a:solidFill>
              </a:rPr>
              <a:t>augmented assignment</a:t>
            </a:r>
            <a:r>
              <a:rPr lang="en-CA" sz="2400" dirty="0">
                <a:solidFill>
                  <a:schemeClr val="bg1"/>
                </a:solidFill>
              </a:rPr>
              <a:t>:</a:t>
            </a:r>
          </a:p>
          <a:p>
            <a:pPr fontAlgn="base">
              <a:spcBef>
                <a:spcPts val="1500"/>
              </a:spcBef>
            </a:pPr>
            <a:endParaRPr lang="en-CA" sz="2400" dirty="0">
              <a:solidFill>
                <a:schemeClr val="bg1"/>
              </a:solidFill>
            </a:endParaRPr>
          </a:p>
          <a:p>
            <a:pPr fontAlgn="base">
              <a:spcBef>
                <a:spcPts val="1500"/>
              </a:spcBef>
            </a:pPr>
            <a:endParaRPr lang="en-CA" sz="2400" dirty="0">
              <a:solidFill>
                <a:schemeClr val="bg1"/>
              </a:solidFill>
            </a:endParaRPr>
          </a:p>
          <a:p>
            <a:pPr fontAlgn="base">
              <a:spcBef>
                <a:spcPts val="1500"/>
              </a:spcBef>
            </a:pPr>
            <a:endParaRPr lang="en-CA" sz="2400" dirty="0">
              <a:solidFill>
                <a:schemeClr val="bg1"/>
              </a:solidFill>
            </a:endParaRPr>
          </a:p>
          <a:p>
            <a:pPr marL="0" indent="0" fontAlgn="base">
              <a:spcBef>
                <a:spcPts val="1500"/>
              </a:spcBef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fontAlgn="base">
              <a:spcBef>
                <a:spcPts val="1500"/>
              </a:spcBef>
            </a:pPr>
            <a:r>
              <a:rPr lang="en-CA" sz="2400" dirty="0">
                <a:solidFill>
                  <a:schemeClr val="bg1"/>
                </a:solidFill>
              </a:rPr>
              <a:t>Similarly, subtraction, multiplication, division, exponentiation, integer division, and modulo can be used as an augmented assignment.</a:t>
            </a:r>
          </a:p>
          <a:p>
            <a:pPr marL="457200" lvl="1" indent="0" fontAlgn="base">
              <a:spcBef>
                <a:spcPts val="1500"/>
              </a:spcBef>
              <a:buNone/>
            </a:pPr>
            <a:endParaRPr lang="en-US" sz="20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C62D8-C391-AF76-4694-5649EF28437F}"/>
              </a:ext>
            </a:extLst>
          </p:cNvPr>
          <p:cNvSpPr txBox="1"/>
          <p:nvPr/>
        </p:nvSpPr>
        <p:spPr>
          <a:xfrm>
            <a:off x="1223962" y="2137718"/>
            <a:ext cx="974407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degrees_celsius = degrees_celsius +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F95C3-4089-2F5A-D5AC-AEA812564BB3}"/>
              </a:ext>
            </a:extLst>
          </p:cNvPr>
          <p:cNvSpPr txBox="1"/>
          <p:nvPr/>
        </p:nvSpPr>
        <p:spPr>
          <a:xfrm>
            <a:off x="1223961" y="3765381"/>
            <a:ext cx="974407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degrees_celsius +=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C7F89-6212-5309-6ED1-369F790A1C1F}"/>
              </a:ext>
            </a:extLst>
          </p:cNvPr>
          <p:cNvSpPr txBox="1"/>
          <p:nvPr/>
        </p:nvSpPr>
        <p:spPr>
          <a:xfrm>
            <a:off x="5866210" y="3996213"/>
            <a:ext cx="5101826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reads as, take the current value of degrees_celsius, add 10, and store the result back in degrees_celsius</a:t>
            </a:r>
          </a:p>
        </p:txBody>
      </p:sp>
    </p:spTree>
    <p:extLst>
      <p:ext uri="{BB962C8B-B14F-4D97-AF65-F5344CB8AC3E}">
        <p14:creationId xmlns:p14="http://schemas.microsoft.com/office/powerpoint/2010/main" val="579978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BEAE1-1C11-193E-D1ED-A47B852A3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EA916-4E48-2D34-E607-F00235C43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8349F-752E-453D-F5AB-485EA48B5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these on your own: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Create three variables: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favorite_number</a:t>
            </a:r>
            <a:endParaRPr lang="en-CA" b="0" dirty="0">
              <a:solidFill>
                <a:schemeClr val="bg1"/>
              </a:solidFill>
              <a:effectLst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Run the code cells to see your results!</a:t>
            </a:r>
          </a:p>
        </p:txBody>
      </p:sp>
    </p:spTree>
    <p:extLst>
      <p:ext uri="{BB962C8B-B14F-4D97-AF65-F5344CB8AC3E}">
        <p14:creationId xmlns:p14="http://schemas.microsoft.com/office/powerpoint/2010/main" val="124430795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1275</Words>
  <Application>Microsoft Macintosh PowerPoint</Application>
  <PresentationFormat>Widescreen</PresentationFormat>
  <Paragraphs>278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 Light</vt:lpstr>
      <vt:lpstr>Courier</vt:lpstr>
      <vt:lpstr>Courier New</vt:lpstr>
      <vt:lpstr>Wingdings</vt:lpstr>
      <vt:lpstr>1_Office Theme</vt:lpstr>
      <vt:lpstr>01. data types</vt:lpstr>
      <vt:lpstr>Learning objectives</vt:lpstr>
      <vt:lpstr>Jupyter notebook</vt:lpstr>
      <vt:lpstr>Running Code</vt:lpstr>
      <vt:lpstr>Writing Notes and Explanations</vt:lpstr>
      <vt:lpstr>Text syntax</vt:lpstr>
      <vt:lpstr>Adding New Code or Text</vt:lpstr>
      <vt:lpstr>Data types</vt:lpstr>
      <vt:lpstr>Statements and expressions</vt:lpstr>
      <vt:lpstr>Arithmetic operators</vt:lpstr>
      <vt:lpstr>Boolean operators</vt:lpstr>
      <vt:lpstr>Order of operation</vt:lpstr>
      <vt:lpstr>Variables</vt:lpstr>
      <vt:lpstr>Reassigning a variable</vt:lpstr>
      <vt:lpstr>Using a Variable in Its Own Assignment</vt:lpstr>
      <vt:lpstr>Augmented assignment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Gallucci</dc:creator>
  <cp:lastModifiedBy>Julia Gallucci</cp:lastModifiedBy>
  <cp:revision>27</cp:revision>
  <dcterms:created xsi:type="dcterms:W3CDTF">2026-01-06T00:09:09Z</dcterms:created>
  <dcterms:modified xsi:type="dcterms:W3CDTF">2026-04-10T17:11:05Z</dcterms:modified>
</cp:coreProperties>
</file>