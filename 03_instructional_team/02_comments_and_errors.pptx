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7"/>
  </p:notesMasterIdLst>
  <p:sldIdLst>
    <p:sldId id="257" r:id="rId2"/>
    <p:sldId id="258" r:id="rId3"/>
    <p:sldId id="272" r:id="rId4"/>
    <p:sldId id="273" r:id="rId5"/>
    <p:sldId id="274" r:id="rId6"/>
    <p:sldId id="275" r:id="rId7"/>
    <p:sldId id="259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89"/>
    <p:restoredTop sz="97030"/>
  </p:normalViewPr>
  <p:slideViewPr>
    <p:cSldViewPr snapToGrid="0">
      <p:cViewPr varScale="1">
        <p:scale>
          <a:sx n="114" d="100"/>
          <a:sy n="114" d="100"/>
        </p:scale>
        <p:origin x="10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3308A3-A6E4-EE46-B301-EFC79135322F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B2CC5A-F064-E346-A27B-7989745D2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035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Hi everyone, I’m Julia — a PhD candidate at the Institute of Medical Science here at the University of Toronto.</a:t>
            </a:r>
          </a:p>
          <a:p>
            <a:br>
              <a:rPr lang="en-CA" dirty="0"/>
            </a:br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103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800" dirty="0"/>
              <a:t>Just to orient everyone, here are our learning objectives for today’s session.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851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8D1B3-1C08-A606-BD99-B34E965C2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2CFBF0-50A5-AE9F-397F-FC986C9A2E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6032E-4446-FEBA-A209-A07073536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09708E-9A40-F3AD-9F1D-FB91384ED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204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3D51C-C5FB-6388-48FA-7861236BA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B5B86-52EA-41E5-0BE6-7BAAEEBEBE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3A785D-2272-AA04-F49D-974C34B4A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65C88-9B0A-2B1D-69CE-7C3FD3C230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49177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3A42B-7DF8-07E5-9337-A53DA590A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66692D-A5AA-DB2C-AF75-1BB4EC6946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2DCFD5-FFDE-B838-F736-3CEEEF26B5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390BC-E19B-2631-5E9D-1D6174B82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4064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E187B-C7FD-EFD4-5938-BC261CBDA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D5FAF9-7A68-5B17-810C-4B613D7E53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55FF5-F6D1-C6EA-1957-2FA5E8367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C95C5-EC23-B370-1D9F-784D531756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0006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9A7FF-9F3F-DC7E-C65F-8E6E72903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CEDDA0-28AB-ABB6-D74E-34808CBAEC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2FB02D-CE87-943E-2EC5-92B598A7D7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CC6F6-DEA3-0002-97FE-A2666F6542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08420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20773-5C38-A468-0295-FA5770EA4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D37BC4-A6E6-E39E-0DDB-0CFF915D1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05797-3133-E227-7D8B-DCE53B422F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0ADA6-376E-B7E1-7764-AC4D5ECB0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90481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DC08C-CC56-D5B3-6E4C-A7DB41E74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737B4-EEFF-3B53-F1C5-56291C3C6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68669A-41D1-EB57-DF3E-7C1A44A88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C9F1B0-AF7B-821F-CF03-5A308558E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93530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DC3F8-6019-8B87-2C56-4939B6D65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F82FA-F4B8-472D-EBCF-66F2AD7F5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AD5E02-894D-F710-B627-742624E76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917A9-3D9F-D024-53D1-2550183BA1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4436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A45B1-4657-6EC8-23D8-09CCD91C8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591D6-69A0-9232-C381-8C6FA9B0E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1C9CD9-D5CA-8987-7C2F-3C1B52C713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381C89-20EB-0474-F516-508C96422D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84875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4A562-5374-BACC-1B35-15A4B6635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79A03-E87F-2890-8359-12F036DBAC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612CE7-7945-6247-245C-7571FD7C1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2029F3-E7EB-526D-8FBA-9128A749AA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40098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BCF4E-61C1-84A8-E108-40ECC636D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FFECB-30B2-AF41-52AB-5DFBE8BE9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FA2FE4-2C95-077D-1565-52DD49116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EC45C-39D2-2258-1876-D41933038E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16500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E7E04-D0BB-3C7C-393F-59C981F47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74E3B-BF13-19AE-782B-0B5FF8DCD4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733332-5EB9-ECF5-2758-0F7F1E39C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C021B-039D-43FB-CB35-FFF596D634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86227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EDB3B-0C9B-14EE-8313-4E95E5C42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3F902B-079C-F4C5-6DB0-5BFEB799DA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2AE56-A005-A2EE-AA72-28E6BDBBE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10565-0E7C-9A78-B306-43B0EAC35C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3343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95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964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2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852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52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81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594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674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231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2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98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0258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vscode-notebook-cell:?execution_count=1&amp;line=1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vscode-notebook-cell:?execution_count=1&amp;line=1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1707-777C-7A52-3280-B460A827B0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02. comments and errors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1CC7D36-0C4B-40EE-E005-7CDEA6E7AEB8}"/>
              </a:ext>
            </a:extLst>
          </p:cNvPr>
          <p:cNvSpPr txBox="1">
            <a:spLocks/>
          </p:cNvSpPr>
          <p:nvPr/>
        </p:nvSpPr>
        <p:spPr>
          <a:xfrm>
            <a:off x="1524000" y="3602038"/>
            <a:ext cx="9144000" cy="1136217"/>
          </a:xfrm>
          <a:prstGeom prst="rect">
            <a:avLst/>
          </a:prstGeom>
          <a:solidFill>
            <a:schemeClr val="tx2">
              <a:lumMod val="2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400" b="1"/>
          </a:p>
          <a:p>
            <a:pPr algn="l"/>
            <a:r>
              <a:rPr lang="en-US" b="1"/>
              <a:t>Data Science Institute | Python</a:t>
            </a:r>
          </a:p>
          <a:p>
            <a:pPr algn="l"/>
            <a:endParaRPr lang="en-US" sz="1400"/>
          </a:p>
          <a:p>
            <a:pPr algn="l"/>
            <a:endParaRPr lang="en-US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1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B004-DEF5-406C-8AD6-3F634E4E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BCF6B-5C58-D402-B42A-C11166569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87743" cy="435133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Explain the purpose and use of comments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Write clear, readable, and well-documented code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Understand common sources of errors in code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Use AI tools to help identify and debug errors</a:t>
            </a: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endParaRPr lang="en-US" sz="18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200000"/>
              </a:lnSpc>
              <a:buFont typeface="Courier New" panose="02070309020205020404" pitchFamily="49" charset="0"/>
              <a:buChar char="o"/>
            </a:pPr>
            <a:endParaRPr lang="en-US" sz="18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35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8CDA9B-E224-BB75-4EA6-22DEEFCF6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C805C-3093-4FA1-5CED-0DB797D4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are comments?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5E6F5-C6BF-EE6D-4986-9A58D9CE61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r>
              <a:rPr lang="en-CA" sz="2400" b="1" dirty="0">
                <a:solidFill>
                  <a:schemeClr val="bg1"/>
                </a:solidFill>
                <a:effectLst/>
                <a:latin typeface="+mj-lt"/>
              </a:rPr>
              <a:t>Comments</a:t>
            </a:r>
            <a:r>
              <a:rPr lang="en-CA" sz="2400" b="0" dirty="0">
                <a:solidFill>
                  <a:schemeClr val="bg1"/>
                </a:solidFill>
                <a:effectLst/>
                <a:latin typeface="+mj-lt"/>
              </a:rPr>
              <a:t> are a way to annotate code within code. </a:t>
            </a:r>
          </a:p>
          <a:p>
            <a:r>
              <a:rPr lang="en-CA" sz="2400" b="0" dirty="0">
                <a:solidFill>
                  <a:schemeClr val="bg1"/>
                </a:solidFill>
                <a:effectLst/>
                <a:latin typeface="+mj-lt"/>
              </a:rPr>
              <a:t>They're used to explain parts of code to human audiences. </a:t>
            </a:r>
          </a:p>
          <a:p>
            <a:r>
              <a:rPr lang="en-CA" sz="2400" b="0" dirty="0">
                <a:solidFill>
                  <a:schemeClr val="bg1"/>
                </a:solidFill>
                <a:effectLst/>
                <a:latin typeface="+mj-lt"/>
              </a:rPr>
              <a:t>In Python, comments start with a `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CA" sz="2400" b="0" dirty="0">
                <a:solidFill>
                  <a:schemeClr val="bg1"/>
                </a:solidFill>
                <a:effectLst/>
                <a:latin typeface="+mj-lt"/>
              </a:rPr>
              <a:t>` symbol.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b="0" dirty="0">
                <a:solidFill>
                  <a:schemeClr val="bg1"/>
                </a:solidFill>
                <a:effectLst/>
                <a:latin typeface="+mj-lt"/>
              </a:rPr>
              <a:t>The interpreter ignores everything from the `</a:t>
            </a:r>
            <a:r>
              <a:rPr lang="en-CA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CA" b="0" dirty="0">
                <a:solidFill>
                  <a:schemeClr val="bg1"/>
                </a:solidFill>
                <a:effectLst/>
                <a:latin typeface="+mj-lt"/>
              </a:rPr>
              <a:t>` to the end of the line when translating a program into machine instructions.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B70A84-733C-052F-971B-189C6408EAC7}"/>
              </a:ext>
            </a:extLst>
          </p:cNvPr>
          <p:cNvSpPr txBox="1"/>
          <p:nvPr/>
        </p:nvSpPr>
        <p:spPr>
          <a:xfrm>
            <a:off x="1117600" y="4433073"/>
            <a:ext cx="9283700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This is a comment. It is not evaluated when we run our code</a:t>
            </a:r>
          </a:p>
        </p:txBody>
      </p:sp>
    </p:spTree>
    <p:extLst>
      <p:ext uri="{BB962C8B-B14F-4D97-AF65-F5344CB8AC3E}">
        <p14:creationId xmlns:p14="http://schemas.microsoft.com/office/powerpoint/2010/main" val="3304538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76106-91E0-08F5-9FDE-2FE2303C3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637F6-E451-A0D9-2EBB-DD16E4B4B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Comment example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99E3CB-0111-186F-97F9-58E61D0F024D}"/>
              </a:ext>
            </a:extLst>
          </p:cNvPr>
          <p:cNvSpPr txBox="1"/>
          <p:nvPr/>
        </p:nvSpPr>
        <p:spPr>
          <a:xfrm>
            <a:off x="935039" y="1550988"/>
            <a:ext cx="10766423" cy="230832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student1_grade = </a:t>
            </a:r>
            <a:r>
              <a:rPr lang="en-CA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90</a:t>
            </a:r>
            <a:endParaRPr lang="en-CA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student2_grade = </a:t>
            </a:r>
            <a:r>
              <a:rPr lang="en-CA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50</a:t>
            </a:r>
            <a:endParaRPr lang="en-CA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student3_grade = </a:t>
            </a:r>
            <a:r>
              <a:rPr lang="en-CA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74</a:t>
            </a:r>
            <a:endParaRPr lang="en-CA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average_grade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(student1_grade + student2_grade +  </a:t>
            </a:r>
          </a:p>
          <a:p>
            <a:r>
              <a:rPr lang="en-CA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                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student3_grade) / </a:t>
            </a:r>
            <a:r>
              <a:rPr lang="en-CA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endParaRPr lang="en-CA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CA" sz="2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average_grade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CA" sz="2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These lines of code will produce a value.</a:t>
            </a:r>
            <a:endParaRPr lang="en-CA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443E03-8504-2FE7-A904-FF1AE36BEF9F}"/>
              </a:ext>
            </a:extLst>
          </p:cNvPr>
          <p:cNvSpPr txBox="1"/>
          <p:nvPr/>
        </p:nvSpPr>
        <p:spPr>
          <a:xfrm>
            <a:off x="7528324" y="4436883"/>
            <a:ext cx="4173138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Aptos" panose="02110004020202020204"/>
              </a:rPr>
              <a:t>This comment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explain what the code is doing and makes it easier to read and understand</a:t>
            </a:r>
            <a:endParaRPr kumimoji="0" lang="en-CA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32498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D667D-01DB-775F-7444-A75FC1FC5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495CC-260B-E2F1-085A-98BD22C2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Readability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799F9-0C48-2783-CBEB-0D7DCA34D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1023599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Practices that improve code readability:</a:t>
            </a:r>
          </a:p>
          <a:p>
            <a:r>
              <a:rPr lang="en-CA" sz="2400" b="1" dirty="0">
                <a:solidFill>
                  <a:schemeClr val="bg1"/>
                </a:solidFill>
              </a:rPr>
              <a:t>White space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Use spaces around operators to improve clarity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Break long lines using parentheses</a:t>
            </a:r>
          </a:p>
          <a:p>
            <a:r>
              <a:rPr lang="en-CA" sz="2400" b="1" dirty="0">
                <a:solidFill>
                  <a:schemeClr val="bg1"/>
                </a:solidFill>
              </a:rPr>
              <a:t>Comments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Explain the purpose of the code and complex sections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Help plan future work or temporarily disable code during debugging</a:t>
            </a:r>
          </a:p>
          <a:p>
            <a:r>
              <a:rPr lang="en-CA" sz="2400" b="1" dirty="0">
                <a:solidFill>
                  <a:schemeClr val="bg1"/>
                </a:solidFill>
              </a:rPr>
              <a:t>Clear and consistent variable names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Use descriptive names to make code self-documenting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Consistent naming reduces confusion and prevents errors</a:t>
            </a:r>
          </a:p>
          <a:p>
            <a:endParaRPr lang="en-C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219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36F28D-115A-1110-404E-9331F6364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CA367-8391-5529-FB55-C472D7E24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Which one is easier to read?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941B50-FA85-0CFF-B58B-C2B5529CCF77}"/>
              </a:ext>
            </a:extLst>
          </p:cNvPr>
          <p:cNvSpPr txBox="1"/>
          <p:nvPr/>
        </p:nvSpPr>
        <p:spPr>
          <a:xfrm>
            <a:off x="935039" y="1550988"/>
            <a:ext cx="9313861" cy="193899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studentone_grade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90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StudentGrade2=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50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stu3gr=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74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avggrade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=(studentone_grade+StudentGrade2+stut3gr)/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3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A49BC3-644B-EBA0-561C-83EB76D2D328}"/>
              </a:ext>
            </a:extLst>
          </p:cNvPr>
          <p:cNvSpPr txBox="1"/>
          <p:nvPr/>
        </p:nvSpPr>
        <p:spPr>
          <a:xfrm>
            <a:off x="935039" y="4065588"/>
            <a:ext cx="9453561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student1_grade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90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student2_grade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50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student3_grade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74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average_grade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((student1_grade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 + student2_grade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 + student3_grade)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              /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3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56AC03-0A69-FB0C-C728-86B159EAA4E5}"/>
              </a:ext>
            </a:extLst>
          </p:cNvPr>
          <p:cNvSpPr txBox="1"/>
          <p:nvPr/>
        </p:nvSpPr>
        <p:spPr>
          <a:xfrm>
            <a:off x="6748862" y="1459855"/>
            <a:ext cx="417313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version 1</a:t>
            </a:r>
            <a:endParaRPr kumimoji="0" lang="en-CA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1C2DEF-2B53-43BB-C6FC-E3CA610E4CAF}"/>
              </a:ext>
            </a:extLst>
          </p:cNvPr>
          <p:cNvSpPr txBox="1"/>
          <p:nvPr/>
        </p:nvSpPr>
        <p:spPr>
          <a:xfrm>
            <a:off x="6748862" y="3949055"/>
            <a:ext cx="4173138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version 2</a:t>
            </a:r>
            <a:endParaRPr kumimoji="0" lang="en-CA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3190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409519-CFBA-FE39-845C-FD46E7923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40493-2D97-A8D3-9791-1FDE4C5A3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causes errors?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040B6-EB4C-FD84-3F74-12928A16E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801925" cy="435133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CA" sz="2400" dirty="0">
                <a:solidFill>
                  <a:schemeClr val="bg1"/>
                </a:solidFill>
              </a:rPr>
              <a:t>Errors happen when Python reaches something it doesn’t understand or cannot run. When this happens, Python shows an error message. </a:t>
            </a:r>
          </a:p>
          <a:p>
            <a:pPr>
              <a:lnSpc>
                <a:spcPct val="110000"/>
              </a:lnSpc>
            </a:pPr>
            <a:r>
              <a:rPr lang="en-CA" sz="2400" dirty="0">
                <a:solidFill>
                  <a:schemeClr val="bg1"/>
                </a:solidFill>
              </a:rPr>
              <a:t>The message might look confusing, but it tells you where the problem happened and what type of error it is!</a:t>
            </a:r>
          </a:p>
          <a:p>
            <a:pPr>
              <a:lnSpc>
                <a:spcPct val="110000"/>
              </a:lnSpc>
              <a:buFont typeface="Courier New" panose="02070309020205020404" pitchFamily="49" charset="0"/>
              <a:buChar char="o"/>
            </a:pPr>
            <a:endParaRPr lang="en-CA" sz="2400" dirty="0">
              <a:solidFill>
                <a:schemeClr val="bg1"/>
              </a:solidFill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CA" sz="2400" i="1" dirty="0">
                <a:solidFill>
                  <a:schemeClr val="bg1"/>
                </a:solidFill>
              </a:rPr>
              <a:t>A helpful tip: </a:t>
            </a:r>
            <a:r>
              <a:rPr lang="en-CA" sz="2400" dirty="0">
                <a:solidFill>
                  <a:schemeClr val="bg1"/>
                </a:solidFill>
              </a:rPr>
              <a:t>If you're unsure what an error means, searching the exact error message online often leads you to explanations or examples of how to fix it!</a:t>
            </a:r>
            <a:endParaRPr lang="en-US" sz="18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110000"/>
              </a:lnSpc>
              <a:buFont typeface="Courier New" panose="02070309020205020404" pitchFamily="49" charset="0"/>
              <a:buChar char="o"/>
            </a:pPr>
            <a:endParaRPr lang="en-US" sz="18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pic>
        <p:nvPicPr>
          <p:cNvPr id="1028" name="Picture 4" descr="Download Free Error Icons in PNG &amp; SVG">
            <a:extLst>
              <a:ext uri="{FF2B5EF4-FFF2-40B4-BE49-F238E27FC236}">
                <a16:creationId xmlns:a16="http://schemas.microsoft.com/office/drawing/2014/main" id="{6222538D-FFBD-3D7D-B535-A08966C84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124" y="547255"/>
            <a:ext cx="1985818" cy="1985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6469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82F3F4-2909-D4D1-213D-B3D288DF5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B1DAEA36-560B-A537-DB79-593798CD24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43"/>
          <a:stretch/>
        </p:blipFill>
        <p:spPr bwMode="auto">
          <a:xfrm>
            <a:off x="9283758" y="1587988"/>
            <a:ext cx="2679700" cy="2318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5DE880B4-BB19-FFCD-477C-BB2E291AD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Syntax error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2387D5B-B076-9104-9DE5-E44FCD901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163"/>
            <a:ext cx="8963026" cy="32464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CA" sz="2400" dirty="0">
                <a:solidFill>
                  <a:schemeClr val="bg1"/>
                </a:solidFill>
              </a:rPr>
              <a:t>A </a:t>
            </a:r>
            <a:r>
              <a:rPr lang="en-CA" sz="2400" b="1" dirty="0">
                <a:solidFill>
                  <a:schemeClr val="bg1"/>
                </a:solidFill>
              </a:rPr>
              <a:t>syntax error </a:t>
            </a:r>
            <a:r>
              <a:rPr lang="en-CA" sz="2400" dirty="0">
                <a:solidFill>
                  <a:schemeClr val="bg1"/>
                </a:solidFill>
              </a:rPr>
              <a:t>occurs when code does not follow Python’s rules.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In the example below, we try to assign the value </a:t>
            </a:r>
            <a:r>
              <a:rPr lang="en-CA" dirty="0">
                <a:solidFill>
                  <a:schemeClr val="bg1"/>
                </a:solidFill>
                <a:latin typeface="Courier" pitchFamily="2" charset="0"/>
              </a:rPr>
              <a:t>x</a:t>
            </a:r>
            <a:r>
              <a:rPr lang="en-CA" dirty="0">
                <a:solidFill>
                  <a:schemeClr val="bg1"/>
                </a:solidFill>
              </a:rPr>
              <a:t> to </a:t>
            </a:r>
            <a:r>
              <a:rPr lang="en-CA" dirty="0">
                <a:solidFill>
                  <a:schemeClr val="bg1"/>
                </a:solidFill>
                <a:latin typeface="Courier" pitchFamily="2" charset="0"/>
              </a:rPr>
              <a:t>12</a:t>
            </a:r>
            <a:r>
              <a:rPr lang="en-CA" dirty="0">
                <a:solidFill>
                  <a:schemeClr val="bg1"/>
                </a:solidFill>
              </a:rPr>
              <a:t>.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This causes an error because variable names in Python cannot start with a digit!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89D1E7C-6A6D-0E46-9AB9-8192CF4DDB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1" y="4247038"/>
            <a:ext cx="15452840" cy="6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A63B4-EF70-1B63-B58D-C14772AAE617}"/>
              </a:ext>
            </a:extLst>
          </p:cNvPr>
          <p:cNvSpPr txBox="1"/>
          <p:nvPr/>
        </p:nvSpPr>
        <p:spPr>
          <a:xfrm>
            <a:off x="1412877" y="3804259"/>
            <a:ext cx="9064623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rgbClr val="000000"/>
                </a:solidFill>
                <a:latin typeface="Courier New" panose="02070309020205020404" pitchFamily="49" charset="0"/>
              </a:rPr>
              <a:t>12  = x</a:t>
            </a:r>
            <a:endParaRPr lang="en-CA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3BA1ED-21ED-9D04-3C65-ABA75F3F7461}"/>
              </a:ext>
            </a:extLst>
          </p:cNvPr>
          <p:cNvSpPr txBox="1"/>
          <p:nvPr/>
        </p:nvSpPr>
        <p:spPr>
          <a:xfrm>
            <a:off x="1412876" y="4385537"/>
            <a:ext cx="9064624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i="0" dirty="0">
                <a:solidFill>
                  <a:srgbClr val="00CDC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Cell </a:t>
            </a:r>
            <a:r>
              <a:rPr lang="en-CA" sz="2400" b="0" i="0" dirty="0">
                <a:solidFill>
                  <a:srgbClr val="00CD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In[1], </a:t>
            </a:r>
            <a:r>
              <a:rPr lang="en-CA" sz="2400" b="0" i="0" dirty="0">
                <a:solidFill>
                  <a:srgbClr val="21A6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4"/>
              </a:rPr>
              <a:t>line 1</a:t>
            </a:r>
            <a:r>
              <a:rPr lang="en-CA" sz="2400" b="0" i="0" dirty="0">
                <a:solidFill>
                  <a:srgbClr val="00CD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b="0" i="0" dirty="0">
                <a:solidFill>
                  <a:srgbClr val="CD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 = x</a:t>
            </a:r>
            <a:r>
              <a:rPr lang="en-CA" sz="2400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^ </a:t>
            </a:r>
            <a:r>
              <a:rPr lang="en-CA" sz="2400" b="0" i="0" dirty="0" err="1">
                <a:solidFill>
                  <a:srgbClr val="CD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SyntaxError</a:t>
            </a:r>
            <a:r>
              <a:rPr lang="en-CA" sz="2400" b="0" i="0" dirty="0">
                <a:solidFill>
                  <a:srgbClr val="CD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CA" sz="2400" b="0" i="0" dirty="0">
                <a:solidFill>
                  <a:srgbClr val="FFFF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cannot assign to literal here. Maybe you meant '==' instead of '='?</a:t>
            </a:r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76625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CD128A-A85C-037B-6EFB-C486BFBBF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9359CC9-15BE-F16F-C6A8-7AFA40B03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Name error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59D04BC-02A6-FE38-BB8A-801A11359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163"/>
            <a:ext cx="8963026" cy="324643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</a:rPr>
              <a:t>A </a:t>
            </a:r>
            <a:r>
              <a:rPr lang="en-CA" sz="2400" b="1" dirty="0">
                <a:solidFill>
                  <a:schemeClr val="bg1"/>
                </a:solidFill>
              </a:rPr>
              <a:t>name error </a:t>
            </a:r>
            <a:r>
              <a:rPr lang="en-CA" sz="2400" dirty="0">
                <a:solidFill>
                  <a:schemeClr val="bg1"/>
                </a:solidFill>
              </a:rPr>
              <a:t>occurs when we try to use a variable that has not been defined.</a:t>
            </a:r>
          </a:p>
          <a:p>
            <a:pPr lvl="1"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These errors are especially common in notebooks, where cells may be run out of order rather than from top to bottom.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E41CBBB0-CB2D-40D7-2C49-68051275C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1" y="4247038"/>
            <a:ext cx="15452840" cy="6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84958B-D75A-F17D-7863-1912D1453CF3}"/>
              </a:ext>
            </a:extLst>
          </p:cNvPr>
          <p:cNvSpPr txBox="1"/>
          <p:nvPr/>
        </p:nvSpPr>
        <p:spPr>
          <a:xfrm>
            <a:off x="1412876" y="3601869"/>
            <a:ext cx="9331324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rgbClr val="000000"/>
                </a:solidFill>
                <a:latin typeface="Courier New" panose="02070309020205020404" pitchFamily="49" charset="0"/>
              </a:rPr>
              <a:t>my_variable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+ 1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A3CF4-4EBD-2017-5A30-546466907DE8}"/>
              </a:ext>
            </a:extLst>
          </p:cNvPr>
          <p:cNvSpPr txBox="1"/>
          <p:nvPr/>
        </p:nvSpPr>
        <p:spPr>
          <a:xfrm>
            <a:off x="1412876" y="4184551"/>
            <a:ext cx="9331324" cy="193899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NameError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Traceback (most recent call last)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b="0" i="0" dirty="0">
                <a:solidFill>
                  <a:srgbClr val="00CDC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Cell </a:t>
            </a:r>
            <a:r>
              <a:rPr lang="en-CA" sz="2400" b="0" i="0" dirty="0">
                <a:solidFill>
                  <a:srgbClr val="00CD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In[1], </a:t>
            </a:r>
            <a:r>
              <a:rPr lang="en-CA" sz="2400" b="0" i="0" dirty="0">
                <a:solidFill>
                  <a:srgbClr val="21A6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line 1</a:t>
            </a:r>
            <a:r>
              <a:rPr lang="en-CA" sz="2400" b="0" i="0" dirty="0">
                <a:solidFill>
                  <a:srgbClr val="00CD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b="0" i="0" dirty="0">
                <a:solidFill>
                  <a:srgbClr val="00CD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-CA" sz="2400" dirty="0">
                <a:solidFill>
                  <a:srgbClr val="00CD0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---&gt;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b="0" i="0" dirty="0">
                <a:solidFill>
                  <a:srgbClr val="21A6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1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CA" sz="24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my_variable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kumimoji="0" lang="en-CA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NameError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: name '</a:t>
            </a:r>
            <a:r>
              <a:rPr kumimoji="0" lang="en-CA" sz="24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my_variable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' is not defined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14C735-96A5-D99A-9ABD-590BF3D325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50" b="15253"/>
          <a:stretch/>
        </p:blipFill>
        <p:spPr bwMode="auto">
          <a:xfrm>
            <a:off x="9551899" y="1193139"/>
            <a:ext cx="2384602" cy="2261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9022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8CBCCA-66A1-D880-457C-5C17F2DF4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D1349-0579-0988-A315-5A1E1672D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Using AI for 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21577-F920-C1B2-74A5-D26FB7E92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pPr rtl="0" fontAlgn="base">
              <a:spcBef>
                <a:spcPts val="15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AI tools can be very helpful when you're stuck, but it's important to use them thoughtfully.</a:t>
            </a:r>
          </a:p>
          <a:p>
            <a:pPr rtl="0" fontAlgn="base">
              <a:spcBef>
                <a:spcPts val="15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 Here are a few beginner-friendly guidelines:</a:t>
            </a:r>
          </a:p>
          <a:p>
            <a:pPr marL="742950" lvl="1" indent="-285750" rtl="0" fontAlgn="base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CA" b="1" i="0" u="none" strike="noStrike" dirty="0">
                <a:solidFill>
                  <a:srgbClr val="000000"/>
                </a:solidFill>
                <a:effectLst/>
              </a:rPr>
              <a:t>Try to read the error message first.</a:t>
            </a: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 AI should be a helper, not the first step. Often the error message already tells you what went wrong!</a:t>
            </a:r>
          </a:p>
          <a:p>
            <a:r>
              <a:rPr lang="en-CA" sz="2400" b="1" i="0" u="none" strike="noStrike" dirty="0">
                <a:solidFill>
                  <a:srgbClr val="000000"/>
                </a:solidFill>
                <a:effectLst/>
              </a:rPr>
              <a:t>Ask specific questions. </a:t>
            </a: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Instead of saying “It doesn’t work,” provide the exact error message and the code that produced it.</a:t>
            </a: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8705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3791A5-5E9E-CDCA-5210-3355CFDE1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DD2AE-0EC5-9CC0-14F3-5782396B1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Using AI for 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9FC66-1089-3561-4768-3573A04E7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pPr rtl="0" fontAlgn="base">
              <a:spcBef>
                <a:spcPts val="15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Use AI to understand, not to copy blindly. Let AI explain why the error happened, so you learn from it. </a:t>
            </a:r>
          </a:p>
          <a:p>
            <a:pPr rtl="0" fontAlgn="base">
              <a:spcBef>
                <a:spcPts val="15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Keep your code safe. Avoid sharing sensitive data, or private information when asking for help.</a:t>
            </a:r>
          </a:p>
          <a:p>
            <a:pPr rtl="0" fontAlgn="base">
              <a:spcBef>
                <a:spcPts val="15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Try the fix yourself. Even if AI gives you a solution, type it out and run it so you understand how it works.</a:t>
            </a:r>
          </a:p>
          <a:p>
            <a:pPr marL="0" indent="0" rtl="0" fontAlgn="base">
              <a:spcBef>
                <a:spcPts val="1500"/>
              </a:spcBef>
              <a:spcAft>
                <a:spcPts val="1000"/>
              </a:spcAft>
              <a:buNone/>
            </a:pPr>
            <a:endParaRPr lang="en-CA" sz="24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9A00B1-C377-BBF6-6D58-D2ED42DD43AC}"/>
              </a:ext>
            </a:extLst>
          </p:cNvPr>
          <p:cNvSpPr txBox="1"/>
          <p:nvPr/>
        </p:nvSpPr>
        <p:spPr>
          <a:xfrm>
            <a:off x="1117600" y="4963934"/>
            <a:ext cx="9613900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indent="0" rtl="0" fontAlgn="base">
              <a:spcBef>
                <a:spcPts val="1500"/>
              </a:spcBef>
              <a:spcAft>
                <a:spcPts val="1000"/>
              </a:spcAft>
              <a:buNone/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Ultimately, using AI as a learning tool—</a:t>
            </a:r>
            <a:r>
              <a:rPr lang="en-CA" sz="2400" b="1" i="0" u="none" strike="noStrike" dirty="0">
                <a:solidFill>
                  <a:srgbClr val="000000"/>
                </a:solidFill>
                <a:effectLst/>
              </a:rPr>
              <a:t>not just a shortcut</a:t>
            </a: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 will make you a much stronger programmer!</a:t>
            </a: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233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FE1C16-FCF8-15F1-E6AF-775DAF0E4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870-7C95-3ABA-1C59-D20F285EC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Reprex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524B0-DF3C-96E9-DFBF-143D90607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236201" cy="4351338"/>
          </a:xfrm>
        </p:spPr>
        <p:txBody>
          <a:bodyPr>
            <a:normAutofit/>
          </a:bodyPr>
          <a:lstStyle/>
          <a:p>
            <a:pPr rtl="0" fontAlgn="base">
              <a:spcBef>
                <a:spcPts val="15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A </a:t>
            </a:r>
            <a:r>
              <a:rPr lang="en-CA" sz="2400" b="1" i="0" u="none" strike="noStrike" dirty="0">
                <a:solidFill>
                  <a:srgbClr val="000000"/>
                </a:solidFill>
                <a:effectLst/>
              </a:rPr>
              <a:t>reprex</a:t>
            </a: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 (short for reproducible example) is a small, self-contained chunk of code that someone else can run exactly as written to see the same problem you’re seeing.</a:t>
            </a:r>
          </a:p>
          <a:p>
            <a:pPr rtl="0" fontAlgn="base">
              <a:spcBef>
                <a:spcPts val="150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Providing a good reprex is one of the most helpful things you can do when asking for debugging help—from coworkers, online communities, or AI tools.</a:t>
            </a:r>
          </a:p>
        </p:txBody>
      </p:sp>
    </p:spTree>
    <p:extLst>
      <p:ext uri="{BB962C8B-B14F-4D97-AF65-F5344CB8AC3E}">
        <p14:creationId xmlns:p14="http://schemas.microsoft.com/office/powerpoint/2010/main" val="1239041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863909-3F26-3C14-113C-093E5155B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70F50-0634-701A-EA22-D44A875FC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Reprex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BF61B-C890-127A-5CA1-C19C78924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400"/>
            <a:ext cx="11023599" cy="4351338"/>
          </a:xfrm>
        </p:spPr>
        <p:txBody>
          <a:bodyPr>
            <a:normAutofit/>
          </a:bodyPr>
          <a:lstStyle/>
          <a:p>
            <a:pPr rtl="0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CA" sz="2400" b="0" i="0" u="none" strike="noStrike" dirty="0">
                <a:solidFill>
                  <a:srgbClr val="000000"/>
                </a:solidFill>
                <a:effectLst/>
              </a:rPr>
              <a:t>A strong reprex includes:</a:t>
            </a:r>
          </a:p>
          <a:p>
            <a:pPr lvl="1" rtl="0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Only the essential code needed to demonstrate the problem (no unnecessary steps)</a:t>
            </a:r>
          </a:p>
          <a:p>
            <a:pPr lvl="1" rtl="0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Any data required to run the code (e.g., a small vector, mini data frame, or built-in data set)</a:t>
            </a:r>
          </a:p>
          <a:p>
            <a:pPr lvl="1" rtl="0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The exact error message you receive</a:t>
            </a:r>
          </a:p>
          <a:p>
            <a:pPr lvl="1" rtl="0" fontAlgn="base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Courier New" panose="02070309020205020404" pitchFamily="49" charset="0"/>
              <a:buChar char="o"/>
            </a:pPr>
            <a:r>
              <a:rPr lang="en-CA" b="0" i="0" u="none" strike="noStrike" dirty="0">
                <a:solidFill>
                  <a:srgbClr val="000000"/>
                </a:solidFill>
                <a:effectLst/>
              </a:rPr>
              <a:t>Clear comments explaining what the code is supposed to do and where it goes wrong</a:t>
            </a:r>
          </a:p>
        </p:txBody>
      </p:sp>
    </p:spTree>
    <p:extLst>
      <p:ext uri="{BB962C8B-B14F-4D97-AF65-F5344CB8AC3E}">
        <p14:creationId xmlns:p14="http://schemas.microsoft.com/office/powerpoint/2010/main" val="1417185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BB391-8F43-363B-889B-FEA5BB60E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B9F20-6A3E-30C2-3702-87114787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Example of a </a:t>
            </a:r>
            <a:r>
              <a:rPr lang="en-US" dirty="0" err="1">
                <a:solidFill>
                  <a:schemeClr val="bg1"/>
                </a:solidFill>
              </a:rPr>
              <a:t>reprex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4BE367-DFB4-F330-2FBF-E28CB53A2350}"/>
              </a:ext>
            </a:extLst>
          </p:cNvPr>
          <p:cNvSpPr txBox="1"/>
          <p:nvPr/>
        </p:nvSpPr>
        <p:spPr>
          <a:xfrm>
            <a:off x="935039" y="1550988"/>
            <a:ext cx="9313861" cy="452431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Trying to get the average of a list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10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20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,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1664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30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  <a:b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</a:b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This gives an error: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mean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  <a:endParaRPr lang="en-CA" sz="2400" dirty="0">
              <a:solidFill>
                <a:srgbClr val="0E2841">
                  <a:lumMod val="75000"/>
                  <a:lumOff val="25000"/>
                </a:srgbClr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b="0" dirty="0">
                <a:solidFill>
                  <a:srgbClr val="8B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-------------------------------------------------</a:t>
            </a:r>
            <a:r>
              <a:rPr lang="en-CA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b="0" dirty="0" err="1">
                <a:solidFill>
                  <a:srgbClr val="8B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NameError</a:t>
            </a:r>
            <a:r>
              <a:rPr lang="en-CA" sz="24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Traceback (most recent call last)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Cell </a:t>
            </a:r>
            <a:r>
              <a:rPr lang="en-CA" sz="2400" b="0" dirty="0">
                <a:solidFill>
                  <a:srgbClr val="0064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In[1], line 5</a:t>
            </a:r>
            <a:r>
              <a:rPr lang="en-CA" sz="24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rgbClr val="0064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CA" sz="2400" dirty="0">
                <a:solidFill>
                  <a:srgbClr val="0064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CA" sz="24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numbers =</a:t>
            </a:r>
            <a:r>
              <a:rPr lang="en-CA" sz="24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[10, 20, 30]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CA" sz="2400" dirty="0">
                <a:solidFill>
                  <a:srgbClr val="0064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CA" sz="24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b="0" i="1" dirty="0">
                <a:solidFill>
                  <a:srgbClr val="3366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 This gives an error:</a:t>
            </a:r>
            <a:r>
              <a:rPr lang="en-CA" sz="24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b="0" dirty="0">
                <a:solidFill>
                  <a:srgbClr val="0064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----&gt; 5</a:t>
            </a:r>
            <a:r>
              <a:rPr lang="en-CA" sz="2400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mean(numbers)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2400" b="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b="0" i="0" dirty="0" err="1">
                <a:solidFill>
                  <a:srgbClr val="8B0000"/>
                </a:solidFill>
                <a:effectLst/>
                <a:latin typeface="Courier New" panose="02070309020205020404" pitchFamily="49" charset="0"/>
              </a:rPr>
              <a:t>NameError</a:t>
            </a:r>
            <a:r>
              <a:rPr lang="en-CA" sz="24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: name 'mean' is not defined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E2841">
                  <a:lumMod val="75000"/>
                  <a:lumOff val="25000"/>
                </a:srgbClr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680CE5-DBB7-8E14-F279-52F88E2B6EDF}"/>
              </a:ext>
            </a:extLst>
          </p:cNvPr>
          <p:cNvSpPr txBox="1"/>
          <p:nvPr/>
        </p:nvSpPr>
        <p:spPr>
          <a:xfrm>
            <a:off x="7528324" y="4106683"/>
            <a:ext cx="4173138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This tiny example clearly shows the problem: </a:t>
            </a:r>
          </a:p>
          <a:p>
            <a:r>
              <a:rPr lang="en-CA" sz="2400" b="1" dirty="0">
                <a:solidFill>
                  <a:schemeClr val="bg1"/>
                </a:solidFill>
              </a:rPr>
              <a:t>mean() wasn't imported.</a:t>
            </a:r>
          </a:p>
        </p:txBody>
      </p:sp>
    </p:spTree>
    <p:extLst>
      <p:ext uri="{BB962C8B-B14F-4D97-AF65-F5344CB8AC3E}">
        <p14:creationId xmlns:p14="http://schemas.microsoft.com/office/powerpoint/2010/main" val="2307223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9BEAE1-1C11-193E-D1ED-A47B852A3B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EA916-4E48-2D34-E607-F00235C43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8349F-752E-453D-F5AB-485EA48B5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400"/>
            <a:ext cx="11023599" cy="4351338"/>
          </a:xfrm>
        </p:spPr>
        <p:txBody>
          <a:bodyPr>
            <a:norm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Try these on your own: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b="0" dirty="0">
                <a:solidFill>
                  <a:schemeClr val="bg1"/>
                </a:solidFill>
                <a:effectLst/>
              </a:rPr>
              <a:t>Each code snippet contains an error.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b="0" dirty="0">
                <a:solidFill>
                  <a:schemeClr val="bg1"/>
                </a:solidFill>
                <a:effectLst/>
              </a:rPr>
              <a:t>Read the error message, figure out what went wrong, and fix it!</a:t>
            </a:r>
            <a:endParaRPr lang="en-CA" sz="2000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C39718-147A-66A2-5D17-0403CC2675B0}"/>
              </a:ext>
            </a:extLst>
          </p:cNvPr>
          <p:cNvSpPr txBox="1"/>
          <p:nvPr/>
        </p:nvSpPr>
        <p:spPr>
          <a:xfrm>
            <a:off x="1412877" y="3785373"/>
            <a:ext cx="6100762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#1. Name error</a:t>
            </a:r>
            <a:endParaRPr lang="en-CA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CA" sz="2400" b="0" dirty="0">
                <a:solidFill>
                  <a:srgbClr val="6A5221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(total)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2E0DA9-CCF2-1168-8A1F-898CC3464E70}"/>
              </a:ext>
            </a:extLst>
          </p:cNvPr>
          <p:cNvSpPr txBox="1"/>
          <p:nvPr/>
        </p:nvSpPr>
        <p:spPr>
          <a:xfrm>
            <a:off x="1412877" y="5038555"/>
            <a:ext cx="6100762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2. Syntax error</a:t>
            </a:r>
            <a:endParaRPr lang="en-CA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r>
              <a:rPr lang="en-CA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3</a:t>
            </a:r>
            <a:r>
              <a:rPr lang="en-CA" sz="2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number = </a:t>
            </a:r>
            <a:r>
              <a:rPr lang="en-CA" sz="2400" b="0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10</a:t>
            </a:r>
            <a:endParaRPr lang="en-CA" sz="2400" b="0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430795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1041</Words>
  <Application>Microsoft Macintosh PowerPoint</Application>
  <PresentationFormat>Widescreen</PresentationFormat>
  <Paragraphs>126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 Light</vt:lpstr>
      <vt:lpstr>Courier</vt:lpstr>
      <vt:lpstr>Courier New</vt:lpstr>
      <vt:lpstr>1_Office Theme</vt:lpstr>
      <vt:lpstr>02. comments and errors</vt:lpstr>
      <vt:lpstr>Learning objectives</vt:lpstr>
      <vt:lpstr>What are comments?</vt:lpstr>
      <vt:lpstr>Comment example</vt:lpstr>
      <vt:lpstr>Readability</vt:lpstr>
      <vt:lpstr>Which one is easier to read?</vt:lpstr>
      <vt:lpstr>What causes errors?</vt:lpstr>
      <vt:lpstr>Syntax error</vt:lpstr>
      <vt:lpstr>Name error</vt:lpstr>
      <vt:lpstr>Using AI for debugging</vt:lpstr>
      <vt:lpstr>Using AI for debugging</vt:lpstr>
      <vt:lpstr>Reprex</vt:lpstr>
      <vt:lpstr>Reprex</vt:lpstr>
      <vt:lpstr>Example of a reprex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Gallucci</dc:creator>
  <cp:lastModifiedBy>Julia Gallucci</cp:lastModifiedBy>
  <cp:revision>39</cp:revision>
  <dcterms:created xsi:type="dcterms:W3CDTF">2026-01-07T19:20:37Z</dcterms:created>
  <dcterms:modified xsi:type="dcterms:W3CDTF">2026-04-10T17:11:22Z</dcterms:modified>
</cp:coreProperties>
</file>