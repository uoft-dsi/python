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7" r:id="rId2"/>
    <p:sldId id="258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13"/>
    <p:restoredTop sz="97030"/>
  </p:normalViewPr>
  <p:slideViewPr>
    <p:cSldViewPr snapToGrid="0">
      <p:cViewPr varScale="1">
        <p:scale>
          <a:sx n="114" d="100"/>
          <a:sy n="114" d="100"/>
        </p:scale>
        <p:origin x="10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F116D-5E16-FF48-B5D0-2C526431F23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0DEE7-9F28-A843-A17C-F46D8213FE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55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D1B3-1C08-A606-BD99-B34E965C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FBF0-50A5-AE9F-397F-FC986C9A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032E-4446-FEBA-A209-A07073536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708E-9A40-F3AD-9F1D-FB91384ED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0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B0E88-F963-99A4-108A-662DFB0F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9EDE5-AB45-656B-CB30-DAF41C896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7F800-410B-A950-3DD7-22F49EA0B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6C500-B52B-F4D3-3D34-58D62E2A8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892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69A2-5F69-5C9A-5B3D-9F5D38A62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24ACD-8E08-BBDC-B970-EACAD9369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1BB8B-1E56-E22E-C2F5-06413C4AB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B56C8-522A-6161-83DB-E7D07A6325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811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1CC11-17D1-7307-A035-E3A3DB46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B0E999-7183-C007-DD29-7B0FC8A2C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9B5EF7-1448-EFCF-8DD9-6B885F2FF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C25E0-7F12-A226-192F-896AD0B61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272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CE7CF-575F-BEBD-9DAE-8830BD000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270565-992D-A80E-2A21-F7FD2003D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AFC2E2-B444-FB02-0E15-06ABD5C32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7BC8C-3FA6-8C23-BB59-4C243BB51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5789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05531-AA45-05F5-56E8-B891A5E0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358E3-BF6C-5D15-220C-44EDB38BB3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6F503-86EB-916E-A09A-514EB0EE3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F8C9-E4F9-C66F-3AA9-B6CE71845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8020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DE212-25F3-C1F4-B584-62A4EF26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BC33F-4D2C-E1F7-759D-016C2B5BE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F3E8B-B5ED-598B-D33A-825B882A6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422D6-93CF-E466-948F-58404428F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5734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C54D-357A-DDF1-5FE3-1C5B1F54F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70775-E1A8-5EEE-75E4-914A1DD3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00783-6D22-281E-C3C5-7D1031869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95274-D5A7-5D56-89B4-CEEBDC93A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9332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57D4-E152-ADE8-4DCD-7A3689F31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0556A-6990-E471-007B-9445B8D5DC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7574D-ED7F-8469-8F3E-7CCE141E4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10D01-5DE4-40C9-F5C0-8361C3AED1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0165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206B6-99B4-846F-D42D-DEE407A51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5A657-7152-A0AF-609D-99BCB2D8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51445-1BD7-228D-6DA1-F0B9413A4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601D2-EEC3-2E55-8B4F-5D3E3E759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1703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08A5-5184-3B25-C211-E772468A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77B87-1A2D-0229-9443-C368496943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87B28-AC5E-21A6-868B-48DF2C032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EF227-8E50-5417-CDCA-8E51311317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49851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52F19-7284-701E-C7EA-FA990B83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D7541-18FD-9E31-A94A-BB2EC5172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C17B37-E294-638A-1C94-0D9D0D2CC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CC631-764F-9E0A-7669-E831AB835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8737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78550-2F99-02F0-F78C-39212250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18AE5-DAFF-5E81-7175-6CBE8F6F9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23126-BCE8-0E45-7377-31A374AD8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EB33B-7518-011D-9FCE-029E1B879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36029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DB3B-0C9B-14EE-8313-4E95E5C4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F902B-079C-F4C5-6DB0-5BFEB799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AE56-A005-A2EE-AA72-28E6BDBB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10565-0E7C-9A78-B306-43B0EAC35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43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7370-C6AE-D34E-8C44-1FA13FE73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BD9D0-EE46-BD63-6C15-848AE8B0B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99544-77FD-3E20-A94C-E771BBFAB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1E22C-FBB3-227F-C9E3-A087D86C3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525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CFA75-BA02-678A-72AC-EF872041B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F1707-8968-61EC-4996-BB481173B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96743-BA83-EBCF-5DCC-A8679C817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FDA8-D81B-8E72-1E32-70B27865A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8453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A85A-4E62-20F0-9394-BF658D48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6649CA-FD60-9F51-9238-31EAE2F7E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DF6C8-8A56-CA70-3FBE-1F8394FCE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6CD0-DFFD-ECEC-80A3-A59044A8E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6553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24BB9-C4ED-D36C-F0EF-62261E24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D605F9-2B13-4CC5-DCB6-86340074E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E83DB-5C6F-8429-728E-E7E2194FB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27EF-D304-7BE7-D5E7-3863D10DD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81574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65CA-C3AE-846C-AB04-B551A81D4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71208-CCB6-5DEF-E4FD-F3EDF7CB9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9B639-3164-64B3-CC6D-919CEF6B4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6545F-DEFE-BCE9-3169-9B79CD606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4830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6AD0-DA44-F955-A611-D267E48E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07D35-BA70-3C2B-0703-04407DFED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D5946-0034-812E-1E1A-311AA1F8B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270B1-FC85-A113-9186-048EC1190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4879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0918F-A546-DBBC-83A6-DBD37092A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CDDEF-C025-693E-9682-1962D4192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5FE0C-DE61-880F-AC2F-CD3EE7207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80219-535B-7953-D5A0-AFB0BD1C1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2868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D352-592D-7779-F11C-F50E006B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FE14F-B20C-5836-9B73-5CA02F17B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E1843-0EE1-B954-8208-6B3EB8418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7CC3A-BE7D-6AC5-7A79-9B0703AED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72492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4E507-8F30-50DB-C8E7-6ED7ECB2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9B694-D95E-3284-7578-A951D3AA1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263DB-2103-1208-88AE-64D24AE1C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46877-CCA1-CDC5-013B-16F6AABCD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2792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6CE1-F796-C5CC-F174-689ED2F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94CE6-2F0C-9254-E896-96BBDD8B9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E0213-8E37-6684-43C7-AE234D741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2EA16-6329-EB3C-81B9-0CE7E6F93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6977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7949-62E7-0C02-9127-D6CDC6B6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24E9D-C885-72D0-AAEA-C2EB5582F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1F9B4-130D-8F1C-C296-0A1EBDCB0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DB30A-06C7-E221-405D-384C1BD92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528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0231B-E93B-BA69-ED3A-3BB8B578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6867E-1B02-01C5-734D-8D82DB052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38B544-D747-6964-2973-18E7DA912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EE865-5446-FD52-2E5E-89DF42152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8050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2C827-D782-9F6A-65C4-69FD6CDB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24C21-DFC0-ACDB-8CF6-CDD3773384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1C9BF-EA70-AA61-C12A-F212F0511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5C735-0B80-B1EC-961A-ABBA46663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0311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FF61-0720-1BA9-F21E-CFDBE4E01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33B355-2B58-2AEE-9C4B-0100AC10C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9909DD-7B80-DE25-14D6-DB8EBCD69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4BEBB-E5ED-B33B-F96F-5FAE4100A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2044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F6E7-D1E5-E712-9483-AAFA62BCF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1A920-0138-4B6D-F579-AE5A8E1FE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019FB-4B17-4C97-BAA5-23FFA62D3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9ED94-ADB6-E542-5A4A-DDD79A1C4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683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5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51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0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711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71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71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99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3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6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1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9020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functions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vscode-notebook-cell:?execution_count=1&amp;line=1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03. functions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EF32843-F255-C317-2872-B60BCC3EA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what functions are and why they are useful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Use common built-in functions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Nest and combine functions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Write your own functions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Document functions using docstrings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function structure and variable scope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Apply a basic function design recipe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CDA9B-E224-BB75-4EA6-22DEEFCF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805C-3093-4FA1-5CED-0DB797D4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E6F5-C6BF-EE6D-4986-9A58D9CE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function</a:t>
            </a:r>
            <a:r>
              <a:rPr lang="en-CA" sz="2400" dirty="0">
                <a:solidFill>
                  <a:schemeClr val="bg1"/>
                </a:solidFill>
              </a:rPr>
              <a:t> is a block of code that performs a task.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It can </a:t>
            </a:r>
            <a:r>
              <a:rPr lang="en-CA" b="1" dirty="0">
                <a:solidFill>
                  <a:schemeClr val="bg1"/>
                </a:solidFill>
              </a:rPr>
              <a:t>take inputs</a:t>
            </a:r>
            <a:r>
              <a:rPr lang="en-CA" dirty="0">
                <a:solidFill>
                  <a:schemeClr val="bg1"/>
                </a:solidFill>
              </a:rPr>
              <a:t> and </a:t>
            </a:r>
            <a:r>
              <a:rPr lang="en-CA" b="1" dirty="0">
                <a:solidFill>
                  <a:schemeClr val="bg1"/>
                </a:solidFill>
              </a:rPr>
              <a:t>return outputs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Functions help make code </a:t>
            </a:r>
            <a:r>
              <a:rPr lang="en-CA" b="1" dirty="0">
                <a:solidFill>
                  <a:schemeClr val="bg1"/>
                </a:solidFill>
              </a:rPr>
              <a:t>organized</a:t>
            </a:r>
            <a:r>
              <a:rPr lang="en-CA" dirty="0">
                <a:solidFill>
                  <a:schemeClr val="bg1"/>
                </a:solidFill>
              </a:rPr>
              <a:t> and </a:t>
            </a:r>
            <a:r>
              <a:rPr lang="en-CA" b="1" dirty="0">
                <a:solidFill>
                  <a:schemeClr val="bg1"/>
                </a:solidFill>
              </a:rPr>
              <a:t>reusable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Functions can have zero or more inputs.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Inputs are called </a:t>
            </a:r>
            <a:r>
              <a:rPr lang="en-CA" b="1" dirty="0">
                <a:solidFill>
                  <a:schemeClr val="bg1"/>
                </a:solidFill>
              </a:rPr>
              <a:t>arguments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Functions usually </a:t>
            </a:r>
            <a:r>
              <a:rPr lang="en-CA" sz="2400" b="1" dirty="0">
                <a:solidFill>
                  <a:schemeClr val="bg1"/>
                </a:solidFill>
              </a:rPr>
              <a:t>return a value after processing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pic>
        <p:nvPicPr>
          <p:cNvPr id="2050" name="Picture 2" descr="Functions | Python Book">
            <a:extLst>
              <a:ext uri="{FF2B5EF4-FFF2-40B4-BE49-F238E27FC236}">
                <a16:creationId xmlns:a16="http://schemas.microsoft.com/office/drawing/2014/main" id="{40D865B3-0FB2-936D-9B90-F32C71329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833" y="2134604"/>
            <a:ext cx="3132117" cy="258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53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4F4D6-5E32-B937-438A-72F8DBD2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67CBA-E29F-9D0B-9B84-7C75CC3B6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to call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9F92E-9BE8-D051-637B-21DFE56F8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To use a function, we </a:t>
            </a:r>
            <a:r>
              <a:rPr lang="en-CA" sz="2400" b="1" dirty="0">
                <a:solidFill>
                  <a:schemeClr val="bg1"/>
                </a:solidFill>
              </a:rPr>
              <a:t>call</a:t>
            </a:r>
            <a:r>
              <a:rPr lang="en-CA" sz="2400" dirty="0">
                <a:solidFill>
                  <a:schemeClr val="bg1"/>
                </a:solidFill>
              </a:rPr>
              <a:t> it.</a:t>
            </a:r>
          </a:p>
          <a:p>
            <a:r>
              <a:rPr lang="en-CA" sz="2400" dirty="0">
                <a:solidFill>
                  <a:schemeClr val="bg1"/>
                </a:solidFill>
              </a:rPr>
              <a:t>Syntax: 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2400" dirty="0">
                <a:solidFill>
                  <a:schemeClr val="bg1"/>
                </a:solidFill>
              </a:rPr>
              <a:t>Python comes with several functions already </a:t>
            </a:r>
            <a:r>
              <a:rPr lang="en-CA" sz="2400" b="1" dirty="0">
                <a:solidFill>
                  <a:schemeClr val="bg1"/>
                </a:solidFill>
              </a:rPr>
              <a:t>built-in</a:t>
            </a:r>
            <a:r>
              <a:rPr lang="en-CA" sz="2400" dirty="0">
                <a:solidFill>
                  <a:schemeClr val="bg1"/>
                </a:solidFill>
              </a:rPr>
              <a:t>. </a:t>
            </a:r>
          </a:p>
          <a:p>
            <a:r>
              <a:rPr lang="en-CA" sz="2400" dirty="0">
                <a:solidFill>
                  <a:schemeClr val="bg1"/>
                </a:solidFill>
              </a:rPr>
              <a:t>To display information, for example, we can call the `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print()` </a:t>
            </a:r>
            <a:r>
              <a:rPr lang="en-CA" sz="2400" dirty="0">
                <a:solidFill>
                  <a:schemeClr val="bg1"/>
                </a:solidFill>
              </a:rPr>
              <a:t>function.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AE776C-E520-91F9-7BB3-0A12CEA8AF00}"/>
              </a:ext>
            </a:extLst>
          </p:cNvPr>
          <p:cNvSpPr txBox="1"/>
          <p:nvPr/>
        </p:nvSpPr>
        <p:spPr>
          <a:xfrm>
            <a:off x="1117600" y="3751195"/>
            <a:ext cx="704965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(42)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42</a:t>
            </a: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4C25E-842E-C02B-5654-DC43F78E7533}"/>
              </a:ext>
            </a:extLst>
          </p:cNvPr>
          <p:cNvSpPr txBox="1"/>
          <p:nvPr/>
        </p:nvSpPr>
        <p:spPr>
          <a:xfrm>
            <a:off x="6717005" y="3932298"/>
            <a:ext cx="417313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Here, print is the function being </a:t>
            </a:r>
            <a:r>
              <a:rPr lang="en-CA" sz="2400" i="1" dirty="0">
                <a:solidFill>
                  <a:prstClr val="black"/>
                </a:solidFill>
                <a:latin typeface="Aptos" panose="02110004020202020204"/>
              </a:rPr>
              <a:t>called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837365-781B-FBCA-8945-CC4470DCAC00}"/>
              </a:ext>
            </a:extLst>
          </p:cNvPr>
          <p:cNvSpPr txBox="1"/>
          <p:nvPr/>
        </p:nvSpPr>
        <p:spPr>
          <a:xfrm>
            <a:off x="1117600" y="5008463"/>
            <a:ext cx="704965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(10 ** 2)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100</a:t>
            </a: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A2AB5-67C1-A001-DCB3-11E4AE1A59F3}"/>
              </a:ext>
            </a:extLst>
          </p:cNvPr>
          <p:cNvSpPr txBox="1"/>
          <p:nvPr/>
        </p:nvSpPr>
        <p:spPr>
          <a:xfrm>
            <a:off x="6717005" y="5189566"/>
            <a:ext cx="417313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Note, we can also pass an expression as an argument!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162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A8A30B-3A52-1E69-7217-B80397161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4747D-0BA3-13F2-E317-0E7A6D1B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More 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C54AB-EEE1-26F1-9967-3120ABD58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026"/>
            <a:ext cx="10236201" cy="460701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Python has many other </a:t>
            </a:r>
            <a:r>
              <a:rPr lang="en-CA" sz="2400" b="1" dirty="0">
                <a:solidFill>
                  <a:schemeClr val="bg1"/>
                </a:solidFill>
              </a:rPr>
              <a:t>built-in functions</a:t>
            </a:r>
            <a:r>
              <a:rPr lang="en-CA" sz="2400" dirty="0">
                <a:solidFill>
                  <a:schemeClr val="bg1"/>
                </a:solidFill>
              </a:rPr>
              <a:t> you can use right away.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These functions make common tasks easier.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abs()</a:t>
            </a:r>
            <a:r>
              <a:rPr lang="en-CA" dirty="0">
                <a:solidFill>
                  <a:schemeClr val="bg1"/>
                </a:solidFill>
              </a:rPr>
              <a:t>to get the absolute value of a number.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round()</a:t>
            </a:r>
            <a:r>
              <a:rPr lang="en-CA" dirty="0">
                <a:solidFill>
                  <a:schemeClr val="bg1"/>
                </a:solidFill>
              </a:rPr>
              <a:t>to round a number to the nearest integer (or specified decimal places).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CA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en-CA" sz="1200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Convert values using 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int()</a:t>
            </a:r>
            <a:r>
              <a:rPr lang="en-CA" dirty="0">
                <a:solidFill>
                  <a:schemeClr val="bg1"/>
                </a:solidFill>
              </a:rPr>
              <a:t>(integer) or 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float()</a:t>
            </a:r>
            <a:r>
              <a:rPr lang="en-CA" dirty="0">
                <a:solidFill>
                  <a:schemeClr val="bg1"/>
                </a:solidFill>
              </a:rPr>
              <a:t>(decimal)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F64984-8AA6-8A97-5BD6-155FC4618D91}"/>
              </a:ext>
            </a:extLst>
          </p:cNvPr>
          <p:cNvSpPr txBox="1"/>
          <p:nvPr/>
        </p:nvSpPr>
        <p:spPr>
          <a:xfrm>
            <a:off x="1753919" y="2864240"/>
            <a:ext cx="8815120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(-42) 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42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4E6BF-B937-ABBC-EEEC-8D777EA48CFF}"/>
              </a:ext>
            </a:extLst>
          </p:cNvPr>
          <p:cNvSpPr txBox="1"/>
          <p:nvPr/>
        </p:nvSpPr>
        <p:spPr>
          <a:xfrm>
            <a:off x="1753918" y="4401846"/>
            <a:ext cx="8815119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lumOff val="1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round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(3.7)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lumOff val="1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round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(3.14159, 2)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3.14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F0BB53-0B61-900D-976A-A40E08B85F52}"/>
              </a:ext>
            </a:extLst>
          </p:cNvPr>
          <p:cNvSpPr txBox="1"/>
          <p:nvPr/>
        </p:nvSpPr>
        <p:spPr>
          <a:xfrm>
            <a:off x="1753919" y="5820703"/>
            <a:ext cx="881511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lumOff val="1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(3.7) 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lumOff val="1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float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(5) 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5.0</a:t>
            </a:r>
          </a:p>
        </p:txBody>
      </p:sp>
    </p:spTree>
    <p:extLst>
      <p:ext uri="{BB962C8B-B14F-4D97-AF65-F5344CB8AC3E}">
        <p14:creationId xmlns:p14="http://schemas.microsoft.com/office/powerpoint/2010/main" val="241815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C006B-7034-35A4-4678-596E6C57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E483D-2DE3-38DD-396D-7073BD8F1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197B0-238B-2515-5990-1B4A1571A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You can </a:t>
            </a:r>
            <a:r>
              <a:rPr lang="en-CA" sz="2400" b="1" dirty="0">
                <a:solidFill>
                  <a:schemeClr val="bg1"/>
                </a:solidFill>
              </a:rPr>
              <a:t>use functions inside other functions</a:t>
            </a:r>
            <a:r>
              <a:rPr lang="en-CA" sz="2400" dirty="0">
                <a:solidFill>
                  <a:schemeClr val="bg1"/>
                </a:solidFill>
              </a:rPr>
              <a:t>—this is called </a:t>
            </a:r>
            <a:r>
              <a:rPr lang="en-CA" sz="2400" b="1" dirty="0">
                <a:solidFill>
                  <a:schemeClr val="bg1"/>
                </a:solidFill>
              </a:rPr>
              <a:t>nesting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Nested functions are </a:t>
            </a:r>
            <a:r>
              <a:rPr lang="en-CA" sz="2400" b="1" dirty="0">
                <a:solidFill>
                  <a:schemeClr val="bg1"/>
                </a:solidFill>
              </a:rPr>
              <a:t>evaluated from the inside out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2ADA4-31FA-1BC8-4884-C0D527B3C0CF}"/>
              </a:ext>
            </a:extLst>
          </p:cNvPr>
          <p:cNvSpPr txBox="1"/>
          <p:nvPr/>
        </p:nvSpPr>
        <p:spPr>
          <a:xfrm>
            <a:off x="1753919" y="2864240"/>
            <a:ext cx="8815120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abs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round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(-2 * 1.75)))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49C805-CC90-069B-5BD3-B90A1E37DFF5}"/>
              </a:ext>
            </a:extLst>
          </p:cNvPr>
          <p:cNvSpPr txBox="1"/>
          <p:nvPr/>
        </p:nvSpPr>
        <p:spPr>
          <a:xfrm>
            <a:off x="5213269" y="3630553"/>
            <a:ext cx="5355770" cy="2862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bg1"/>
                </a:solidFill>
              </a:rPr>
              <a:t>Evaluation order:</a:t>
            </a:r>
            <a:endParaRPr lang="en-CA" sz="2000" dirty="0">
              <a:solidFill>
                <a:schemeClr val="bg1"/>
              </a:solidFill>
            </a:endParaRPr>
          </a:p>
          <a:p>
            <a:r>
              <a:rPr lang="en-CA" sz="2000" b="1" dirty="0">
                <a:solidFill>
                  <a:schemeClr val="bg1"/>
                </a:solidFill>
              </a:rPr>
              <a:t>1.  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-2 * 1.75 </a:t>
            </a:r>
            <a:r>
              <a:rPr lang="en-CA" sz="2000" dirty="0">
                <a:solidFill>
                  <a:schemeClr val="bg1"/>
                </a:solidFill>
              </a:rPr>
              <a:t>→ multiplication happens first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</a:rPr>
              <a:t>   Result: -3.5</a:t>
            </a:r>
          </a:p>
          <a:p>
            <a:r>
              <a:rPr lang="en-CA" sz="2000" b="1" dirty="0">
                <a:solidFill>
                  <a:schemeClr val="bg1"/>
                </a:solidFill>
              </a:rPr>
              <a:t>2. 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round()</a:t>
            </a:r>
            <a:r>
              <a:rPr lang="en-CA" sz="2000" dirty="0">
                <a:solidFill>
                  <a:schemeClr val="bg1"/>
                </a:solidFill>
              </a:rPr>
              <a:t>→ rounds the result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</a:rPr>
              <a:t>    Result: -4</a:t>
            </a:r>
          </a:p>
          <a:p>
            <a:r>
              <a:rPr lang="en-CA" sz="2000" b="1" dirty="0">
                <a:solidFill>
                  <a:schemeClr val="bg1"/>
                </a:solidFill>
              </a:rPr>
              <a:t>3. 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abs()</a:t>
            </a:r>
            <a:r>
              <a:rPr lang="en-CA" sz="2000" dirty="0">
                <a:solidFill>
                  <a:schemeClr val="bg1"/>
                </a:solidFill>
              </a:rPr>
              <a:t>→ converts to absolute 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</a:rPr>
              <a:t>Result: 4</a:t>
            </a:r>
          </a:p>
          <a:p>
            <a:r>
              <a:rPr lang="en-CA" sz="2000" b="1" dirty="0">
                <a:solidFill>
                  <a:schemeClr val="bg1"/>
                </a:solidFill>
              </a:rPr>
              <a:t>4. 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print()</a:t>
            </a:r>
            <a:r>
              <a:rPr lang="en-CA" sz="2000" dirty="0">
                <a:solidFill>
                  <a:schemeClr val="bg1"/>
                </a:solidFill>
              </a:rPr>
              <a:t>→ displays the final output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000" dirty="0">
                <a:solidFill>
                  <a:schemeClr val="bg1"/>
                </a:solidFill>
              </a:rPr>
              <a:t>Output: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24681-D134-BED0-70AB-20A64F4820B2}"/>
              </a:ext>
            </a:extLst>
          </p:cNvPr>
          <p:cNvSpPr txBox="1"/>
          <p:nvPr/>
        </p:nvSpPr>
        <p:spPr>
          <a:xfrm>
            <a:off x="838199" y="3532096"/>
            <a:ext cx="41474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This allows us to perform </a:t>
            </a:r>
            <a:r>
              <a:rPr lang="en-CA" sz="2400" b="1" dirty="0">
                <a:solidFill>
                  <a:schemeClr val="bg1"/>
                </a:solidFill>
              </a:rPr>
              <a:t>multiple operations</a:t>
            </a:r>
            <a:r>
              <a:rPr lang="en-CA" sz="2400" dirty="0">
                <a:solidFill>
                  <a:schemeClr val="bg1"/>
                </a:solidFill>
              </a:rPr>
              <a:t> in a single line making code </a:t>
            </a:r>
            <a:r>
              <a:rPr lang="en-CA" sz="2400" b="1" dirty="0">
                <a:solidFill>
                  <a:schemeClr val="bg1"/>
                </a:solidFill>
              </a:rPr>
              <a:t>compact and efficient!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987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A14134-D3E1-20B9-FF9A-065051588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E2E9-0E54-6EFB-EBDD-882EB418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to Learn About a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63373-5F44-D6B1-BA14-48990835C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Sometimes we need to know: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What a function </a:t>
            </a:r>
            <a:r>
              <a:rPr lang="en-CA" b="1" dirty="0">
                <a:solidFill>
                  <a:schemeClr val="bg1"/>
                </a:solidFill>
              </a:rPr>
              <a:t>does</a:t>
            </a:r>
            <a:endParaRPr lang="en-CA" dirty="0">
              <a:solidFill>
                <a:schemeClr val="bg1"/>
              </a:solidFill>
            </a:endParaRPr>
          </a:p>
          <a:p>
            <a:pPr lvl="1"/>
            <a:r>
              <a:rPr lang="en-CA" dirty="0">
                <a:solidFill>
                  <a:schemeClr val="bg1"/>
                </a:solidFill>
              </a:rPr>
              <a:t>What </a:t>
            </a:r>
            <a:r>
              <a:rPr lang="en-CA" b="1" dirty="0">
                <a:solidFill>
                  <a:schemeClr val="bg1"/>
                </a:solidFill>
              </a:rPr>
              <a:t>arguments</a:t>
            </a:r>
            <a:r>
              <a:rPr lang="en-CA" dirty="0">
                <a:solidFill>
                  <a:schemeClr val="bg1"/>
                </a:solidFill>
              </a:rPr>
              <a:t> it can take</a:t>
            </a:r>
          </a:p>
          <a:p>
            <a:pPr lvl="1"/>
            <a:endParaRPr lang="en-CA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Two main ways to find out:</a:t>
            </a:r>
          </a:p>
          <a:p>
            <a:pPr lvl="1">
              <a:buFont typeface="+mj-lt"/>
              <a:buAutoNum type="arabicPeriod"/>
            </a:pPr>
            <a:r>
              <a:rPr lang="en-CA" b="1" dirty="0">
                <a:solidFill>
                  <a:schemeClr val="bg1"/>
                </a:solidFill>
              </a:rPr>
              <a:t>Online documentation </a:t>
            </a:r>
            <a:r>
              <a:rPr lang="en-CA" dirty="0">
                <a:solidFill>
                  <a:schemeClr val="bg1"/>
                </a:solidFill>
                <a:hlinkClick r:id="rId3"/>
              </a:rPr>
              <a:t>https://docs.python.org/3/library/functions.html</a:t>
            </a:r>
            <a:r>
              <a:rPr lang="en-CA" dirty="0">
                <a:solidFill>
                  <a:schemeClr val="bg1"/>
                </a:solidFill>
              </a:rPr>
              <a:t> </a:t>
            </a:r>
          </a:p>
          <a:p>
            <a:pPr lvl="1">
              <a:buFont typeface="+mj-lt"/>
              <a:buAutoNum type="arabicPeriod"/>
            </a:pPr>
            <a:r>
              <a:rPr lang="en-CA" b="1" dirty="0">
                <a:solidFill>
                  <a:schemeClr val="bg1"/>
                </a:solidFill>
              </a:rPr>
              <a:t>Built-in </a:t>
            </a:r>
            <a:r>
              <a:rPr lang="en-CA" b="1" dirty="0">
                <a:solidFill>
                  <a:schemeClr val="bg1"/>
                </a:solidFill>
                <a:cs typeface="Courier New" panose="02070309020205020404" pitchFamily="49" charset="0"/>
              </a:rPr>
              <a:t>help </a:t>
            </a:r>
            <a:r>
              <a:rPr lang="en-CA" b="1" dirty="0">
                <a:solidFill>
                  <a:schemeClr val="bg1"/>
                </a:solidFill>
              </a:rPr>
              <a:t>function</a:t>
            </a:r>
            <a:endParaRPr lang="en-CA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30213-3570-B617-50A3-C74AD0522FBA}"/>
              </a:ext>
            </a:extLst>
          </p:cNvPr>
          <p:cNvSpPr txBox="1"/>
          <p:nvPr/>
        </p:nvSpPr>
        <p:spPr>
          <a:xfrm>
            <a:off x="1600200" y="4849053"/>
            <a:ext cx="94504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help()</a:t>
            </a:r>
            <a:r>
              <a:rPr lang="en-CA" sz="2400" dirty="0">
                <a:solidFill>
                  <a:schemeClr val="bg1"/>
                </a:solidFill>
              </a:rPr>
              <a:t>shows information about a function directly in Python.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73DFAA-0675-85E4-E053-39C3042C8CE4}"/>
              </a:ext>
            </a:extLst>
          </p:cNvPr>
          <p:cNvSpPr txBox="1"/>
          <p:nvPr/>
        </p:nvSpPr>
        <p:spPr>
          <a:xfrm>
            <a:off x="1600200" y="5310718"/>
            <a:ext cx="704965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help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function_name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7911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5D43D6-225C-0457-5052-02D34ED29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894EF-1469-1E71-3A49-380F6F22D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of online documentation</a:t>
            </a:r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68F41151-999C-3000-2B92-AA607AC59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84" y="1355671"/>
            <a:ext cx="7772400" cy="51372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44797D-7D29-C2BF-088C-01C81DA22EE0}"/>
              </a:ext>
            </a:extLst>
          </p:cNvPr>
          <p:cNvSpPr txBox="1"/>
          <p:nvPr/>
        </p:nvSpPr>
        <p:spPr>
          <a:xfrm>
            <a:off x="9056396" y="2642950"/>
            <a:ext cx="252204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This tells us what the function does and what arguments it takes!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2539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79F75-F365-2B91-9F6A-70700DB4E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D8D51-F061-D53B-49D2-A0AD06CBB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of help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74590-8CED-C7F1-378F-A814751187B7}"/>
              </a:ext>
            </a:extLst>
          </p:cNvPr>
          <p:cNvSpPr txBox="1"/>
          <p:nvPr/>
        </p:nvSpPr>
        <p:spPr>
          <a:xfrm>
            <a:off x="970805" y="1417556"/>
            <a:ext cx="9930741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help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(round)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45A5C9-BCDB-A9D8-E0BF-2EE5E0C52BE9}"/>
              </a:ext>
            </a:extLst>
          </p:cNvPr>
          <p:cNvSpPr txBox="1"/>
          <p:nvPr/>
        </p:nvSpPr>
        <p:spPr>
          <a:xfrm>
            <a:off x="970806" y="2004675"/>
            <a:ext cx="9930742" cy="34163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Help on built-in function round in module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builtins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round(number,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ndigits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=None)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Round a number to a given precision in decimal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digits.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The return value is an integer if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ndigits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omitted or None. Otherwise, the return value has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the same type as the number.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ndigits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may be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negative.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BED0B-3C70-FBF2-8D4E-09E271CB2F3B}"/>
              </a:ext>
            </a:extLst>
          </p:cNvPr>
          <p:cNvSpPr txBox="1"/>
          <p:nvPr/>
        </p:nvSpPr>
        <p:spPr>
          <a:xfrm>
            <a:off x="7180662" y="5078790"/>
            <a:ext cx="4173138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also tells us what the function does and what arguments it takes, without having to leave Python!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269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5FFB70-9AB6-0F32-BA89-22DDA78F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EF19-A7F8-DBEB-F831-D3BFF525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Writing your own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0DC6F-E8D0-BCDE-5731-23C0C215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also create our own functions, which allows us to reuse code without copying and pasting!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bg1"/>
                </a:solidFill>
              </a:rPr>
              <a:t>In Python, we define a function using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CA" sz="2400" dirty="0">
                <a:solidFill>
                  <a:schemeClr val="bg1"/>
                </a:solidFill>
              </a:rPr>
              <a:t> keyword. This tells Python that we are creating a new function.</a:t>
            </a:r>
          </a:p>
          <a:p>
            <a:pPr marL="457200" indent="-457200">
              <a:buFont typeface="+mj-lt"/>
              <a:buAutoNum type="arabicPeriod"/>
            </a:pPr>
            <a:r>
              <a:rPr lang="en-CA" sz="2400" dirty="0">
                <a:solidFill>
                  <a:schemeClr val="bg1"/>
                </a:solidFill>
              </a:rPr>
              <a:t>Function name comes right after def. 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Function names: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Can include letters, numbers, and underscores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Cannot start with a number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Are case sensitive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Usually start with a lowercase letter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7AC4C6-2CFC-FF77-C5CC-AFF5DF7932C1}"/>
              </a:ext>
            </a:extLst>
          </p:cNvPr>
          <p:cNvSpPr txBox="1"/>
          <p:nvPr/>
        </p:nvSpPr>
        <p:spPr>
          <a:xfrm>
            <a:off x="1493322" y="5946130"/>
            <a:ext cx="7049656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def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function_name</a:t>
            </a: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87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A0A37-2FBA-D6BA-1FEE-8C13079C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AFF0A-AE72-F4FB-C6DF-A50D8496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Writing your own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96E2-21F0-A70B-EC2F-5D2C9A9A2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3. After the function name, we list any </a:t>
            </a:r>
            <a:r>
              <a:rPr lang="en-CA" sz="2400" b="1" dirty="0">
                <a:solidFill>
                  <a:schemeClr val="bg1"/>
                </a:solidFill>
              </a:rPr>
              <a:t>parameters inside parentheses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 lvl="1"/>
            <a:r>
              <a:rPr lang="en-CA" b="1" dirty="0">
                <a:solidFill>
                  <a:schemeClr val="bg1"/>
                </a:solidFill>
              </a:rPr>
              <a:t>A parameter is a variable that exists only inside the function</a:t>
            </a:r>
            <a:r>
              <a:rPr lang="en-CA" dirty="0">
                <a:solidFill>
                  <a:schemeClr val="bg1"/>
                </a:solidFill>
              </a:rPr>
              <a:t>.</a:t>
            </a:r>
            <a:br>
              <a:rPr lang="en-CA" dirty="0">
                <a:solidFill>
                  <a:schemeClr val="bg1"/>
                </a:solidFill>
              </a:rPr>
            </a:br>
            <a:r>
              <a:rPr lang="en-CA" dirty="0">
                <a:solidFill>
                  <a:schemeClr val="bg1"/>
                </a:solidFill>
              </a:rPr>
              <a:t>When we call a function and pass in values (called </a:t>
            </a:r>
            <a:r>
              <a:rPr lang="en-CA" i="1" dirty="0">
                <a:solidFill>
                  <a:schemeClr val="bg1"/>
                </a:solidFill>
              </a:rPr>
              <a:t>arguments</a:t>
            </a:r>
            <a:r>
              <a:rPr lang="en-CA" dirty="0">
                <a:solidFill>
                  <a:schemeClr val="bg1"/>
                </a:solidFill>
              </a:rPr>
              <a:t>), those values are assigned to the parameters.</a:t>
            </a:r>
          </a:p>
          <a:p>
            <a:pPr lvl="1"/>
            <a:endParaRPr lang="en-CA" dirty="0">
              <a:solidFill>
                <a:schemeClr val="bg1"/>
              </a:solidFill>
            </a:endParaRPr>
          </a:p>
          <a:p>
            <a:pPr lvl="1"/>
            <a:endParaRPr lang="en-CA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4. The line defining the function ends with a colon (:).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The </a:t>
            </a:r>
            <a:r>
              <a:rPr lang="en-CA" sz="2400" b="1" dirty="0">
                <a:solidFill>
                  <a:schemeClr val="bg1"/>
                </a:solidFill>
              </a:rPr>
              <a:t>function body is the indented block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b="1" dirty="0">
                <a:solidFill>
                  <a:schemeClr val="bg1"/>
                </a:solidFill>
              </a:rPr>
              <a:t>of code </a:t>
            </a:r>
            <a:r>
              <a:rPr lang="en-CA" sz="2400" dirty="0">
                <a:solidFill>
                  <a:schemeClr val="bg1"/>
                </a:solidFill>
              </a:rPr>
              <a:t>that follows. This code: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Runs only when the function is called, not when it is defined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Can include comments and multiple statements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C22469-EB63-377D-B90C-5AAAFFA48892}"/>
              </a:ext>
            </a:extLst>
          </p:cNvPr>
          <p:cNvSpPr txBox="1"/>
          <p:nvPr/>
        </p:nvSpPr>
        <p:spPr>
          <a:xfrm>
            <a:off x="1552698" y="3429000"/>
            <a:ext cx="8541328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function_name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(parameter = argument)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0B1D8-E8E6-A33B-DBE3-EA21AA3E60FB}"/>
              </a:ext>
            </a:extLst>
          </p:cNvPr>
          <p:cNvSpPr txBox="1"/>
          <p:nvPr/>
        </p:nvSpPr>
        <p:spPr>
          <a:xfrm>
            <a:off x="1552698" y="5761464"/>
            <a:ext cx="8541328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function_name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(parameter = argument):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code to execute when function is called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736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76F2C-8951-81F4-B075-0BE030CCE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63CB-237E-A1E6-69D9-A057D752A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Writing your own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F01A0-7D71-1073-000E-188E3F6AD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5. The function usually ends with a return statement. 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A return statement specifies what value the function will send back </a:t>
            </a:r>
            <a:r>
              <a:rPr lang="en-CA" sz="2400" dirty="0">
                <a:solidFill>
                  <a:schemeClr val="bg1"/>
                </a:solidFill>
              </a:rPr>
              <a:t>when it’s called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i="1" dirty="0">
                <a:solidFill>
                  <a:schemeClr val="bg1"/>
                </a:solidFill>
              </a:rPr>
              <a:t>Note</a:t>
            </a:r>
            <a:r>
              <a:rPr lang="en-CA" dirty="0">
                <a:solidFill>
                  <a:schemeClr val="bg1"/>
                </a:solidFill>
              </a:rPr>
              <a:t>. If you don’t write a return statement, Python automatically returns 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None </a:t>
            </a:r>
            <a:r>
              <a:rPr lang="en-CA" dirty="0">
                <a:solidFill>
                  <a:schemeClr val="bg1"/>
                </a:solidFill>
                <a:cs typeface="Courier New" panose="02070309020205020404" pitchFamily="49" charset="0"/>
              </a:rPr>
              <a:t>(a special value that represents “no data”)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26D97-FFAA-A3FF-F15A-5D4881196BA0}"/>
              </a:ext>
            </a:extLst>
          </p:cNvPr>
          <p:cNvSpPr txBox="1"/>
          <p:nvPr/>
        </p:nvSpPr>
        <p:spPr>
          <a:xfrm>
            <a:off x="1362692" y="3858928"/>
            <a:ext cx="8541328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function_name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(parameter = argument):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code to execute when function is called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return 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5742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1C8BC-E912-144B-1200-C54C2DE4C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A2AA-037A-072C-D592-C0C1330C2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D34BB-AF0B-5370-3352-3DB4F81AE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Let’s create a function that converts degrees from Celsius to Fahrenheit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1EF346-9F4F-F458-8207-5296F4A3D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842473"/>
              </p:ext>
            </p:extLst>
          </p:nvPr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2400" dirty="0">
                          <a:solidFill>
                            <a:schemeClr val="bg1"/>
                          </a:solidFill>
                        </a:rPr>
                        <a:t>The formula is (</a:t>
                      </a:r>
                      <a:r>
                        <a:rPr lang="en-CA" sz="2400" b="1" dirty="0">
                          <a:solidFill>
                            <a:schemeClr val="bg1"/>
                          </a:solidFill>
                        </a:rPr>
                        <a:t>°C</a:t>
                      </a:r>
                      <a:r>
                        <a:rPr lang="en-CA" sz="2400" dirty="0">
                          <a:solidFill>
                            <a:schemeClr val="bg1"/>
                          </a:solidFill>
                        </a:rPr>
                        <a:t> × 9/5) + 32 = </a:t>
                      </a:r>
                      <a:r>
                        <a:rPr lang="en-CA" sz="2400" b="1" dirty="0">
                          <a:solidFill>
                            <a:schemeClr val="bg1"/>
                          </a:solidFill>
                        </a:rPr>
                        <a:t>°F</a:t>
                      </a:r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1896E0-2F93-A2FF-F5C8-27365440BDDA}"/>
              </a:ext>
            </a:extLst>
          </p:cNvPr>
          <p:cNvSpPr txBox="1"/>
          <p:nvPr/>
        </p:nvSpPr>
        <p:spPr>
          <a:xfrm>
            <a:off x="1296883" y="2824699"/>
            <a:ext cx="959823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_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#convert degrees from Celsius to Fahrenheit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return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(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degrees_c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* (9/5)) + 32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40FF5-9806-900D-CBA8-2E8AE9331104}"/>
              </a:ext>
            </a:extLst>
          </p:cNvPr>
          <p:cNvSpPr txBox="1"/>
          <p:nvPr/>
        </p:nvSpPr>
        <p:spPr>
          <a:xfrm>
            <a:off x="1296883" y="4576467"/>
            <a:ext cx="959823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defines the function name with 1 parameter,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degrees_c</a:t>
            </a:r>
            <a:endParaRPr lang="en-CA" sz="2400" b="1" i="1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o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nly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exists inside the function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converts the Celsius value from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farenheit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using the standard formula and returns the result!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6676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C5582-E084-87B4-7D1A-9250DEDA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9F-F612-6875-5734-ABF9674C7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C55D9-87AE-F62A-CF5F-561D459A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Once we’ve defined our variable, we can use it!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E101C4-00FC-887E-3797-8B102F123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647900"/>
              </p:ext>
            </p:extLst>
          </p:nvPr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0882E7-C9C9-49BF-4F06-60A8F41ABCCD}"/>
              </a:ext>
            </a:extLst>
          </p:cNvPr>
          <p:cNvSpPr txBox="1"/>
          <p:nvPr/>
        </p:nvSpPr>
        <p:spPr>
          <a:xfrm>
            <a:off x="1296883" y="2824699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(0)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32.0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212.0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A28BC-4A3A-BE5C-EBE6-233538166D0A}"/>
              </a:ext>
            </a:extLst>
          </p:cNvPr>
          <p:cNvSpPr txBox="1"/>
          <p:nvPr/>
        </p:nvSpPr>
        <p:spPr>
          <a:xfrm>
            <a:off x="1296884" y="4189158"/>
            <a:ext cx="959823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2400" dirty="0">
                <a:solidFill>
                  <a:schemeClr val="bg1"/>
                </a:solidFill>
              </a:rPr>
              <a:t>The function does nothing until it is </a:t>
            </a:r>
            <a:r>
              <a:rPr lang="en-CA" sz="2400" i="1" dirty="0">
                <a:solidFill>
                  <a:schemeClr val="bg1"/>
                </a:solidFill>
              </a:rPr>
              <a:t>called</a:t>
            </a:r>
            <a:r>
              <a:rPr lang="en-CA" sz="2400" dirty="0">
                <a:solidFill>
                  <a:schemeClr val="bg1"/>
                </a:solidFill>
              </a:rPr>
              <a:t>. When called, it takes the input value, performs the calculation, and returns the converted temperature.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612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1601E-FACD-7DC9-BCA1-AC4600BF6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EBE0-6881-254C-BB0F-214B78E3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04122-AB61-60A3-37A4-1CE3BFB33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save the output of a function by assigning it to a variable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FF72D1-9A93-F24C-31F9-8CFC3B6A35AB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229314-B0D6-65D6-31EA-03EC140DD3BF}"/>
              </a:ext>
            </a:extLst>
          </p:cNvPr>
          <p:cNvSpPr txBox="1"/>
          <p:nvPr/>
        </p:nvSpPr>
        <p:spPr>
          <a:xfrm>
            <a:off x="1296883" y="2824699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reezing_f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(0)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reezing_f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32.0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A208A8-284C-D26B-FF76-0BAE5F345F8F}"/>
              </a:ext>
            </a:extLst>
          </p:cNvPr>
          <p:cNvSpPr txBox="1"/>
          <p:nvPr/>
        </p:nvSpPr>
        <p:spPr>
          <a:xfrm>
            <a:off x="1296884" y="4189158"/>
            <a:ext cx="959823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</a:rPr>
              <a:t>This allows us to store the returned value (32.0) in the variable </a:t>
            </a:r>
            <a:r>
              <a:rPr lang="en-CA" sz="2400" dirty="0" err="1">
                <a:solidFill>
                  <a:schemeClr val="bg1"/>
                </a:solidFill>
              </a:rPr>
              <a:t>freezing_f</a:t>
            </a:r>
            <a:endParaRPr kumimoji="0" lang="en-CA" sz="24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6414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EAE1-1C11-193E-D1ED-A47B852A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A916-4E48-2D34-E607-F00235C4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349F-752E-453D-F5AB-485EA48B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Write a function that converts </a:t>
            </a:r>
            <a:r>
              <a:rPr lang="en-CA" sz="2400" dirty="0">
                <a:solidFill>
                  <a:schemeClr val="bg1"/>
                </a:solidFill>
              </a:rPr>
              <a:t>Fahrenheit to Celsius</a:t>
            </a:r>
            <a:r>
              <a:rPr lang="en-CA" b="0" dirty="0">
                <a:solidFill>
                  <a:schemeClr val="bg1"/>
                </a:solidFill>
                <a:effectLst/>
              </a:rPr>
              <a:t> </a:t>
            </a:r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2E892D-74B3-EC65-F71C-63835D745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38156"/>
              </p:ext>
            </p:extLst>
          </p:nvPr>
        </p:nvGraphicFramePr>
        <p:xfrm>
          <a:off x="1580737" y="3303750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2400" dirty="0">
                          <a:solidFill>
                            <a:schemeClr val="bg1"/>
                          </a:solidFill>
                        </a:rPr>
                        <a:t>The formula is  (</a:t>
                      </a:r>
                      <a:r>
                        <a:rPr lang="en-CA" sz="2400" b="1" dirty="0">
                          <a:solidFill>
                            <a:schemeClr val="bg1"/>
                          </a:solidFill>
                        </a:rPr>
                        <a:t>°F </a:t>
                      </a:r>
                      <a:r>
                        <a:rPr lang="en-CA" sz="2400" b="0" dirty="0">
                          <a:solidFill>
                            <a:schemeClr val="bg1"/>
                          </a:solidFill>
                        </a:rPr>
                        <a:t>– 32) </a:t>
                      </a:r>
                      <a:r>
                        <a:rPr lang="en-CA" sz="2400" dirty="0">
                          <a:solidFill>
                            <a:schemeClr val="bg1"/>
                          </a:solidFill>
                        </a:rPr>
                        <a:t>× 5/9 = </a:t>
                      </a:r>
                      <a:r>
                        <a:rPr lang="en-CA" sz="2400" b="1" dirty="0">
                          <a:solidFill>
                            <a:schemeClr val="bg1"/>
                          </a:solidFill>
                        </a:rPr>
                        <a:t>°C</a:t>
                      </a:r>
                      <a:endParaRPr lang="en-CA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30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0A074-8B58-29BC-903E-E686BC7D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87-F5B2-7CA7-B532-D517C08B5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Multiple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24D5-13C0-38D4-55CC-5E48E4701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 far, the functions we’ve seen have had a single parameter. However, functions can have multiple parameters.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When a function has more than one parameter, the order of the arguments matters.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The first argument is assigned to the first parameter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The second argument is assigned to the second parameter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And so, on</a:t>
            </a:r>
          </a:p>
          <a:p>
            <a:r>
              <a:rPr lang="en-CA" sz="2400" dirty="0">
                <a:solidFill>
                  <a:schemeClr val="bg1"/>
                </a:solidFill>
              </a:rPr>
              <a:t>Because Python matches arguments to parameters </a:t>
            </a:r>
            <a:r>
              <a:rPr lang="en-CA" sz="2400" b="1" dirty="0">
                <a:solidFill>
                  <a:schemeClr val="bg1"/>
                </a:solidFill>
              </a:rPr>
              <a:t>by position</a:t>
            </a:r>
            <a:r>
              <a:rPr lang="en-CA" sz="2400" dirty="0">
                <a:solidFill>
                  <a:schemeClr val="bg1"/>
                </a:solidFill>
              </a:rPr>
              <a:t>, passing values in the wrong order can lead to incorrect results.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210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313E2-A9A0-3B5C-FDD5-4D3BAAF6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2F5C0-F1FB-B7B4-0850-598043378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EEED-C9D1-3AA1-C364-22408C371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Let’s create a function that has two parameters: a divisor and a dividend.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6375EC-5B27-B18D-E196-E8FB1940CC73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20C4E8-4949-F5A7-721C-54646A99014E}"/>
              </a:ext>
            </a:extLst>
          </p:cNvPr>
          <p:cNvSpPr txBox="1"/>
          <p:nvPr/>
        </p:nvSpPr>
        <p:spPr>
          <a:xfrm>
            <a:off x="1296883" y="2409063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divide(dividend, divisor):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dividend / divisor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3B67A-3D00-7D5F-628B-8CF38E2CE078}"/>
              </a:ext>
            </a:extLst>
          </p:cNvPr>
          <p:cNvSpPr txBox="1"/>
          <p:nvPr/>
        </p:nvSpPr>
        <p:spPr>
          <a:xfrm>
            <a:off x="1296884" y="3773522"/>
            <a:ext cx="959823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function: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Takes two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Divides the </a:t>
            </a:r>
            <a:r>
              <a:rPr lang="en-CA" sz="2400" b="1" dirty="0">
                <a:solidFill>
                  <a:schemeClr val="bg1"/>
                </a:solidFill>
              </a:rPr>
              <a:t>dividend</a:t>
            </a:r>
            <a:r>
              <a:rPr lang="en-CA" sz="2400" dirty="0">
                <a:solidFill>
                  <a:schemeClr val="bg1"/>
                </a:solidFill>
              </a:rPr>
              <a:t> by the </a:t>
            </a:r>
            <a:r>
              <a:rPr lang="en-CA" sz="2400" b="1" dirty="0">
                <a:solidFill>
                  <a:schemeClr val="bg1"/>
                </a:solidFill>
              </a:rPr>
              <a:t>divisor</a:t>
            </a:r>
            <a:endParaRPr lang="en-CA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Returns the 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2B0B73-C13A-05E5-EAC3-AF77701B6E85}"/>
              </a:ext>
            </a:extLst>
          </p:cNvPr>
          <p:cNvSpPr txBox="1"/>
          <p:nvPr/>
        </p:nvSpPr>
        <p:spPr>
          <a:xfrm>
            <a:off x="1296883" y="5509958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divide(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0,2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0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divide(2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,0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error division by zero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479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E841DF-E5F2-3E29-5E08-334240AF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1086D-DE1D-938B-E692-072F0EAEA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Optional parameters and default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F403-CBC0-DFFE-86F2-D4FCF93CD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Functions can have </a:t>
            </a:r>
            <a:r>
              <a:rPr lang="en-CA" sz="2400" b="1" dirty="0">
                <a:solidFill>
                  <a:schemeClr val="bg1"/>
                </a:solidFill>
              </a:rPr>
              <a:t>default values</a:t>
            </a:r>
            <a:r>
              <a:rPr lang="en-CA" sz="2400" dirty="0">
                <a:solidFill>
                  <a:schemeClr val="bg1"/>
                </a:solidFill>
              </a:rPr>
              <a:t> for their parameters.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This is useful when a value is commonly used, because it allows us to </a:t>
            </a:r>
            <a:r>
              <a:rPr lang="en-CA" b="1" dirty="0">
                <a:solidFill>
                  <a:schemeClr val="bg1"/>
                </a:solidFill>
              </a:rPr>
              <a:t>omit that argument</a:t>
            </a:r>
            <a:r>
              <a:rPr lang="en-CA" dirty="0">
                <a:solidFill>
                  <a:schemeClr val="bg1"/>
                </a:solidFill>
              </a:rPr>
              <a:t> when the default works for our needs.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If we want to use a different value, we can </a:t>
            </a:r>
            <a:r>
              <a:rPr lang="en-CA" sz="2400" b="1" dirty="0">
                <a:solidFill>
                  <a:schemeClr val="bg1"/>
                </a:solidFill>
              </a:rPr>
              <a:t>override the default</a:t>
            </a:r>
            <a:r>
              <a:rPr lang="en-CA" sz="2400" dirty="0">
                <a:solidFill>
                  <a:schemeClr val="bg1"/>
                </a:solidFill>
              </a:rPr>
              <a:t> by explicitly passing in an argument.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588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2D6CD5-7556-030C-B2B0-B106D0597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C9F8-54A0-8D9F-E899-0DD56BBC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797C1-3724-4F02-C1AF-6E9419C7B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Let’s create a function that calculates the sale tax on a price.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0A8555-3C22-A96F-BC85-90D6ED0466AD}"/>
              </a:ext>
            </a:extLst>
          </p:cNvPr>
          <p:cNvGraphicFramePr>
            <a:graphicFrameLocks noGrp="1"/>
          </p:cNvGraphicFramePr>
          <p:nvPr/>
        </p:nvGraphicFramePr>
        <p:xfrm>
          <a:off x="1117600" y="2203369"/>
          <a:ext cx="10515600" cy="4572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164040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CA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0174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56BE7C-4E45-D5CA-383D-E91973BEC97C}"/>
              </a:ext>
            </a:extLst>
          </p:cNvPr>
          <p:cNvSpPr txBox="1"/>
          <p:nvPr/>
        </p:nvSpPr>
        <p:spPr>
          <a:xfrm>
            <a:off x="1296883" y="2409063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calc_sales_tax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(price,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=0.13):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price *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tax_rate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F9C70-AABF-7A04-9E92-F2E41D916C21}"/>
              </a:ext>
            </a:extLst>
          </p:cNvPr>
          <p:cNvSpPr txBox="1"/>
          <p:nvPr/>
        </p:nvSpPr>
        <p:spPr>
          <a:xfrm>
            <a:off x="1296884" y="3773522"/>
            <a:ext cx="959823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price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a required parameter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you must always provide 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an optional parameter with a default value of 0.13 (Ontario’s sales tax rate).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no value is given for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Python automatically uses 0.13.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EB92F-F5B6-17FD-3A1F-4DABF2A9383D}"/>
              </a:ext>
            </a:extLst>
          </p:cNvPr>
          <p:cNvSpPr txBox="1"/>
          <p:nvPr/>
        </p:nvSpPr>
        <p:spPr>
          <a:xfrm>
            <a:off x="1296883" y="5509958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calc_sales_tax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default rate 13%, returns 13.0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calc_sales_tax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(100, .05)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rate of 5%, returns 5.0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997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E65C0-B28E-8539-5EE0-8FF055B1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E2C6D-545A-1987-ECB6-2503680EB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Keyword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9785D-FBB8-D662-BA5A-7C3ADAEAC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When a function has multiple optional parameters, we can use </a:t>
            </a:r>
            <a:r>
              <a:rPr lang="en-CA" sz="2400" b="1" dirty="0">
                <a:solidFill>
                  <a:schemeClr val="bg1"/>
                </a:solidFill>
              </a:rPr>
              <a:t>keyword arguments</a:t>
            </a:r>
            <a:r>
              <a:rPr lang="en-CA" sz="2400" dirty="0">
                <a:solidFill>
                  <a:schemeClr val="bg1"/>
                </a:solidFill>
              </a:rPr>
              <a:t> to specify exactly which parameter a value should be applied to.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Using a keyword argument looks like assigning a value to a parameter name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This makes the code easier to read and avoids mistakes from incorrect argument order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911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031690-90C6-01DE-1488-E0EAD5FC4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7D44-1688-D7BC-A8F4-5D09FE5B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CECC-926B-74C2-871A-C1B5316EC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Let’s create a function that calculates the total bill cost with price, tax rate and tip rate.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C44E7-FA14-439F-6459-F1F2FCD183D9}"/>
              </a:ext>
            </a:extLst>
          </p:cNvPr>
          <p:cNvSpPr txBox="1"/>
          <p:nvPr/>
        </p:nvSpPr>
        <p:spPr>
          <a:xfrm>
            <a:off x="838199" y="2600843"/>
            <a:ext cx="10515600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calc_total_bill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(price,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=0.13,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tip_rate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=0.2):</a:t>
            </a: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tax = price *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tax_rate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tip = price *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tip_rate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price + tax + tip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87817-93F0-2E15-7D53-0825B4DD5DFE}"/>
              </a:ext>
            </a:extLst>
          </p:cNvPr>
          <p:cNvSpPr txBox="1"/>
          <p:nvPr/>
        </p:nvSpPr>
        <p:spPr>
          <a:xfrm>
            <a:off x="838199" y="4665160"/>
            <a:ext cx="1051560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is a required parameter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you must always provide it.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an optional parameter with a default value of 0.13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tip_rate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an optional parameter with a default value of 0.20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no value is given for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tax_rate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Courier New" panose="02070309020205020404" pitchFamily="49" charset="0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tip_rate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Python automatically uses 0.13 and 0.20,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660674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B04AED-5FD2-2AE0-4F79-1FF3F90EC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0E22B-71F8-E908-3990-AB2AE952B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D6B63-9DBE-5921-538D-AECB0B4C27F0}"/>
              </a:ext>
            </a:extLst>
          </p:cNvPr>
          <p:cNvSpPr txBox="1"/>
          <p:nvPr/>
        </p:nvSpPr>
        <p:spPr>
          <a:xfrm>
            <a:off x="683819" y="2342018"/>
            <a:ext cx="10515599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calc_total_bill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133.0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8FD68-51AB-9140-4A4F-FA2E9CCFF707}"/>
              </a:ext>
            </a:extLst>
          </p:cNvPr>
          <p:cNvSpPr txBox="1"/>
          <p:nvPr/>
        </p:nvSpPr>
        <p:spPr>
          <a:xfrm>
            <a:off x="683818" y="1839866"/>
            <a:ext cx="105156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default </a:t>
            </a:r>
            <a:r>
              <a:rPr lang="en-CA" sz="2400" dirty="0">
                <a:solidFill>
                  <a:schemeClr val="bg1"/>
                </a:solidFill>
              </a:rPr>
              <a:t>tax and tip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rate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18F01-18DE-484A-8DDD-BDDC0DEB50AE}"/>
              </a:ext>
            </a:extLst>
          </p:cNvPr>
          <p:cNvSpPr txBox="1"/>
          <p:nvPr/>
        </p:nvSpPr>
        <p:spPr>
          <a:xfrm>
            <a:off x="683819" y="3536612"/>
            <a:ext cx="10515599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calc_total_bill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tip_rate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0.22)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135.0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301E7C-EFE1-42F3-38A2-9AA839477D4E}"/>
              </a:ext>
            </a:extLst>
          </p:cNvPr>
          <p:cNvSpPr txBox="1"/>
          <p:nvPr/>
        </p:nvSpPr>
        <p:spPr>
          <a:xfrm>
            <a:off x="683818" y="3034460"/>
            <a:ext cx="1051560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default </a:t>
            </a:r>
            <a:r>
              <a:rPr lang="en-CA" sz="2400" dirty="0">
                <a:solidFill>
                  <a:schemeClr val="bg1"/>
                </a:solidFill>
              </a:rPr>
              <a:t>tax but specify tip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rate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F5B260-FE9A-E286-994E-A7AAB6D64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818" y="4229054"/>
            <a:ext cx="10515599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Here, we use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tip_rate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</a:rPr>
              <a:t>keyword argument to specify that the second argument is not tax rate, but tip rate!</a:t>
            </a:r>
          </a:p>
          <a:p>
            <a:r>
              <a:rPr lang="en-CA" sz="2400" dirty="0">
                <a:solidFill>
                  <a:schemeClr val="bg1"/>
                </a:solidFill>
              </a:rPr>
              <a:t>If we didn’t, it would assume we were setting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tax_rate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</a:rPr>
              <a:t>to 0.22</a:t>
            </a:r>
            <a:endParaRPr lang="en-CA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B7C004-E4D4-0D1E-C3F5-F6261E69B3FB}"/>
              </a:ext>
            </a:extLst>
          </p:cNvPr>
          <p:cNvSpPr txBox="1"/>
          <p:nvPr/>
        </p:nvSpPr>
        <p:spPr>
          <a:xfrm>
            <a:off x="683818" y="5695024"/>
            <a:ext cx="10515599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calc_total_bill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(100, 0.22)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142.0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007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176791-CC86-BDA5-D022-2A1096221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9E72-D100-52DC-735D-EE6BCC4D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Documenting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AF955-D20F-FDCF-7A10-6E7DA6394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use the built-in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help() </a:t>
            </a:r>
            <a:r>
              <a:rPr lang="en-CA" sz="2400" dirty="0">
                <a:solidFill>
                  <a:schemeClr val="bg1"/>
                </a:solidFill>
              </a:rPr>
              <a:t>function to see information about </a:t>
            </a:r>
            <a:r>
              <a:rPr lang="en-CA" sz="2400" b="1" dirty="0">
                <a:solidFill>
                  <a:schemeClr val="bg1"/>
                </a:solidFill>
              </a:rPr>
              <a:t>both built-in and user-defined functions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Docstrings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To get useful information for user-defined functions, we add a docstring.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A docstring is </a:t>
            </a:r>
            <a:r>
              <a:rPr lang="en-CA" b="1" dirty="0">
                <a:solidFill>
                  <a:schemeClr val="bg1"/>
                </a:solidFill>
              </a:rPr>
              <a:t>a special string that describes what a function does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It is placed immediately after the function definition line.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Docstrings are typically written with triple quotes: ''' or """.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When we call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help()</a:t>
            </a:r>
            <a:r>
              <a:rPr lang="en-CA" b="1" dirty="0">
                <a:solidFill>
                  <a:schemeClr val="bg1"/>
                </a:solidFill>
              </a:rPr>
              <a:t>on a function, Python displays its docstring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605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46CE91-4559-0262-E366-B9D1DFB5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53C9-27D0-FFFA-8469-C8BB7F1E2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14857-669B-07ED-DA92-87D2F825D86A}"/>
              </a:ext>
            </a:extLst>
          </p:cNvPr>
          <p:cNvSpPr txBox="1"/>
          <p:nvPr/>
        </p:nvSpPr>
        <p:spPr>
          <a:xfrm>
            <a:off x="1067541" y="2033002"/>
            <a:ext cx="10056917" cy="415498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):</a:t>
            </a:r>
          </a:p>
          <a:p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"""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Convert a temperature from Celsius to Fahrenheit.</a:t>
            </a:r>
          </a:p>
          <a:p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Parameters: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(float): Temperature in degrees Celsius.</a:t>
            </a:r>
          </a:p>
          <a:p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Returns: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float: Temperature in degrees Fahrenheit.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"""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* (9/5)) + 32</a:t>
            </a:r>
          </a:p>
        </p:txBody>
      </p:sp>
    </p:spTree>
    <p:extLst>
      <p:ext uri="{BB962C8B-B14F-4D97-AF65-F5344CB8AC3E}">
        <p14:creationId xmlns:p14="http://schemas.microsoft.com/office/powerpoint/2010/main" val="1597584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CE834F-C69D-4225-F43B-F8C3F87A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ED1B6-0EEB-9445-B88B-E2926507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1C4845-3C7B-C3F8-A28B-4C27670A726E}"/>
              </a:ext>
            </a:extLst>
          </p:cNvPr>
          <p:cNvSpPr txBox="1"/>
          <p:nvPr/>
        </p:nvSpPr>
        <p:spPr>
          <a:xfrm>
            <a:off x="1043790" y="2033002"/>
            <a:ext cx="10605903" cy="34163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help(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Help on function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in module __main__: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c_to_f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Convert a temperature from Celsius to Fahrenheit. 	Parameters: 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degrees_c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(float): Temperature in degrees Celsius. 	Returns: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float: Temperature in degrees Fahrenheit.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37129-5512-35D0-348F-D5AD72F7E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57" y="1504991"/>
            <a:ext cx="10236201" cy="359435"/>
          </a:xfrm>
        </p:spPr>
        <p:txBody>
          <a:bodyPr>
            <a:normAutofit fontScale="92500" lnSpcReduction="20000"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Now when we call the help function…</a:t>
            </a:r>
          </a:p>
        </p:txBody>
      </p:sp>
    </p:spTree>
    <p:extLst>
      <p:ext uri="{BB962C8B-B14F-4D97-AF65-F5344CB8AC3E}">
        <p14:creationId xmlns:p14="http://schemas.microsoft.com/office/powerpoint/2010/main" val="2697504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CE26A-24A1-B916-2994-3A82DE34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7FA0-D52A-0BE1-6C83-CF6A19B72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Review of function 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F3993-C14A-3F8C-1DB5-7E020FE5E8FF}"/>
              </a:ext>
            </a:extLst>
          </p:cNvPr>
          <p:cNvSpPr txBox="1"/>
          <p:nvPr/>
        </p:nvSpPr>
        <p:spPr>
          <a:xfrm>
            <a:off x="588822" y="2258633"/>
            <a:ext cx="6025738" cy="34163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function_name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(parameters):</a:t>
            </a:r>
          </a:p>
          <a:p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    </a:t>
            </a:r>
          </a:p>
          <a:p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"""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docstring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"""</a:t>
            </a:r>
          </a:p>
          <a:p>
            <a:endParaRPr lang="en-CA" sz="2400" dirty="0">
              <a:solidFill>
                <a:srgbClr val="196B24"/>
              </a:solidFill>
              <a:latin typeface="Courier New" panose="02070309020205020404" pitchFamily="49" charset="0"/>
            </a:endParaRPr>
          </a:p>
          <a:p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   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function body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FFAD1-B8D8-AAB3-1B0D-56A1503B2576}"/>
              </a:ext>
            </a:extLst>
          </p:cNvPr>
          <p:cNvSpPr txBox="1"/>
          <p:nvPr/>
        </p:nvSpPr>
        <p:spPr>
          <a:xfrm>
            <a:off x="6293921" y="2258633"/>
            <a:ext cx="538050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schemeClr val="bg1"/>
                </a:solidFill>
              </a:rPr>
              <a:t>f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</a:rPr>
              <a:t>unction header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  <a:sym typeface="Wingdings" pitchFamily="2" charset="2"/>
              </a:rPr>
              <a:t> tells us the function name and parameters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C622E-B2F8-C5E9-046B-580209E0D03B}"/>
              </a:ext>
            </a:extLst>
          </p:cNvPr>
          <p:cNvSpPr txBox="1"/>
          <p:nvPr/>
        </p:nvSpPr>
        <p:spPr>
          <a:xfrm>
            <a:off x="6293921" y="3159364"/>
            <a:ext cx="538050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schemeClr val="bg1"/>
                </a:solidFill>
              </a:rPr>
              <a:t>docstring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  <a:sym typeface="Wingdings" pitchFamily="2" charset="2"/>
              </a:rPr>
              <a:t> describes what the function does, accepted arguments, what gets returned etc.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6AAA86-3A6F-E1FE-A703-8CC103005000}"/>
              </a:ext>
            </a:extLst>
          </p:cNvPr>
          <p:cNvSpPr txBox="1"/>
          <p:nvPr/>
        </p:nvSpPr>
        <p:spPr>
          <a:xfrm>
            <a:off x="6293921" y="4454501"/>
            <a:ext cx="5380509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schemeClr val="bg1"/>
                </a:solidFill>
              </a:rPr>
              <a:t>function body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n-ea"/>
                <a:cs typeface="+mn-cs"/>
                <a:sym typeface="Wingdings" pitchFamily="2" charset="2"/>
              </a:rPr>
              <a:t> code that runs when function is called, ends with a return statement specifying the output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094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C2DBAE-6763-3E61-9466-ECAA43BC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3B19-B6BE-3FD4-1F7B-80C61A4C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Variable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6254C-47D3-EF6D-BDAD-079738FFB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mentioned earlier that </a:t>
            </a:r>
            <a:r>
              <a:rPr lang="en-CA" sz="2400" b="1" dirty="0">
                <a:solidFill>
                  <a:schemeClr val="bg1"/>
                </a:solidFill>
              </a:rPr>
              <a:t>parameters are variables used only inside functions</a:t>
            </a:r>
            <a:r>
              <a:rPr lang="en-CA" sz="2400" dirty="0">
                <a:solidFill>
                  <a:schemeClr val="bg1"/>
                </a:solidFill>
              </a:rPr>
              <a:t>. This means: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If you try to access a parameter like </a:t>
            </a:r>
            <a:r>
              <a:rPr lang="en-CA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degrees_c</a:t>
            </a:r>
            <a:r>
              <a:rPr lang="en-CA" dirty="0">
                <a:solidFill>
                  <a:schemeClr val="bg1"/>
                </a:solidFill>
              </a:rPr>
              <a:t> </a:t>
            </a:r>
            <a:r>
              <a:rPr lang="en-CA" b="1" dirty="0">
                <a:solidFill>
                  <a:schemeClr val="bg1"/>
                </a:solidFill>
              </a:rPr>
              <a:t>outside</a:t>
            </a:r>
            <a:r>
              <a:rPr lang="en-CA" dirty="0">
                <a:solidFill>
                  <a:schemeClr val="bg1"/>
                </a:solidFill>
              </a:rPr>
              <a:t> the function </a:t>
            </a:r>
            <a:r>
              <a:rPr lang="en-CA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c_to_f</a:t>
            </a: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dirty="0">
                <a:solidFill>
                  <a:schemeClr val="bg1"/>
                </a:solidFill>
              </a:rPr>
              <a:t>, Python will raise a </a:t>
            </a:r>
            <a:r>
              <a:rPr lang="en-CA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12CB6F-065C-57E1-7D04-36FE2359B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559382"/>
              </p:ext>
            </p:extLst>
          </p:nvPr>
        </p:nvGraphicFramePr>
        <p:xfrm>
          <a:off x="1117600" y="3490230"/>
          <a:ext cx="10236200" cy="300264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806825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5429375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808085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Local score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Global scope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Parameters are </a:t>
                      </a:r>
                      <a:r>
                        <a:rPr lang="en-CA" b="1" dirty="0"/>
                        <a:t>locally scoped</a:t>
                      </a:r>
                      <a:r>
                        <a:rPr lang="en-CA" dirty="0"/>
                        <a:t>, meaning they exist </a:t>
                      </a:r>
                      <a:r>
                        <a:rPr lang="en-CA" b="1" dirty="0"/>
                        <a:t>only inside the function</a:t>
                      </a:r>
                      <a:r>
                        <a:rPr lang="en-CA" dirty="0"/>
                        <a:t>.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Variables defined </a:t>
                      </a:r>
                      <a:r>
                        <a:rPr lang="en-CA" b="1" dirty="0"/>
                        <a:t>outside of any function</a:t>
                      </a:r>
                      <a:r>
                        <a:rPr lang="en-CA" dirty="0"/>
                        <a:t> have </a:t>
                      </a:r>
                      <a:r>
                        <a:rPr lang="en-CA" b="1" dirty="0"/>
                        <a:t>global scope</a:t>
                      </a:r>
                      <a:r>
                        <a:rPr lang="en-CA" dirty="0"/>
                        <a:t>.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i="1" dirty="0"/>
                        <a:t>Scope</a:t>
                      </a:r>
                      <a:r>
                        <a:rPr lang="en-CA" dirty="0"/>
                        <a:t> refers to the </a:t>
                      </a:r>
                      <a:r>
                        <a:rPr lang="en-CA" b="1" dirty="0"/>
                        <a:t>context in which a variable can be accessed</a:t>
                      </a:r>
                      <a:r>
                        <a:rPr lang="en-CA" dirty="0"/>
                        <a:t>.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/>
                        <a:t>They can be accessed from </a:t>
                      </a:r>
                      <a:r>
                        <a:rPr lang="en-CA" b="1" dirty="0"/>
                        <a:t>anywhere in the program</a:t>
                      </a:r>
                      <a:r>
                        <a:rPr lang="en-CA" dirty="0"/>
                        <a:t>, including inside functions (though modifying them inside a function requires extra care).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i="1" dirty="0"/>
                        <a:t>Local</a:t>
                      </a:r>
                      <a:r>
                        <a:rPr lang="en-CA" dirty="0"/>
                        <a:t> means the variable is accessible </a:t>
                      </a:r>
                      <a:r>
                        <a:rPr lang="en-CA" b="1" dirty="0"/>
                        <a:t>only within the function</a:t>
                      </a:r>
                      <a:r>
                        <a:rPr lang="en-CA" dirty="0"/>
                        <a:t> where it is defined.</a:t>
                      </a:r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endParaRPr lang="en-CA" sz="1800" dirty="0">
                        <a:effectLst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947794"/>
                  </a:ext>
                </a:extLst>
              </a:tr>
            </a:tbl>
          </a:graphicData>
        </a:graphic>
      </p:graphicFrame>
      <p:pic>
        <p:nvPicPr>
          <p:cNvPr id="20482" name="Picture 2" descr="Scratch 3.0 | Variables. Understanding and knowing how to make… | by  Bernandina Oriz | Medium">
            <a:extLst>
              <a:ext uri="{FF2B5EF4-FFF2-40B4-BE49-F238E27FC236}">
                <a16:creationId xmlns:a16="http://schemas.microsoft.com/office/drawing/2014/main" id="{6D55B1FF-3ACA-B388-7888-570905ED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379" y="273049"/>
            <a:ext cx="2945421" cy="150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2129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B20DC3-50C4-58BE-2F9D-0373956E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6782A-2D50-BA2E-E4B8-9553B6F62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Local variable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C7FDA-B090-F430-4A74-B59DA0B3CB56}"/>
              </a:ext>
            </a:extLst>
          </p:cNvPr>
          <p:cNvSpPr txBox="1"/>
          <p:nvPr/>
        </p:nvSpPr>
        <p:spPr>
          <a:xfrm>
            <a:off x="1043790" y="2033002"/>
            <a:ext cx="1060590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example():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local_var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local_var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2C11-73C7-22B5-5821-B4AFF3EF5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57" y="1504991"/>
            <a:ext cx="10236201" cy="528011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is a variable we defined inside a function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07CAFC5-D084-C20E-AD1A-C12D17018261}"/>
              </a:ext>
            </a:extLst>
          </p:cNvPr>
          <p:cNvSpPr txBox="1">
            <a:spLocks/>
          </p:cNvSpPr>
          <p:nvPr/>
        </p:nvSpPr>
        <p:spPr>
          <a:xfrm>
            <a:off x="977899" y="3465798"/>
            <a:ext cx="10605903" cy="548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>
                <a:solidFill>
                  <a:schemeClr val="bg1"/>
                </a:solidFill>
              </a:rPr>
              <a:t>If we tried to call this variable out of the function, we’d get a </a:t>
            </a:r>
            <a:r>
              <a:rPr lang="en-CA" sz="2400" dirty="0" err="1">
                <a:solidFill>
                  <a:schemeClr val="bg1"/>
                </a:solidFill>
              </a:rPr>
              <a:t>NameError</a:t>
            </a:r>
            <a:r>
              <a:rPr lang="en-CA" sz="2400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76999-9B0C-8633-A1C4-8E178EBE0093}"/>
              </a:ext>
            </a:extLst>
          </p:cNvPr>
          <p:cNvSpPr txBox="1"/>
          <p:nvPr/>
        </p:nvSpPr>
        <p:spPr>
          <a:xfrm>
            <a:off x="1043790" y="4014181"/>
            <a:ext cx="1060590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local_var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---------------------------------------------------------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NameError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Traceback (most recent call last)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i="0" dirty="0">
                <a:solidFill>
                  <a:srgbClr val="00CD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Cell 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In[1], </a:t>
            </a:r>
            <a:r>
              <a:rPr lang="en-CA" sz="2400" b="0" i="0" dirty="0">
                <a:solidFill>
                  <a:srgbClr val="21A6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line 1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CA" sz="2400" dirty="0">
                <a:solidFill>
                  <a:srgbClr val="00CD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---&gt;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i="0" dirty="0">
                <a:solidFill>
                  <a:srgbClr val="21A6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1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local_var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NameError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name 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local_var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 is not defined</a:t>
            </a:r>
          </a:p>
        </p:txBody>
      </p:sp>
    </p:spTree>
    <p:extLst>
      <p:ext uri="{BB962C8B-B14F-4D97-AF65-F5344CB8AC3E}">
        <p14:creationId xmlns:p14="http://schemas.microsoft.com/office/powerpoint/2010/main" val="2034146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7616A2-4593-0007-660E-7272F6132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AFCC2-0863-534F-1403-5B8B4818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Global variable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6A298-7A5D-E09B-8EF3-836C8615AB89}"/>
              </a:ext>
            </a:extLst>
          </p:cNvPr>
          <p:cNvSpPr txBox="1"/>
          <p:nvPr/>
        </p:nvSpPr>
        <p:spPr>
          <a:xfrm>
            <a:off x="1043790" y="2033002"/>
            <a:ext cx="1060590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global_var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B4CF7-6CE9-3FC1-ECB4-AAD3B91C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257" y="1504991"/>
            <a:ext cx="10236201" cy="528011"/>
          </a:xfrm>
        </p:spPr>
        <p:txBody>
          <a:bodyPr>
            <a:norm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is a variable we defined outside of a function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80B6D5-D970-4BF3-8013-A487AF45409F}"/>
              </a:ext>
            </a:extLst>
          </p:cNvPr>
          <p:cNvSpPr txBox="1">
            <a:spLocks/>
          </p:cNvSpPr>
          <p:nvPr/>
        </p:nvSpPr>
        <p:spPr>
          <a:xfrm>
            <a:off x="888257" y="2661819"/>
            <a:ext cx="10605903" cy="5483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can access this variable inside and outside of a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EB12EC-BD3E-9DB7-EE23-8E24948E33D2}"/>
              </a:ext>
            </a:extLst>
          </p:cNvPr>
          <p:cNvSpPr txBox="1"/>
          <p:nvPr/>
        </p:nvSpPr>
        <p:spPr>
          <a:xfrm>
            <a:off x="1043790" y="3210202"/>
            <a:ext cx="1060590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example():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return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global_var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9DF9C-539E-8DE6-6E66-5A96F687A7A2}"/>
              </a:ext>
            </a:extLst>
          </p:cNvPr>
          <p:cNvSpPr txBox="1"/>
          <p:nvPr/>
        </p:nvSpPr>
        <p:spPr>
          <a:xfrm>
            <a:off x="1043790" y="4341235"/>
            <a:ext cx="1060590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e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xample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returns 5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1F2674-3D62-489A-0A28-70DB2FD528CA}"/>
              </a:ext>
            </a:extLst>
          </p:cNvPr>
          <p:cNvSpPr txBox="1"/>
          <p:nvPr/>
        </p:nvSpPr>
        <p:spPr>
          <a:xfrm>
            <a:off x="1043790" y="5102936"/>
            <a:ext cx="1060590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global_var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output: 5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242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AC50F-ECC0-7623-7AF6-6E8EA481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0B28F-1695-1715-90B1-356A3914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895A4-5C62-FF53-0A90-1C2AF09EF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 lnSpcReduction="10000"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Create a function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Think about what your function does. Come up with a few examples of inputs and outputs.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Think of a meaningful function name.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Write thorough function documentation.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 Code the function body.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Test the function against the examples from step 1.</a:t>
            </a:r>
          </a:p>
        </p:txBody>
      </p:sp>
    </p:spTree>
    <p:extLst>
      <p:ext uri="{BB962C8B-B14F-4D97-AF65-F5344CB8AC3E}">
        <p14:creationId xmlns:p14="http://schemas.microsoft.com/office/powerpoint/2010/main" val="14367045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2323</Words>
  <Application>Microsoft Macintosh PowerPoint</Application>
  <PresentationFormat>Widescreen</PresentationFormat>
  <Paragraphs>307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 Light</vt:lpstr>
      <vt:lpstr>Courier New</vt:lpstr>
      <vt:lpstr>1_Office Theme</vt:lpstr>
      <vt:lpstr>03. functions</vt:lpstr>
      <vt:lpstr>Learning objectives</vt:lpstr>
      <vt:lpstr>What is a function?</vt:lpstr>
      <vt:lpstr>How to call a function</vt:lpstr>
      <vt:lpstr>More built-in functions</vt:lpstr>
      <vt:lpstr>Nesting functions</vt:lpstr>
      <vt:lpstr>How to Learn About a Function</vt:lpstr>
      <vt:lpstr>Example of online documentation</vt:lpstr>
      <vt:lpstr>Example of help function</vt:lpstr>
      <vt:lpstr>Writing your own function</vt:lpstr>
      <vt:lpstr>Writing your own function</vt:lpstr>
      <vt:lpstr>Writing your own function</vt:lpstr>
      <vt:lpstr>Example</vt:lpstr>
      <vt:lpstr>Example</vt:lpstr>
      <vt:lpstr>Example</vt:lpstr>
      <vt:lpstr>Exercise # 1</vt:lpstr>
      <vt:lpstr>Multiple parameters</vt:lpstr>
      <vt:lpstr>Example</vt:lpstr>
      <vt:lpstr>Optional parameters and default arguments</vt:lpstr>
      <vt:lpstr>Example</vt:lpstr>
      <vt:lpstr>Keyword arguments</vt:lpstr>
      <vt:lpstr>Example</vt:lpstr>
      <vt:lpstr>Example</vt:lpstr>
      <vt:lpstr>Documenting functions</vt:lpstr>
      <vt:lpstr>Example</vt:lpstr>
      <vt:lpstr>Example</vt:lpstr>
      <vt:lpstr>Review of function structure</vt:lpstr>
      <vt:lpstr>Variable scope</vt:lpstr>
      <vt:lpstr>Local variable example</vt:lpstr>
      <vt:lpstr>Global variable example</vt:lpstr>
      <vt:lpstr>Exercise #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52</cp:revision>
  <dcterms:created xsi:type="dcterms:W3CDTF">2026-01-07T20:21:09Z</dcterms:created>
  <dcterms:modified xsi:type="dcterms:W3CDTF">2026-04-10T17:11:30Z</dcterms:modified>
</cp:coreProperties>
</file>