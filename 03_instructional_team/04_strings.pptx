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72" r:id="rId4"/>
    <p:sldId id="273" r:id="rId5"/>
    <p:sldId id="284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8" r:id="rId18"/>
    <p:sldId id="29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0"/>
    <p:restoredTop sz="97030"/>
  </p:normalViewPr>
  <p:slideViewPr>
    <p:cSldViewPr snapToGrid="0">
      <p:cViewPr varScale="1">
        <p:scale>
          <a:sx n="114" d="100"/>
          <a:sy n="114" d="100"/>
        </p:scale>
        <p:origin x="8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FFDB2-6789-DA40-99B0-CCA41380934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DA671-015E-F846-9E9E-F870C0CDD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73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D1B3-1C08-A606-BD99-B34E965C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CFBF0-50A5-AE9F-397F-FC986C9A2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6032E-4446-FEBA-A209-A07073536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9708E-9A40-F3AD-9F1D-FB91384ED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04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29C8B-BDAA-7A57-2196-BA1B28F03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A1F2E-040C-0498-5695-C23A04C07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F2502-82DE-0CF3-D046-508678546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8EA8A-E639-1C57-A8A7-2E2282E42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906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78550-2F99-02F0-F78C-39212250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18AE5-DAFF-5E81-7175-6CBE8F6F9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23126-BCE8-0E45-7377-31A374AD8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EB33B-7518-011D-9FCE-029E1B879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602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9DE82-7FA4-0A6D-171F-62E9E5EB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4D986-0F50-A6B6-33D0-EA40A9FF7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301B8-712C-CE8B-6534-4955389E7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ADE14-8C2A-C65C-3D25-F4D2552E1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117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5882-4669-AA40-C697-AAA25594F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2068E-3991-9BAF-096B-FD98905F3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082CE-0859-4D3B-947A-87F638A3F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5DE40-8197-596B-011F-694576555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37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8B9D4-7544-F5FC-5651-1FD580653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5F57C-C72A-545C-0784-136CE5990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557F3-1F1D-D675-D7CE-BF8D95182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8F2D8-454B-168D-D7BF-30DCC9969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8361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C861-56ED-0725-E078-D2B0EC03F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A9949-4B71-ED1D-F0FF-F9880D696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DD2D3-AB24-3A6C-9840-23F743C41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7A539-79D0-AE5E-5806-B0D6F9770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510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3C540-F722-57A8-73BF-772F1094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92E69-87A7-7871-ECDF-CE0782619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1FB19-18CD-C765-E202-C1521FA91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EFFA9-5823-AF10-415C-258861F3C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825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BA08F-6DD7-33A9-7FD4-C8C42F7C7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C04DD-D2BC-4071-DC7F-7685A43AF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D4B8B-A434-ED28-0FC0-0F859CA6A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DC3E5-35E8-DCB9-8C28-7057762FC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376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FEAA-E7B8-2801-0B6D-209F0402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41450-9DFD-C3E8-9C4E-532AC3E1C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406BE-608E-101A-6495-4F503C4E1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8777A-958C-732B-2E98-958AA2DDC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896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FD5AA-C62D-4E2B-9B16-55EB5F25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B5DA9-7AF0-57AE-8D2D-03B1B14D9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863C3-CB3E-36FE-7F64-1EB6E4FBD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D5139-10C3-5C47-6E57-4E91CA0A8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566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F67E-6C83-032F-D0BA-FE2D111C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41BAC-FAE9-A04C-7D98-D59CD667A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D743D-06D2-601B-EA1D-8A39BEF7B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47BCA-BD2C-E29B-6986-5ECFBD28E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232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9BF26-6DC8-4618-5A07-90FEABFF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A9514-5242-9035-1298-F423E0CBC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FACCD-3BA8-4CA1-87DC-63D932B97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4EEB0-EB9B-6220-F57C-D69A9AE30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2080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F781-C974-A0D0-7A6B-F88CBE513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1CBE1-94DD-3EF2-FFC1-8C4C3AD91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687E6-3F09-6C23-E8FB-AFAABE0DB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110EF-46C6-82E2-5EB8-35B7A73DC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8912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20A32-00CA-8DB4-17C0-221CB555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599C3-4E2D-53B4-08E4-3BD33EC18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6E570-4AA8-4229-BE3B-4942CF1C7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DF978-184D-F41E-3C52-66AA11A39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431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F117-EC14-F156-203D-1CEA86210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AE7AD-1E35-9C1B-EDC7-FA7079DDB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51A7A-56BA-84EA-4C19-9D1393F11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2DECD-4DC6-29AF-4931-00C9D2571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478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9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5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54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46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6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1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5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44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3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3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5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328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string-method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04. strings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2029656-93DB-8ACD-A732-FA790C3B5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endParaRPr lang="en-US" sz="1400" b="1" dirty="0"/>
          </a:p>
          <a:p>
            <a:pPr algn="l"/>
            <a:r>
              <a:rPr lang="en-US" b="1" dirty="0"/>
              <a:t>Data Science Institute | Python</a:t>
            </a:r>
          </a:p>
          <a:p>
            <a:pPr algn="l"/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Understand what a string is and create single-line and multi-line strings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Use operators, escape sequences, and string methods to modify strings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Pass strings to functions and return or process them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Learn how to format strings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CDA9B-E224-BB75-4EA6-22DEEFCF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805C-3093-4FA1-5CED-0DB797D4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a string?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E6F5-C6BF-EE6D-4986-9A58D9CE6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String (str)</a:t>
            </a:r>
            <a:r>
              <a:rPr lang="en-CA" sz="2400" dirty="0">
                <a:solidFill>
                  <a:schemeClr val="bg1"/>
                </a:solidFill>
              </a:rPr>
              <a:t> = text in Python</a:t>
            </a:r>
          </a:p>
          <a:p>
            <a:r>
              <a:rPr lang="en-CA" sz="2400" dirty="0">
                <a:solidFill>
                  <a:schemeClr val="bg1"/>
                </a:solidFill>
              </a:rPr>
              <a:t>A sequence of </a:t>
            </a:r>
            <a:r>
              <a:rPr lang="en-CA" sz="2400" b="1" dirty="0">
                <a:solidFill>
                  <a:schemeClr val="bg1"/>
                </a:solidFill>
              </a:rPr>
              <a:t>letters, numbers, symbols, or spaces</a:t>
            </a:r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Surrounded by </a:t>
            </a:r>
            <a:r>
              <a:rPr lang="en-CA" sz="2400" b="1" dirty="0">
                <a:solidFill>
                  <a:schemeClr val="bg1"/>
                </a:solidFill>
              </a:rPr>
              <a:t>single</a:t>
            </a:r>
            <a:r>
              <a:rPr lang="en-CA" sz="2400" dirty="0">
                <a:solidFill>
                  <a:schemeClr val="bg1"/>
                </a:solidFill>
              </a:rPr>
              <a:t> (') or </a:t>
            </a:r>
            <a:r>
              <a:rPr lang="en-CA" sz="2400" b="1" dirty="0">
                <a:solidFill>
                  <a:schemeClr val="bg1"/>
                </a:solidFill>
              </a:rPr>
              <a:t>double</a:t>
            </a:r>
            <a:r>
              <a:rPr lang="en-CA" sz="2400" dirty="0">
                <a:solidFill>
                  <a:schemeClr val="bg1"/>
                </a:solidFill>
              </a:rPr>
              <a:t> (") quotes</a:t>
            </a:r>
          </a:p>
          <a:p>
            <a:r>
              <a:rPr lang="en-CA" sz="2400" dirty="0">
                <a:solidFill>
                  <a:schemeClr val="bg1"/>
                </a:solidFill>
              </a:rPr>
              <a:t>Quotes must </a:t>
            </a:r>
            <a:r>
              <a:rPr lang="en-CA" sz="2400" b="1" dirty="0">
                <a:solidFill>
                  <a:schemeClr val="bg1"/>
                </a:solidFill>
              </a:rPr>
              <a:t>match</a:t>
            </a:r>
            <a:r>
              <a:rPr lang="en-CA" sz="2400" dirty="0">
                <a:solidFill>
                  <a:schemeClr val="bg1"/>
                </a:solidFill>
              </a:rPr>
              <a:t> and be </a:t>
            </a:r>
            <a:r>
              <a:rPr lang="en-CA" sz="2400" b="1" dirty="0">
                <a:solidFill>
                  <a:schemeClr val="bg1"/>
                </a:solidFill>
              </a:rPr>
              <a:t>consistent</a:t>
            </a:r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Switch quotes if text contains apostrophes or quotes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Ball of string clip art and vector design with a white background | Premium  AI-generated vector">
            <a:extLst>
              <a:ext uri="{FF2B5EF4-FFF2-40B4-BE49-F238E27FC236}">
                <a16:creationId xmlns:a16="http://schemas.microsoft.com/office/drawing/2014/main" id="{50CA94E6-E616-A3EC-F5C7-194754569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2031" y="365125"/>
            <a:ext cx="2285999" cy="22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1223B7-8526-0728-0BCE-E06B58021AD5}"/>
              </a:ext>
            </a:extLst>
          </p:cNvPr>
          <p:cNvSpPr txBox="1"/>
          <p:nvPr/>
        </p:nvSpPr>
        <p:spPr>
          <a:xfrm>
            <a:off x="1117599" y="4143081"/>
            <a:ext cx="793139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“this is a string”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5E23E-AF37-F6DB-BFD4-D4A0126EFCBA}"/>
              </a:ext>
            </a:extLst>
          </p:cNvPr>
          <p:cNvSpPr txBox="1"/>
          <p:nvPr/>
        </p:nvSpPr>
        <p:spPr>
          <a:xfrm>
            <a:off x="1117600" y="4739683"/>
            <a:ext cx="7931396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‘so is this’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1BE9D-520B-EE7E-D112-897A02E971CE}"/>
              </a:ext>
            </a:extLst>
          </p:cNvPr>
          <p:cNvSpPr txBox="1"/>
          <p:nvPr/>
        </p:nvSpPr>
        <p:spPr>
          <a:xfrm>
            <a:off x="1117599" y="5336285"/>
            <a:ext cx="793139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“these quotes do not match’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SyntaxError</a:t>
            </a:r>
            <a:endParaRPr lang="en-CA" sz="2400" dirty="0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41F75-93A8-485A-6E6D-2537D71B7AAB}"/>
              </a:ext>
            </a:extLst>
          </p:cNvPr>
          <p:cNvSpPr txBox="1"/>
          <p:nvPr/>
        </p:nvSpPr>
        <p:spPr>
          <a:xfrm>
            <a:off x="1117599" y="5932887"/>
            <a:ext cx="793139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“Let’s use double quotes to avoid error”</a:t>
            </a:r>
          </a:p>
        </p:txBody>
      </p:sp>
    </p:spTree>
    <p:extLst>
      <p:ext uri="{BB962C8B-B14F-4D97-AF65-F5344CB8AC3E}">
        <p14:creationId xmlns:p14="http://schemas.microsoft.com/office/powerpoint/2010/main" val="330453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54BC0-6428-F276-A9D2-8C22B408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B275-F1AE-EB9E-9C34-52495DD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Multi-line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CDF37-C8A0-31BF-F256-6EC933DD5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Strings can </a:t>
            </a:r>
            <a:r>
              <a:rPr lang="en-CA" sz="2400" b="1" dirty="0">
                <a:solidFill>
                  <a:schemeClr val="bg1"/>
                </a:solidFill>
              </a:rPr>
              <a:t>span multiple lines</a:t>
            </a:r>
            <a:r>
              <a:rPr lang="en-CA" sz="2400" dirty="0">
                <a:solidFill>
                  <a:schemeClr val="bg1"/>
                </a:solidFill>
              </a:rPr>
              <a:t> using </a:t>
            </a:r>
            <a:r>
              <a:rPr lang="en-CA" sz="2400" b="1" dirty="0">
                <a:solidFill>
                  <a:schemeClr val="bg1"/>
                </a:solidFill>
              </a:rPr>
              <a:t>triple quotes</a:t>
            </a:r>
            <a:r>
              <a:rPr lang="en-CA" sz="2400" dirty="0">
                <a:solidFill>
                  <a:schemeClr val="bg1"/>
                </a:solidFill>
              </a:rPr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''' or """</a:t>
            </a:r>
            <a:endParaRPr lang="en-CA" sz="20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Useful for </a:t>
            </a:r>
            <a:r>
              <a:rPr lang="en-CA" sz="2400" b="1" dirty="0">
                <a:solidFill>
                  <a:schemeClr val="bg1"/>
                </a:solidFill>
              </a:rPr>
              <a:t>long text</a:t>
            </a:r>
            <a:r>
              <a:rPr lang="en-CA" sz="2400" dirty="0">
                <a:solidFill>
                  <a:schemeClr val="bg1"/>
                </a:solidFill>
              </a:rPr>
              <a:t> or </a:t>
            </a:r>
            <a:r>
              <a:rPr lang="en-CA" sz="2400" b="1" dirty="0">
                <a:solidFill>
                  <a:schemeClr val="bg1"/>
                </a:solidFill>
              </a:rPr>
              <a:t>docstrings</a:t>
            </a:r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478B1-9209-26E9-16FF-3C212142224A}"/>
              </a:ext>
            </a:extLst>
          </p:cNvPr>
          <p:cNvSpPr txBox="1"/>
          <p:nvPr/>
        </p:nvSpPr>
        <p:spPr>
          <a:xfrm>
            <a:off x="1212602" y="3225192"/>
            <a:ext cx="7931397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This is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multiline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 Python.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"""</a:t>
            </a:r>
          </a:p>
        </p:txBody>
      </p:sp>
    </p:spTree>
    <p:extLst>
      <p:ext uri="{BB962C8B-B14F-4D97-AF65-F5344CB8AC3E}">
        <p14:creationId xmlns:p14="http://schemas.microsoft.com/office/powerpoint/2010/main" val="132454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1601E-FACD-7DC9-BCA1-AC4600BF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EBE0-6881-254C-BB0F-214B78E35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04122-AB61-60A3-37A4-1CE3BFB33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FF72D1-9A93-F24C-31F9-8CFC3B6A35AB}"/>
              </a:ext>
            </a:extLst>
          </p:cNvPr>
          <p:cNvGraphicFramePr>
            <a:graphicFrameLocks noGrp="1"/>
          </p:cNvGraphicFramePr>
          <p:nvPr/>
        </p:nvGraphicFramePr>
        <p:xfrm>
          <a:off x="1117600" y="2203369"/>
          <a:ext cx="10515600" cy="45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64040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CA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0174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229314-B0D6-65D6-31EA-03EC140DD3BF}"/>
              </a:ext>
            </a:extLst>
          </p:cNvPr>
          <p:cNvSpPr txBox="1"/>
          <p:nvPr/>
        </p:nvSpPr>
        <p:spPr>
          <a:xfrm>
            <a:off x="1296883" y="2040306"/>
            <a:ext cx="9598233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my_story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"""Once upon a time,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 a land far away,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there lived a curious cat."""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208A8-284C-D26B-FF76-0BAE5F345F8F}"/>
              </a:ext>
            </a:extLst>
          </p:cNvPr>
          <p:cNvSpPr txBox="1"/>
          <p:nvPr/>
        </p:nvSpPr>
        <p:spPr>
          <a:xfrm>
            <a:off x="1296884" y="4949179"/>
            <a:ext cx="959823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Where did those `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` characters come from and where did our line breaks go in that last string?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04FBC8-8C87-BD6F-4D03-EA972E86E5DC}"/>
              </a:ext>
            </a:extLst>
          </p:cNvPr>
          <p:cNvSpPr txBox="1"/>
          <p:nvPr/>
        </p:nvSpPr>
        <p:spPr>
          <a:xfrm>
            <a:off x="1296883" y="3426031"/>
            <a:ext cx="9598233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my_story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#Output is 'Once upon a time,\</a:t>
            </a:r>
            <a:r>
              <a:rPr lang="en-CA" sz="2400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nin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 a land far away,\</a:t>
            </a:r>
            <a:r>
              <a:rPr lang="en-CA" sz="2400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nthere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 lived a curious cat.'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414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7FA859-920C-91BC-A212-9CAFA1C7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2D53-C9F3-C494-2429-BE8E8071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Escape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173AB-C7FD-E519-0F65-C66CB88AD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An escape sequence</a:t>
            </a:r>
            <a:r>
              <a:rPr lang="en-CA" sz="2400" dirty="0">
                <a:solidFill>
                  <a:schemeClr val="bg1"/>
                </a:solidFill>
              </a:rPr>
              <a:t> is a special combination of characters that represents something else.</a:t>
            </a:r>
          </a:p>
          <a:p>
            <a:r>
              <a:rPr lang="en-CA" sz="2400" dirty="0">
                <a:solidFill>
                  <a:schemeClr val="bg1"/>
                </a:solidFill>
              </a:rPr>
              <a:t>The backslash \ is the escape character.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\n means new line</a:t>
            </a: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9BC37B-67CA-2F4D-2E64-118DE944DE26}"/>
              </a:ext>
            </a:extLst>
          </p:cNvPr>
          <p:cNvSpPr txBox="1"/>
          <p:nvPr/>
        </p:nvSpPr>
        <p:spPr>
          <a:xfrm>
            <a:off x="1117600" y="4001294"/>
            <a:ext cx="7931397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"Hello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\</a:t>
            </a:r>
            <a:r>
              <a:rPr kumimoji="0" lang="en-CA" sz="2400" i="0" u="none" strike="noStrike" kern="1200" cap="none" spc="0" normalizeH="0" baseline="0" noProof="0" dirty="0" err="1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World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#Output is</a:t>
            </a:r>
            <a:endParaRPr lang="en-CA" sz="2400" dirty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Hello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World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014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E66946-FBE6-0B0D-1881-0DB8641E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D2463-BDF6-0E0E-98EE-37A0B080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Escape sequences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F5CB68-C08A-9024-AA19-1EDC77F89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589337"/>
              </p:ext>
            </p:extLst>
          </p:nvPr>
        </p:nvGraphicFramePr>
        <p:xfrm>
          <a:off x="838200" y="1898936"/>
          <a:ext cx="10515600" cy="333574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09107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1900052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  <a:gridCol w="3740727">
                  <a:extLst>
                    <a:ext uri="{9D8B030D-6E8A-4147-A177-3AD203B41FA5}">
                      <a16:colId xmlns:a16="http://schemas.microsoft.com/office/drawing/2014/main" val="2681359468"/>
                    </a:ext>
                  </a:extLst>
                </a:gridCol>
                <a:gridCol w="3265714">
                  <a:extLst>
                    <a:ext uri="{9D8B030D-6E8A-4147-A177-3AD203B41FA5}">
                      <a16:colId xmlns:a16="http://schemas.microsoft.com/office/drawing/2014/main" val="3891031001"/>
                    </a:ext>
                  </a:extLst>
                </a:gridCol>
              </a:tblGrid>
              <a:tr h="808085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Escape sequence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Example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Output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dirty="0"/>
                        <a:t>\’</a:t>
                      </a:r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/>
                        <a:t>Single quote</a:t>
                      </a:r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'It\'s Python!'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It’s Python!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i="1" dirty="0"/>
                        <a:t>\"</a:t>
                      </a:r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/>
                        <a:t>Double quote</a:t>
                      </a:r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"He said \"Hi!\""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 said “Hi!”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i="1" dirty="0"/>
                        <a:t>\\</a:t>
                      </a:r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Backslash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"This is a backslash: \\"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 is a backslash: \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947794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\t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Tab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"Name:\</a:t>
                      </a:r>
                      <a:r>
                        <a:rPr lang="en-CA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tAlice</a:t>
                      </a:r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    Alice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15075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\n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New line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"Hello\</a:t>
                      </a:r>
                      <a:r>
                        <a:rPr lang="en-CA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nWorld</a:t>
                      </a:r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</a:t>
                      </a:r>
                    </a:p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World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650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393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D8417-0EF7-2FD6-43EA-E8201109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6628-D681-6C4E-CC46-F0E00393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Working with Strings &amp; Operator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173D7-3A5F-0EB4-488C-5ED6FEB9C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Some </a:t>
            </a:r>
            <a:r>
              <a:rPr lang="en-CA" sz="2400" b="1" dirty="0">
                <a:solidFill>
                  <a:schemeClr val="bg1"/>
                </a:solidFill>
              </a:rPr>
              <a:t>arithmetic and comparison operators</a:t>
            </a:r>
            <a:r>
              <a:rPr lang="en-CA" sz="2400" dirty="0">
                <a:solidFill>
                  <a:schemeClr val="bg1"/>
                </a:solidFill>
              </a:rPr>
              <a:t> also work with strings.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When an operator </a:t>
            </a:r>
            <a:r>
              <a:rPr lang="en-CA" sz="2400" b="1" dirty="0">
                <a:solidFill>
                  <a:schemeClr val="bg1"/>
                </a:solidFill>
              </a:rPr>
              <a:t>does different things depending on the data type</a:t>
            </a:r>
            <a:r>
              <a:rPr lang="en-CA" sz="2400" dirty="0">
                <a:solidFill>
                  <a:schemeClr val="bg1"/>
                </a:solidFill>
              </a:rPr>
              <a:t>, we say it is </a:t>
            </a:r>
            <a:r>
              <a:rPr lang="en-CA" sz="2400" i="1" dirty="0">
                <a:solidFill>
                  <a:schemeClr val="bg1"/>
                </a:solidFill>
              </a:rPr>
              <a:t>overloaded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u="sng" dirty="0">
                <a:solidFill>
                  <a:schemeClr val="bg1"/>
                </a:solidFill>
              </a:rPr>
              <a:t>Arithmetic operators</a:t>
            </a:r>
            <a:r>
              <a:rPr lang="en-CA" sz="2400" dirty="0">
                <a:solidFill>
                  <a:schemeClr val="bg1"/>
                </a:solidFill>
              </a:rPr>
              <a:t>: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38B65-147C-92E6-31D4-834A201383F3}"/>
              </a:ext>
            </a:extLst>
          </p:cNvPr>
          <p:cNvSpPr txBox="1"/>
          <p:nvPr/>
        </p:nvSpPr>
        <p:spPr>
          <a:xfrm>
            <a:off x="1212602" y="3628953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Concatenation (+) with strings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"Hello"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 "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"World"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"Hello World"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4A7BD9-FA11-6353-BAB4-E778293CB4B5}"/>
              </a:ext>
            </a:extLst>
          </p:cNvPr>
          <p:cNvSpPr txBox="1"/>
          <p:nvPr/>
        </p:nvSpPr>
        <p:spPr>
          <a:xfrm>
            <a:off x="1212602" y="4594887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Repetition (*) with strings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"ha"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* 3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		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"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hahaha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10790-6ACC-8D5F-375A-A5E464BF1441}"/>
              </a:ext>
            </a:extLst>
          </p:cNvPr>
          <p:cNvSpPr txBox="1"/>
          <p:nvPr/>
        </p:nvSpPr>
        <p:spPr>
          <a:xfrm>
            <a:off x="1212602" y="5559722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Mixing data types results in an error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”The year is"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2026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	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TypeError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78579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D2E15-AA9D-841A-D1A3-5E0BAE43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F2D9A-D2EA-66F9-A0FE-21EDCEDA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Working with Strings &amp; Operator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6B611-CFC4-9BBB-D515-00167EF21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Some </a:t>
            </a:r>
            <a:r>
              <a:rPr lang="en-CA" sz="2400" b="1" dirty="0">
                <a:solidFill>
                  <a:schemeClr val="bg1"/>
                </a:solidFill>
              </a:rPr>
              <a:t>arithmetic and comparison operators</a:t>
            </a:r>
            <a:r>
              <a:rPr lang="en-CA" sz="2400" dirty="0">
                <a:solidFill>
                  <a:schemeClr val="bg1"/>
                </a:solidFill>
              </a:rPr>
              <a:t> also work with strings.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When an operator </a:t>
            </a:r>
            <a:r>
              <a:rPr lang="en-CA" sz="2400" b="1" dirty="0">
                <a:solidFill>
                  <a:schemeClr val="bg1"/>
                </a:solidFill>
              </a:rPr>
              <a:t>does different things depending on the data type</a:t>
            </a:r>
            <a:r>
              <a:rPr lang="en-CA" sz="2400" dirty="0">
                <a:solidFill>
                  <a:schemeClr val="bg1"/>
                </a:solidFill>
              </a:rPr>
              <a:t>, we say it is </a:t>
            </a:r>
            <a:r>
              <a:rPr lang="en-CA" sz="2400" i="1" dirty="0">
                <a:solidFill>
                  <a:schemeClr val="bg1"/>
                </a:solidFill>
              </a:rPr>
              <a:t>overloaded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u="sng" dirty="0">
                <a:solidFill>
                  <a:schemeClr val="bg1"/>
                </a:solidFill>
              </a:rPr>
              <a:t>Comparison operators</a:t>
            </a:r>
            <a:r>
              <a:rPr lang="en-CA" sz="2400" dirty="0">
                <a:solidFill>
                  <a:schemeClr val="bg1"/>
                </a:solidFill>
              </a:rPr>
              <a:t>: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75B7B-772C-292C-12C5-797D1A1E6158}"/>
              </a:ext>
            </a:extLst>
          </p:cNvPr>
          <p:cNvSpPr txBox="1"/>
          <p:nvPr/>
        </p:nvSpPr>
        <p:spPr>
          <a:xfrm>
            <a:off x="1212602" y="3628953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Strings can be compared as being equal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”apple"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==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”Apple"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False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A0347-B25C-5589-64E0-B9FA1A078080}"/>
              </a:ext>
            </a:extLst>
          </p:cNvPr>
          <p:cNvSpPr txBox="1"/>
          <p:nvPr/>
        </p:nvSpPr>
        <p:spPr>
          <a:xfrm>
            <a:off x="1212602" y="4594887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Strings can be compared as being unequal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”apple" 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!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”Apple" </a:t>
            </a:r>
            <a:r>
              <a:rPr lang="en-CA" sz="2400" dirty="0">
                <a:solidFill>
                  <a:srgbClr val="E97132"/>
                </a:solidFill>
                <a:latin typeface="Courier New" panose="02070309020205020404" pitchFamily="49" charset="0"/>
              </a:rPr>
              <a:t>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True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5934A-0B8E-7C33-D40B-D4EB3B24F5C1}"/>
              </a:ext>
            </a:extLst>
          </p:cNvPr>
          <p:cNvSpPr txBox="1"/>
          <p:nvPr/>
        </p:nvSpPr>
        <p:spPr>
          <a:xfrm>
            <a:off x="1212602" y="5559722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Tip: Always check the data type when comparing!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”20"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== 20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	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False		</a:t>
            </a:r>
          </a:p>
        </p:txBody>
      </p:sp>
    </p:spTree>
    <p:extLst>
      <p:ext uri="{BB962C8B-B14F-4D97-AF65-F5344CB8AC3E}">
        <p14:creationId xmlns:p14="http://schemas.microsoft.com/office/powerpoint/2010/main" val="388463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DC697-6A7F-A860-0303-80FE38FD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A2E4-15D6-6819-DB82-9EC334C9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Strings within strings (Slicing)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B8BD7-11CA-A8D1-5CFE-9B24026B6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We can </a:t>
            </a:r>
            <a:r>
              <a:rPr lang="en-CA" sz="2400" b="1" dirty="0">
                <a:solidFill>
                  <a:schemeClr val="bg1"/>
                </a:solidFill>
              </a:rPr>
              <a:t>extract parts of a string using slicing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Square brackets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] </a:t>
            </a:r>
            <a:r>
              <a:rPr lang="en-CA" sz="2400" dirty="0">
                <a:solidFill>
                  <a:schemeClr val="bg1"/>
                </a:solidFill>
              </a:rPr>
              <a:t>are used with indexes to get characters.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Single character: use the index of the character.</a:t>
            </a:r>
          </a:p>
          <a:p>
            <a:r>
              <a:rPr lang="en-CA" sz="2400" dirty="0">
                <a:solidFill>
                  <a:schemeClr val="bg1"/>
                </a:solidFill>
              </a:rPr>
              <a:t>Multiple characters: use </a:t>
            </a:r>
            <a:r>
              <a:rPr lang="en-CA" sz="2400" dirty="0" err="1">
                <a:solidFill>
                  <a:schemeClr val="bg1"/>
                </a:solidFill>
              </a:rPr>
              <a:t>start:end</a:t>
            </a:r>
            <a:r>
              <a:rPr lang="en-CA" sz="2400" dirty="0">
                <a:solidFill>
                  <a:schemeClr val="bg1"/>
                </a:solidFill>
              </a:rPr>
              <a:t> inside the brackets.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BE3CC4-B40D-A77B-AA4B-51EB9A184DDB}"/>
              </a:ext>
            </a:extLst>
          </p:cNvPr>
          <p:cNvSpPr txBox="1"/>
          <p:nvPr/>
        </p:nvSpPr>
        <p:spPr>
          <a:xfrm>
            <a:off x="1117600" y="4428805"/>
            <a:ext cx="793139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	l	i	c	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A08D3D-C809-E061-13AF-A936A14D353D}"/>
              </a:ext>
            </a:extLst>
          </p:cNvPr>
          <p:cNvSpPr/>
          <p:nvPr/>
        </p:nvSpPr>
        <p:spPr>
          <a:xfrm>
            <a:off x="1117600" y="5023262"/>
            <a:ext cx="390566" cy="3443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22C257-47FD-6778-315A-FB293754EDB8}"/>
              </a:ext>
            </a:extLst>
          </p:cNvPr>
          <p:cNvSpPr/>
          <p:nvPr/>
        </p:nvSpPr>
        <p:spPr>
          <a:xfrm>
            <a:off x="2018145" y="5023262"/>
            <a:ext cx="390566" cy="3443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2219D2-CCA1-394D-3120-AD302626615E}"/>
              </a:ext>
            </a:extLst>
          </p:cNvPr>
          <p:cNvSpPr/>
          <p:nvPr/>
        </p:nvSpPr>
        <p:spPr>
          <a:xfrm>
            <a:off x="2962233" y="5023262"/>
            <a:ext cx="390566" cy="3443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647FF3-13D4-0FA6-7688-AD2AAB30B034}"/>
              </a:ext>
            </a:extLst>
          </p:cNvPr>
          <p:cNvSpPr/>
          <p:nvPr/>
        </p:nvSpPr>
        <p:spPr>
          <a:xfrm>
            <a:off x="3906321" y="5023262"/>
            <a:ext cx="390566" cy="3443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E3514A-FE5A-29E7-11E3-D1EEA1EFDA81}"/>
              </a:ext>
            </a:extLst>
          </p:cNvPr>
          <p:cNvSpPr/>
          <p:nvPr/>
        </p:nvSpPr>
        <p:spPr>
          <a:xfrm>
            <a:off x="4843151" y="5023262"/>
            <a:ext cx="390566" cy="3443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8F773E-5F3A-1252-9456-FF42930894AF}"/>
              </a:ext>
            </a:extLst>
          </p:cNvPr>
          <p:cNvSpPr txBox="1"/>
          <p:nvPr/>
        </p:nvSpPr>
        <p:spPr>
          <a:xfrm>
            <a:off x="1117600" y="3832203"/>
            <a:ext cx="793139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name = 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“Alice”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43E329-FB40-4C7A-F0D0-B10E305690A6}"/>
              </a:ext>
            </a:extLst>
          </p:cNvPr>
          <p:cNvSpPr txBox="1"/>
          <p:nvPr/>
        </p:nvSpPr>
        <p:spPr>
          <a:xfrm>
            <a:off x="1117599" y="5540782"/>
            <a:ext cx="793139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name[0]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A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9218D6-EFC2-4946-CFAF-8126FED18A71}"/>
              </a:ext>
            </a:extLst>
          </p:cNvPr>
          <p:cNvSpPr txBox="1"/>
          <p:nvPr/>
        </p:nvSpPr>
        <p:spPr>
          <a:xfrm>
            <a:off x="1117598" y="6107166"/>
            <a:ext cx="793139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name[0:3]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Ali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4F5603-4F00-49B7-ADC0-686151516B0D}"/>
              </a:ext>
            </a:extLst>
          </p:cNvPr>
          <p:cNvSpPr txBox="1"/>
          <p:nvPr/>
        </p:nvSpPr>
        <p:spPr>
          <a:xfrm>
            <a:off x="7673684" y="5195454"/>
            <a:ext cx="405583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0" i="1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Note</a:t>
            </a:r>
            <a:r>
              <a:rPr lang="en-CA" sz="2400" b="0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. Slices do not include the character at the ending index position.</a:t>
            </a:r>
          </a:p>
        </p:txBody>
      </p:sp>
    </p:spTree>
    <p:extLst>
      <p:ext uri="{BB962C8B-B14F-4D97-AF65-F5344CB8AC3E}">
        <p14:creationId xmlns:p14="http://schemas.microsoft.com/office/powerpoint/2010/main" val="610707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E309F-D9DA-8BDB-CBAE-C6E069F0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03612-B655-3CE4-BA02-335A169D9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Strings within strings (Slicing)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14C9B-5027-7B6B-87B3-7CCD7FD4F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Python lets us also count from the end using </a:t>
            </a:r>
            <a:r>
              <a:rPr lang="en-CA" sz="2400" b="1" dirty="0">
                <a:solidFill>
                  <a:schemeClr val="bg1"/>
                </a:solidFill>
              </a:rPr>
              <a:t>negative indices.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-1 is the last character, -2 is the second-to-last, and so on.</a:t>
            </a:r>
          </a:p>
          <a:p>
            <a:r>
              <a:rPr lang="en-US" sz="2400" dirty="0">
                <a:solidFill>
                  <a:schemeClr val="bg1"/>
                </a:solidFill>
              </a:rPr>
              <a:t>Negative indices are very useful for slicing from the end without knowing the string length.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BE8CF-D6F8-0E59-D92B-CFE33C738BBA}"/>
              </a:ext>
            </a:extLst>
          </p:cNvPr>
          <p:cNvSpPr txBox="1"/>
          <p:nvPr/>
        </p:nvSpPr>
        <p:spPr>
          <a:xfrm>
            <a:off x="1117600" y="4428805"/>
            <a:ext cx="793139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	l	i	c	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81A535-E91D-83E4-901D-6B3250D3C490}"/>
              </a:ext>
            </a:extLst>
          </p:cNvPr>
          <p:cNvSpPr/>
          <p:nvPr/>
        </p:nvSpPr>
        <p:spPr>
          <a:xfrm>
            <a:off x="1117600" y="5023262"/>
            <a:ext cx="401122" cy="3443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46D841-4BE1-9706-730A-855A96F9CBD0}"/>
              </a:ext>
            </a:extLst>
          </p:cNvPr>
          <p:cNvSpPr/>
          <p:nvPr/>
        </p:nvSpPr>
        <p:spPr>
          <a:xfrm>
            <a:off x="2018144" y="5023262"/>
            <a:ext cx="401123" cy="3443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F2CCDA-E7F4-16AC-9D9A-57691DA7F6E6}"/>
              </a:ext>
            </a:extLst>
          </p:cNvPr>
          <p:cNvSpPr/>
          <p:nvPr/>
        </p:nvSpPr>
        <p:spPr>
          <a:xfrm>
            <a:off x="2962232" y="5023262"/>
            <a:ext cx="401125" cy="3443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5827B2-EA41-A2F0-D486-3CEB89BBE41C}"/>
              </a:ext>
            </a:extLst>
          </p:cNvPr>
          <p:cNvSpPr/>
          <p:nvPr/>
        </p:nvSpPr>
        <p:spPr>
          <a:xfrm>
            <a:off x="3906321" y="5023262"/>
            <a:ext cx="393866" cy="3443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ptos" panose="02110004020202020204"/>
              </a:rPr>
              <a:t>-2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CD3B12-80BC-5999-E66F-BD7C6B87DE51}"/>
              </a:ext>
            </a:extLst>
          </p:cNvPr>
          <p:cNvSpPr/>
          <p:nvPr/>
        </p:nvSpPr>
        <p:spPr>
          <a:xfrm>
            <a:off x="4843150" y="5023262"/>
            <a:ext cx="393867" cy="3443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8484B2-2F3E-1386-1B86-8D78D4C64C7A}"/>
              </a:ext>
            </a:extLst>
          </p:cNvPr>
          <p:cNvSpPr txBox="1"/>
          <p:nvPr/>
        </p:nvSpPr>
        <p:spPr>
          <a:xfrm>
            <a:off x="1117600" y="3832203"/>
            <a:ext cx="793139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name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“Alice”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904DF-2FB6-86CC-00B1-A335F19B8911}"/>
              </a:ext>
            </a:extLst>
          </p:cNvPr>
          <p:cNvSpPr txBox="1"/>
          <p:nvPr/>
        </p:nvSpPr>
        <p:spPr>
          <a:xfrm>
            <a:off x="1117599" y="5540782"/>
            <a:ext cx="793139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name[-1]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last character (e)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84C471-4EE8-6CA3-9E86-4307FC866B50}"/>
              </a:ext>
            </a:extLst>
          </p:cNvPr>
          <p:cNvSpPr txBox="1"/>
          <p:nvPr/>
        </p:nvSpPr>
        <p:spPr>
          <a:xfrm>
            <a:off x="1117598" y="6107166"/>
            <a:ext cx="793139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name[-3:]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last 3 characters (ice)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0F9D84-9879-442A-6DD4-348475978866}"/>
              </a:ext>
            </a:extLst>
          </p:cNvPr>
          <p:cNvSpPr txBox="1"/>
          <p:nvPr/>
        </p:nvSpPr>
        <p:spPr>
          <a:xfrm>
            <a:off x="8033779" y="4212449"/>
            <a:ext cx="4055837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0" i="1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Note</a:t>
            </a:r>
            <a:r>
              <a:rPr lang="en-CA" sz="2400" b="0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. </a:t>
            </a:r>
            <a:r>
              <a:rPr lang="en-CA" sz="2400" dirty="0">
                <a:solidFill>
                  <a:schemeClr val="bg1"/>
                </a:solidFill>
              </a:rPr>
              <a:t>If you </a:t>
            </a:r>
            <a:r>
              <a:rPr lang="en-CA" sz="2400" b="1" dirty="0">
                <a:solidFill>
                  <a:schemeClr val="bg1"/>
                </a:solidFill>
              </a:rPr>
              <a:t>omit the end</a:t>
            </a:r>
            <a:r>
              <a:rPr lang="en-CA" sz="2400" dirty="0">
                <a:solidFill>
                  <a:schemeClr val="bg1"/>
                </a:solidFill>
              </a:rPr>
              <a:t> in a slice (start:), Python goes </a:t>
            </a:r>
            <a:r>
              <a:rPr lang="en-CA" sz="2400" b="1" dirty="0">
                <a:solidFill>
                  <a:schemeClr val="bg1"/>
                </a:solidFill>
              </a:rPr>
              <a:t>all the way to the last character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  <a:endParaRPr lang="en-CA" sz="2400" b="0" dirty="0">
              <a:solidFill>
                <a:schemeClr val="bg1"/>
              </a:solidFill>
              <a:effectLst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895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49CFF-50AB-E0F7-BA1B-5451FC32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1731-A654-0B6F-4DBA-C7778A30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0942-0BFA-C53B-C9B6-AE250C3C9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Get the first 6 letters of this word: `supercalifragilisticexpialidocious`</a:t>
            </a: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CA" dirty="0">
                <a:solidFill>
                  <a:schemeClr val="bg1"/>
                </a:solidFill>
              </a:rPr>
              <a:t>Get the area code for this phone number (647)-225-7154</a:t>
            </a: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3736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7C626-0117-AB86-A462-532FA0C3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3664-B1F5-E871-D893-E4569FE5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Checking for strings (substrings)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64EC2-B1E0-C6F2-EBCB-1EA08E511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You can check if a </a:t>
            </a:r>
            <a:r>
              <a:rPr lang="en-CA" sz="2400" b="1" dirty="0">
                <a:solidFill>
                  <a:schemeClr val="bg1"/>
                </a:solidFill>
              </a:rPr>
              <a:t>substring</a:t>
            </a:r>
            <a:r>
              <a:rPr lang="en-CA" sz="2400" dirty="0">
                <a:solidFill>
                  <a:schemeClr val="bg1"/>
                </a:solidFill>
              </a:rPr>
              <a:t> exists in a string using the </a:t>
            </a:r>
            <a:r>
              <a:rPr lang="en-CA" sz="2400" b="1" dirty="0">
                <a:solidFill>
                  <a:schemeClr val="bg1"/>
                </a:solidFill>
              </a:rPr>
              <a:t>in operator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Returns </a:t>
            </a:r>
            <a:r>
              <a:rPr lang="en-CA" sz="2400" b="1" dirty="0">
                <a:solidFill>
                  <a:schemeClr val="bg1"/>
                </a:solidFill>
              </a:rPr>
              <a:t>True</a:t>
            </a:r>
            <a:r>
              <a:rPr lang="en-CA" sz="2400" dirty="0">
                <a:solidFill>
                  <a:schemeClr val="bg1"/>
                </a:solidFill>
              </a:rPr>
              <a:t> if found, </a:t>
            </a:r>
            <a:r>
              <a:rPr lang="en-CA" sz="2400" b="1" dirty="0">
                <a:solidFill>
                  <a:schemeClr val="bg1"/>
                </a:solidFill>
              </a:rPr>
              <a:t>False</a:t>
            </a:r>
            <a:r>
              <a:rPr lang="en-CA" sz="2400" dirty="0">
                <a:solidFill>
                  <a:schemeClr val="bg1"/>
                </a:solidFill>
              </a:rPr>
              <a:t> if not.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A406E-8FD6-30C5-A396-795FE77E5447}"/>
              </a:ext>
            </a:extLst>
          </p:cNvPr>
          <p:cNvSpPr txBox="1"/>
          <p:nvPr/>
        </p:nvSpPr>
        <p:spPr>
          <a:xfrm>
            <a:off x="1117599" y="4542918"/>
            <a:ext cx="940393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'R' </a:t>
            </a:r>
            <a:r>
              <a:rPr lang="en-CA" sz="2400" dirty="0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 err="1">
                <a:solidFill>
                  <a:srgbClr val="156082"/>
                </a:solidFill>
                <a:latin typeface="Courier New" panose="02070309020205020404" pitchFamily="49" charset="0"/>
              </a:rPr>
              <a:t>job_qualifications</a:t>
            </a: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   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True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326526-94E1-EEE8-9C6E-C16C10982309}"/>
              </a:ext>
            </a:extLst>
          </p:cNvPr>
          <p:cNvSpPr txBox="1"/>
          <p:nvPr/>
        </p:nvSpPr>
        <p:spPr>
          <a:xfrm>
            <a:off x="1117599" y="3072183"/>
            <a:ext cx="9403938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rgbClr val="156082"/>
                </a:solidFill>
                <a:latin typeface="Courier New" panose="02070309020205020404" pitchFamily="49" charset="0"/>
              </a:rPr>
              <a:t>job_qualifications</a:t>
            </a: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 = 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'The successful applicant will be proficient in R, Python, SQL, statistics, and data visualization.'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C218A-CCFB-8607-8C64-4D23E0EF3D30}"/>
              </a:ext>
            </a:extLst>
          </p:cNvPr>
          <p:cNvSpPr txBox="1"/>
          <p:nvPr/>
        </p:nvSpPr>
        <p:spPr>
          <a:xfrm>
            <a:off x="1117598" y="5139520"/>
            <a:ext cx="9403938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'r' </a:t>
            </a:r>
            <a:r>
              <a:rPr lang="en-CA" sz="2400" dirty="0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 err="1">
                <a:solidFill>
                  <a:srgbClr val="156082"/>
                </a:solidFill>
                <a:latin typeface="Courier New" panose="02070309020205020404" pitchFamily="49" charset="0"/>
              </a:rPr>
              <a:t>job_qualifications</a:t>
            </a: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   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False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A6AA7-A2B1-056C-0FCC-A684FC050682}"/>
              </a:ext>
            </a:extLst>
          </p:cNvPr>
          <p:cNvSpPr txBox="1"/>
          <p:nvPr/>
        </p:nvSpPr>
        <p:spPr>
          <a:xfrm>
            <a:off x="1117598" y="5772354"/>
            <a:ext cx="9403938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'JavaScript' </a:t>
            </a:r>
            <a:r>
              <a:rPr lang="en-CA" sz="2400" dirty="0">
                <a:solidFill>
                  <a:schemeClr val="accent4"/>
                </a:solidFill>
                <a:latin typeface="Courier New" panose="02070309020205020404" pitchFamily="49" charset="0"/>
              </a:rPr>
              <a:t>in</a:t>
            </a: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 err="1">
                <a:solidFill>
                  <a:srgbClr val="156082"/>
                </a:solidFill>
                <a:latin typeface="Courier New" panose="02070309020205020404" pitchFamily="49" charset="0"/>
              </a:rPr>
              <a:t>job_qualifications</a:t>
            </a: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False</a:t>
            </a:r>
          </a:p>
        </p:txBody>
      </p:sp>
    </p:spTree>
    <p:extLst>
      <p:ext uri="{BB962C8B-B14F-4D97-AF65-F5344CB8AC3E}">
        <p14:creationId xmlns:p14="http://schemas.microsoft.com/office/powerpoint/2010/main" val="105580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9A0DD-D0D1-82B3-979B-A0AC0C8E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DDAC-7BED-F76B-5767-32D943FC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Strings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1B82D-2DE9-875F-7FEC-23F716D28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Strings can be used with functions we’ve seen before, like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print().</a:t>
            </a:r>
          </a:p>
          <a:p>
            <a:r>
              <a:rPr lang="en-CA" sz="2400" dirty="0">
                <a:solidFill>
                  <a:schemeClr val="bg1"/>
                </a:solidFill>
              </a:rPr>
              <a:t>Strings also work with built-in functions, such as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CA" sz="2400" dirty="0">
                <a:solidFill>
                  <a:schemeClr val="bg1"/>
                </a:solidFill>
              </a:rPr>
              <a:t> which returns the </a:t>
            </a:r>
            <a:r>
              <a:rPr lang="en-CA" sz="2400" b="1" dirty="0">
                <a:solidFill>
                  <a:schemeClr val="bg1"/>
                </a:solidFill>
              </a:rPr>
              <a:t>number of characters in a string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1E3D6-DD4B-28A8-89F0-1DB33C5A7253}"/>
              </a:ext>
            </a:extLst>
          </p:cNvPr>
          <p:cNvSpPr txBox="1"/>
          <p:nvPr/>
        </p:nvSpPr>
        <p:spPr>
          <a:xfrm>
            <a:off x="1117599" y="3401129"/>
            <a:ext cx="9403937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'Sometimes we type long-winded sentences to meet word counts or character counts.')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80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2BDEA9-E8AF-0C8F-BE2C-27CD35B48971}"/>
              </a:ext>
            </a:extLst>
          </p:cNvPr>
          <p:cNvSpPr txBox="1"/>
          <p:nvPr/>
        </p:nvSpPr>
        <p:spPr>
          <a:xfrm>
            <a:off x="1117598" y="4758097"/>
            <a:ext cx="9403937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(name)</a:t>
            </a:r>
            <a:r>
              <a:rPr lang="en-CA" sz="2400" b="0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Recall name = ‘Alice’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5</a:t>
            </a:r>
          </a:p>
        </p:txBody>
      </p:sp>
    </p:spTree>
    <p:extLst>
      <p:ext uri="{BB962C8B-B14F-4D97-AF65-F5344CB8AC3E}">
        <p14:creationId xmlns:p14="http://schemas.microsoft.com/office/powerpoint/2010/main" val="401931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94BA8-B05A-FC1F-BA96-CF0543DA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472D2-668C-FD60-2E4C-B668272D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Strings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B704-044F-FC5F-328E-9F7FCACEF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1872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Methods are functions that work only on a specific type of data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String methods work only on strings </a:t>
            </a:r>
            <a:r>
              <a:rPr lang="en-CA" sz="2400" dirty="0">
                <a:solidFill>
                  <a:schemeClr val="bg1"/>
                </a:solidFill>
              </a:rPr>
              <a:t>(not on numbers or </a:t>
            </a:r>
            <a:r>
              <a:rPr lang="en-CA" sz="2400" dirty="0" err="1">
                <a:solidFill>
                  <a:schemeClr val="bg1"/>
                </a:solidFill>
              </a:rPr>
              <a:t>booleans</a:t>
            </a:r>
            <a:r>
              <a:rPr lang="en-CA" sz="2400" dirty="0">
                <a:solidFill>
                  <a:schemeClr val="bg1"/>
                </a:solidFill>
              </a:rPr>
              <a:t>).</a:t>
            </a:r>
          </a:p>
          <a:p>
            <a:r>
              <a:rPr lang="en-CA" sz="2400" dirty="0">
                <a:solidFill>
                  <a:schemeClr val="bg1"/>
                </a:solidFill>
              </a:rPr>
              <a:t>Methods are called using dot notation: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string.method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918C0-5ADD-E225-CE20-05F8B999B094}"/>
              </a:ext>
            </a:extLst>
          </p:cNvPr>
          <p:cNvSpPr txBox="1"/>
          <p:nvPr/>
        </p:nvSpPr>
        <p:spPr>
          <a:xfrm>
            <a:off x="1212602" y="2989612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Convert to uppercase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'I am not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yelling'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upper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Output: I AM NOT YELLING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005D3-883A-4C4C-0813-F4CE7372C2B4}"/>
              </a:ext>
            </a:extLst>
          </p:cNvPr>
          <p:cNvSpPr txBox="1"/>
          <p:nvPr/>
        </p:nvSpPr>
        <p:spPr>
          <a:xfrm>
            <a:off x="1212602" y="3938704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Count the </a:t>
            </a:r>
            <a:r>
              <a:rPr lang="en-CA" sz="2400" dirty="0">
                <a:solidFill>
                  <a:srgbClr val="196B24"/>
                </a:solidFill>
                <a:latin typeface="Courier New" panose="02070309020205020404" pitchFamily="49" charset="0"/>
              </a:rPr>
              <a:t>‘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e’s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'This string is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unusual'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count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'e'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Output: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E861A-6AEF-2298-85F2-4E41475CB855}"/>
              </a:ext>
            </a:extLst>
          </p:cNvPr>
          <p:cNvSpPr txBox="1"/>
          <p:nvPr/>
        </p:nvSpPr>
        <p:spPr>
          <a:xfrm>
            <a:off x="1212602" y="4867215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Check if a string ends with a substring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'file_name.csv'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endswith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'.csv'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Output: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93F5F-49B4-2782-D49C-90FADA99DE1C}"/>
              </a:ext>
            </a:extLst>
          </p:cNvPr>
          <p:cNvSpPr txBox="1"/>
          <p:nvPr/>
        </p:nvSpPr>
        <p:spPr>
          <a:xfrm>
            <a:off x="1212602" y="5836998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Replace text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'file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name'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replace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 ', '-'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Output: file-name</a:t>
            </a:r>
          </a:p>
        </p:txBody>
      </p:sp>
    </p:spTree>
    <p:extLst>
      <p:ext uri="{BB962C8B-B14F-4D97-AF65-F5344CB8AC3E}">
        <p14:creationId xmlns:p14="http://schemas.microsoft.com/office/powerpoint/2010/main" val="3328637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F5C5D-6365-F357-3706-EEE281022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1FF1A-3599-6849-D4C9-FF2A6290D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Strings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CB973-2834-571D-BD2E-18C5A0AE8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1872"/>
            <a:ext cx="10236201" cy="4351338"/>
          </a:xfrm>
        </p:spPr>
        <p:txBody>
          <a:bodyPr>
            <a:normAutofit/>
          </a:bodyPr>
          <a:lstStyle/>
          <a:p>
            <a:r>
              <a:rPr kumimoji="0" lang="en-US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Full list of string methods here: </a:t>
            </a:r>
            <a:r>
              <a:rPr kumimoji="0" lang="en-US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https://docs.python.org/3/library/stdtypes.html#string-methods</a:t>
            </a:r>
            <a:r>
              <a:rPr kumimoji="0" lang="en-US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r>
              <a:rPr lang="en-CA" sz="2400" dirty="0">
                <a:solidFill>
                  <a:schemeClr val="bg1"/>
                </a:solidFill>
              </a:rPr>
              <a:t>Use Python’s </a:t>
            </a:r>
            <a:r>
              <a:rPr lang="en-CA" sz="2400" b="1" dirty="0">
                <a:solidFill>
                  <a:schemeClr val="bg1"/>
                </a:solidFill>
              </a:rPr>
              <a:t>help system</a:t>
            </a:r>
            <a:r>
              <a:rPr lang="en-CA" sz="2400" dirty="0">
                <a:solidFill>
                  <a:schemeClr val="bg1"/>
                </a:solidFill>
              </a:rPr>
              <a:t> to learn about string methods</a:t>
            </a:r>
          </a:p>
          <a:p>
            <a:endParaRPr lang="en-CA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4F4AB-90E4-8197-572C-F7E95F1CA6ED}"/>
              </a:ext>
            </a:extLst>
          </p:cNvPr>
          <p:cNvSpPr txBox="1"/>
          <p:nvPr/>
        </p:nvSpPr>
        <p:spPr>
          <a:xfrm>
            <a:off x="1212602" y="2989612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Show all string methods</a:t>
            </a:r>
          </a:p>
          <a:p>
            <a:r>
              <a:rPr lang="en-CA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help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(str)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AC66F-078F-D953-2DEF-C9E3CF9E0843}"/>
              </a:ext>
            </a:extLst>
          </p:cNvPr>
          <p:cNvSpPr txBox="1"/>
          <p:nvPr/>
        </p:nvSpPr>
        <p:spPr>
          <a:xfrm>
            <a:off x="1212602" y="4045912"/>
            <a:ext cx="986179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Show details about a specific string method</a:t>
            </a:r>
          </a:p>
          <a:p>
            <a:r>
              <a:rPr lang="en-CA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help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str.</a:t>
            </a: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upper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9853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D2E0B-A907-8895-F726-A002B9CA7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9708-C354-DC88-1466-5F657132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Formatting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DA1DA-8472-C002-EFEB-B7E9E1818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String formatting lets us </a:t>
            </a:r>
            <a:r>
              <a:rPr lang="en-CA" sz="2400" b="1" dirty="0">
                <a:solidFill>
                  <a:schemeClr val="bg1"/>
                </a:solidFill>
              </a:rPr>
              <a:t>combine text with other data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Two common ways, achieve the exact same outcome</a:t>
            </a: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1.    .format() method</a:t>
            </a: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        uses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CA" sz="2400" dirty="0">
                <a:solidFill>
                  <a:schemeClr val="bg1"/>
                </a:solidFill>
              </a:rPr>
              <a:t> s placeholders, then passes values to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.format()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F1B536-519C-3705-9255-FA853E1BE8A1}"/>
              </a:ext>
            </a:extLst>
          </p:cNvPr>
          <p:cNvSpPr txBox="1"/>
          <p:nvPr/>
        </p:nvSpPr>
        <p:spPr>
          <a:xfrm>
            <a:off x="838199" y="3811288"/>
            <a:ext cx="10515600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first_name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“Ada”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last_name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“Lovelace”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E97132"/>
                </a:solidFill>
                <a:latin typeface="Courier New" panose="02070309020205020404" pitchFamily="49" charset="0"/>
              </a:rPr>
              <a:t>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Initials are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{}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{}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.format(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first_name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[0],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last_name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[0]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 Output ‘Initials are A.L’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487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EAA5CB-FB98-4696-7E5C-D8A75BAB4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AFED-4D12-90DA-5CB4-2F0B407F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Formatting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19D25-ECDC-726E-55B0-02F2A40E7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String formatting lets us </a:t>
            </a:r>
            <a:r>
              <a:rPr lang="en-CA" sz="2400" b="1" dirty="0">
                <a:solidFill>
                  <a:schemeClr val="bg1"/>
                </a:solidFill>
              </a:rPr>
              <a:t>combine text with other data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Two common ways, achieve the exact same outcome</a:t>
            </a: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    f-strings</a:t>
            </a: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        Concise and readable. </a:t>
            </a: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        Pass variables directly with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CA" sz="2400" dirty="0">
                <a:solidFill>
                  <a:schemeClr val="bg1"/>
                </a:solidFill>
              </a:rPr>
              <a:t> inside an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f'...' </a:t>
            </a:r>
            <a:r>
              <a:rPr lang="en-CA" sz="2400" dirty="0">
                <a:solidFill>
                  <a:schemeClr val="bg1"/>
                </a:solidFill>
              </a:rPr>
              <a:t>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6FDBF-C26E-77BB-CB1C-B5AF80CE265B}"/>
              </a:ext>
            </a:extLst>
          </p:cNvPr>
          <p:cNvSpPr txBox="1"/>
          <p:nvPr/>
        </p:nvSpPr>
        <p:spPr>
          <a:xfrm>
            <a:off x="838199" y="4233019"/>
            <a:ext cx="10515600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first_name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= 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“Ada”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last_name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“Lovelace”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f</a:t>
            </a:r>
            <a:r>
              <a:rPr lang="en-CA" sz="24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”Initials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 are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{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first_name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[0]}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.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{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last_name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[0]}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”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 Output ‘Initials are A.L’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E072C9-4E09-9026-8174-6D64C0C9BFF8}"/>
              </a:ext>
            </a:extLst>
          </p:cNvPr>
          <p:cNvSpPr txBox="1"/>
          <p:nvPr/>
        </p:nvSpPr>
        <p:spPr>
          <a:xfrm>
            <a:off x="2778827" y="2731021"/>
            <a:ext cx="538005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0" i="1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Note</a:t>
            </a:r>
            <a:r>
              <a:rPr lang="en-CA" sz="2400" b="0" dirty="0">
                <a:solidFill>
                  <a:schemeClr val="bg1"/>
                </a:solidFill>
                <a:effectLst/>
                <a:cs typeface="Calibri" panose="020F0502020204030204" pitchFamily="34" charset="0"/>
              </a:rPr>
              <a:t>. This requires Python 3.6+</a:t>
            </a:r>
          </a:p>
        </p:txBody>
      </p:sp>
    </p:spTree>
    <p:extLst>
      <p:ext uri="{BB962C8B-B14F-4D97-AF65-F5344CB8AC3E}">
        <p14:creationId xmlns:p14="http://schemas.microsoft.com/office/powerpoint/2010/main" val="16799153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1319</Words>
  <Application>Microsoft Macintosh PowerPoint</Application>
  <PresentationFormat>Widescreen</PresentationFormat>
  <Paragraphs>201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Courier New</vt:lpstr>
      <vt:lpstr>1_Office Theme</vt:lpstr>
      <vt:lpstr>04. strings</vt:lpstr>
      <vt:lpstr>Learning objectives</vt:lpstr>
      <vt:lpstr>What is a string?</vt:lpstr>
      <vt:lpstr>Multi-line strings</vt:lpstr>
      <vt:lpstr>Example</vt:lpstr>
      <vt:lpstr>Escape sequences</vt:lpstr>
      <vt:lpstr>Escape sequences</vt:lpstr>
      <vt:lpstr>Working with Strings &amp; Operator Overloading</vt:lpstr>
      <vt:lpstr>Working with Strings &amp; Operator Overloading</vt:lpstr>
      <vt:lpstr>Strings within strings (Slicing)</vt:lpstr>
      <vt:lpstr>Strings within strings (Slicing)</vt:lpstr>
      <vt:lpstr>Exercise</vt:lpstr>
      <vt:lpstr>Checking for strings (substrings)</vt:lpstr>
      <vt:lpstr>Strings and functions</vt:lpstr>
      <vt:lpstr>Strings methods</vt:lpstr>
      <vt:lpstr>Strings methods</vt:lpstr>
      <vt:lpstr>Formatting strings</vt:lpstr>
      <vt:lpstr>Formatting strings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35</cp:revision>
  <dcterms:created xsi:type="dcterms:W3CDTF">2026-01-08T17:30:28Z</dcterms:created>
  <dcterms:modified xsi:type="dcterms:W3CDTF">2026-04-10T17:13:13Z</dcterms:modified>
</cp:coreProperties>
</file>