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7" r:id="rId2"/>
    <p:sldId id="258" r:id="rId3"/>
    <p:sldId id="272" r:id="rId4"/>
    <p:sldId id="28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81"/>
  </p:normalViewPr>
  <p:slideViewPr>
    <p:cSldViewPr snapToGrid="0">
      <p:cViewPr varScale="1">
        <p:scale>
          <a:sx n="107" d="100"/>
          <a:sy n="107" d="100"/>
        </p:scale>
        <p:origin x="8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BB3622-BC7B-9149-985D-59FB2055D426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9D33ED-32E0-694E-A694-635D70875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317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1" dirty="0"/>
              <a:t>Hi everyone, I’m Julia — a PhD candidate at the Institute of Medical Science here at the University of Toronto.</a:t>
            </a:r>
          </a:p>
          <a:p>
            <a:br>
              <a:rPr lang="en-CA" dirty="0"/>
            </a:br>
            <a:endParaRPr lang="en-CA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2103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2800" dirty="0"/>
              <a:t>Just to orient everyone, here are our learning objectives for today’s session.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4851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8D1B3-1C08-A606-BD99-B34E965C2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CFBF0-50A5-AE9F-397F-FC986C9A2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6032E-4446-FEBA-A209-A07073536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9708E-9A40-F3AD-9F1D-FB91384ED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204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EDB3B-0C9B-14EE-8313-4E95E5C42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3F902B-079C-F4C5-6DB0-5BFEB799D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32AE56-A005-A2EE-AA72-28E6BDBBE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10565-0E7C-9A78-B306-43B0EAC35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3343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721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71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250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212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50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45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734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477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99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165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84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8536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E1707-777C-7A52-3280-B460A827B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983190" cy="2387600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05. converting between types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3353217-09B3-ADB6-AC04-14BBB8CAC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136217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algn="l"/>
            <a:endParaRPr lang="en-US" sz="1400" b="1" dirty="0"/>
          </a:p>
          <a:p>
            <a:pPr algn="l"/>
            <a:r>
              <a:rPr lang="en-US" b="1" dirty="0"/>
              <a:t>Data Science Institute | Python</a:t>
            </a:r>
          </a:p>
          <a:p>
            <a:pPr algn="l"/>
            <a:endParaRPr lang="en-US" sz="1400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017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B004-DEF5-406C-8AD6-3F634E4E8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BCF6B-5C58-D402-B42A-C11166569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Be able to convert data between strings, integers, and floats 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Understand when type conversion may produce errors.</a:t>
            </a: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35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8CDA9B-E224-BB75-4EA6-22DEEFCF6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C805C-3093-4FA1-5CED-0DB797D4E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Converting between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5E6F5-C6BF-EE6D-4986-9A58D9CE6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Use Python functions to </a:t>
            </a:r>
            <a:r>
              <a:rPr lang="en-CA" sz="2400" b="1" dirty="0">
                <a:solidFill>
                  <a:schemeClr val="bg1"/>
                </a:solidFill>
              </a:rPr>
              <a:t>convert between data types</a:t>
            </a:r>
            <a:r>
              <a:rPr lang="en-CA" sz="2400" dirty="0">
                <a:solidFill>
                  <a:schemeClr val="bg1"/>
                </a:solidFill>
              </a:rPr>
              <a:t>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str() </a:t>
            </a:r>
            <a:r>
              <a:rPr lang="en-CA" dirty="0">
                <a:solidFill>
                  <a:schemeClr val="bg1"/>
                </a:solidFill>
              </a:rPr>
              <a:t>→ convert to string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int() </a:t>
            </a:r>
            <a:r>
              <a:rPr lang="en-CA" dirty="0">
                <a:solidFill>
                  <a:schemeClr val="bg1"/>
                </a:solidFill>
              </a:rPr>
              <a:t>→ convert to integer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float() </a:t>
            </a:r>
            <a:r>
              <a:rPr lang="en-CA" dirty="0">
                <a:solidFill>
                  <a:schemeClr val="bg1"/>
                </a:solidFill>
              </a:rPr>
              <a:t>→ convert to float</a:t>
            </a:r>
          </a:p>
          <a:p>
            <a:r>
              <a:rPr lang="en-CA" sz="2400" dirty="0">
                <a:solidFill>
                  <a:schemeClr val="bg1"/>
                </a:solidFill>
              </a:rPr>
              <a:t>Invalid conversions cause errors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1223B7-8526-0728-0BCE-E06B58021AD5}"/>
              </a:ext>
            </a:extLst>
          </p:cNvPr>
          <p:cNvSpPr txBox="1"/>
          <p:nvPr/>
        </p:nvSpPr>
        <p:spPr>
          <a:xfrm>
            <a:off x="1117597" y="3871724"/>
            <a:ext cx="793139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i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’17’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 17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71BE9D-520B-EE7E-D112-897A02E971CE}"/>
              </a:ext>
            </a:extLst>
          </p:cNvPr>
          <p:cNvSpPr txBox="1"/>
          <p:nvPr/>
        </p:nvSpPr>
        <p:spPr>
          <a:xfrm>
            <a:off x="1117597" y="4409105"/>
            <a:ext cx="7931397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float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’17’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 17.0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641F75-93A8-485A-6E6D-2537D71B7AAB}"/>
              </a:ext>
            </a:extLst>
          </p:cNvPr>
          <p:cNvSpPr txBox="1"/>
          <p:nvPr/>
        </p:nvSpPr>
        <p:spPr>
          <a:xfrm>
            <a:off x="1117597" y="4965424"/>
            <a:ext cx="793139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str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(37.5)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Output:‘37.5’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pic>
        <p:nvPicPr>
          <p:cNvPr id="1028" name="Picture 4" descr="Learn GraphQL: Introducing Types">
            <a:extLst>
              <a:ext uri="{FF2B5EF4-FFF2-40B4-BE49-F238E27FC236}">
                <a16:creationId xmlns:a16="http://schemas.microsoft.com/office/drawing/2014/main" id="{9F356F41-F712-1A92-29DF-163F7C035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1515" y="1435555"/>
            <a:ext cx="3756079" cy="21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1CE9FC-94E9-BAFB-DCB4-75B28AE3D57E}"/>
              </a:ext>
            </a:extLst>
          </p:cNvPr>
          <p:cNvSpPr txBox="1"/>
          <p:nvPr/>
        </p:nvSpPr>
        <p:spPr>
          <a:xfrm>
            <a:off x="1117597" y="6040784"/>
            <a:ext cx="793139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i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’me’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ValueError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C38018-F67B-B837-47D7-329D76A040B3}"/>
              </a:ext>
            </a:extLst>
          </p:cNvPr>
          <p:cNvSpPr txBox="1"/>
          <p:nvPr/>
        </p:nvSpPr>
        <p:spPr>
          <a:xfrm>
            <a:off x="1117597" y="5460877"/>
            <a:ext cx="793139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’20’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+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str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(37.5)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Output:‘2037.5’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4538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9BEAE1-1C11-193E-D1ED-A47B852A3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EA916-4E48-2D34-E607-F00235C43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8349F-752E-453D-F5AB-485EA48B5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400"/>
            <a:ext cx="11023599" cy="4351338"/>
          </a:xfrm>
        </p:spPr>
        <p:txBody>
          <a:bodyPr>
            <a:norm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Try this on your own:</a:t>
            </a:r>
          </a:p>
          <a:p>
            <a:endParaRPr lang="en-CA" sz="2400" b="0" dirty="0">
              <a:solidFill>
                <a:schemeClr val="bg1"/>
              </a:solidFill>
              <a:effectLst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b="0" dirty="0">
                <a:solidFill>
                  <a:schemeClr val="bg1"/>
                </a:solidFill>
                <a:effectLst/>
              </a:rPr>
              <a:t>Fix the error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CA" b="0" dirty="0">
              <a:solidFill>
                <a:schemeClr val="bg1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3F351B-B915-EC88-0318-E4F302C2ED80}"/>
              </a:ext>
            </a:extLst>
          </p:cNvPr>
          <p:cNvSpPr txBox="1"/>
          <p:nvPr/>
        </p:nvSpPr>
        <p:spPr>
          <a:xfrm>
            <a:off x="1633413" y="3292107"/>
            <a:ext cx="793139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’The year is’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+ 2026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TypeError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430795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168</Words>
  <Application>Microsoft Macintosh PowerPoint</Application>
  <PresentationFormat>Widescreen</PresentationFormat>
  <Paragraphs>30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 Light</vt:lpstr>
      <vt:lpstr>Courier New</vt:lpstr>
      <vt:lpstr>1_Office Theme</vt:lpstr>
      <vt:lpstr>05. converting between types</vt:lpstr>
      <vt:lpstr>Learning objectives</vt:lpstr>
      <vt:lpstr>Converting between types</vt:lpstr>
      <vt:lpstr>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Gallucci</dc:creator>
  <cp:lastModifiedBy>Julia Gallucci</cp:lastModifiedBy>
  <cp:revision>5</cp:revision>
  <dcterms:created xsi:type="dcterms:W3CDTF">2026-01-08T18:51:30Z</dcterms:created>
  <dcterms:modified xsi:type="dcterms:W3CDTF">2026-04-10T17:11:52Z</dcterms:modified>
</cp:coreProperties>
</file>