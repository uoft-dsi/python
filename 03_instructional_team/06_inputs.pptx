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98" r:id="rId6"/>
    <p:sldId id="296" r:id="rId7"/>
    <p:sldId id="295" r:id="rId8"/>
    <p:sldId id="297" r:id="rId9"/>
    <p:sldId id="292" r:id="rId10"/>
    <p:sldId id="29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17"/>
    <p:restoredTop sz="94681"/>
  </p:normalViewPr>
  <p:slideViewPr>
    <p:cSldViewPr snapToGrid="0">
      <p:cViewPr varScale="1">
        <p:scale>
          <a:sx n="107" d="100"/>
          <a:sy n="107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4B33-3477-C74E-B24F-5B99000E461F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6A43A-B8A2-6F4C-B2E8-3F0B58FBD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7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C71F-809F-1544-92E7-1EC4094B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CF66B-6DBA-29AF-FABD-8D23099F0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CD8BC-F615-2155-08D3-321EC75E8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C4344-84F2-6BF3-5C91-C014274C4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92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5788C-2AD5-73B3-8188-C507B9F22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5F84B-FFB5-142C-11AC-64AFE81B9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33B14-19B9-60BA-0E79-CC6C9D2B5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45F69-F5CA-CBC3-1954-87BAEBB5E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993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21F4B-0967-7B78-375C-483EE20A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44025-2B08-6343-13F7-A2E1502E7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F61A2-BB2D-4815-5E3F-8D1685E5D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C11C2-0F66-144A-42DC-98520D310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716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8F16-323C-30C9-748E-92F9E92A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5916C-17BE-5C41-5322-24515E176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BA1BF-6143-75F8-9A6E-9FFB71E59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B35A6-D77F-E454-7774-D226E300F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8448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F829-4F3B-E6C9-15CB-A9EB96FA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7CDAA-A49A-E4BB-5696-39CD1DC80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9F677-5DD3-8836-563F-A4D014DCE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F1D5E-D13E-B230-AD6F-1B26312F3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9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6027-14EE-D566-60E5-61519B1F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CE9D3-82D5-C16B-4D88-7AC337B2F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25CF3-2F4E-CC1D-2B49-66EBE9ACC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4852A-F049-C0D7-FCF8-0BDABC34C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644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FEAA-E7B8-2801-0B6D-209F0402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41450-9DFD-C3E8-9C4E-532AC3E1C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06BE-608E-101A-6495-4F503C4E1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777A-958C-732B-2E98-958AA2DDC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896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89ACD-39B3-2BDC-9EF3-EDFFA490A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08559-57E8-73EF-6427-77F6F9764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39480-550F-AAA9-8A51-38C6F8030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5899F-4979-1C02-1F8C-5E3897D73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1591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64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1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0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0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7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2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5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9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8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5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7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316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98319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06. input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0F84D33-882F-2B75-8CEF-3BE6153AC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Be able to use the input() function to get data from the user, handle it as a string, and recognize potential issues with unexpected input.</a:t>
            </a: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77EF7-789E-0D9A-543A-3746A9DC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25DA-FDB6-0D32-DCE5-37A71DD6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Getting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BC73B-5B65-D0F3-CCEE-8F72FD28F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Use the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input()</a:t>
            </a:r>
            <a:r>
              <a:rPr lang="en-CA" sz="2400" b="1" dirty="0">
                <a:solidFill>
                  <a:schemeClr val="bg1"/>
                </a:solidFill>
              </a:rPr>
              <a:t> function</a:t>
            </a:r>
            <a:r>
              <a:rPr lang="en-CA" sz="2400" dirty="0">
                <a:solidFill>
                  <a:schemeClr val="bg1"/>
                </a:solidFill>
              </a:rPr>
              <a:t> to get data from the user.</a:t>
            </a:r>
          </a:p>
          <a:p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input() </a:t>
            </a:r>
            <a:r>
              <a:rPr lang="en-CA" sz="2400" b="1" dirty="0">
                <a:solidFill>
                  <a:schemeClr val="bg1"/>
                </a:solidFill>
              </a:rPr>
              <a:t>returns the response as a string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You can provide a </a:t>
            </a:r>
            <a:r>
              <a:rPr lang="en-CA" sz="2400" b="1" dirty="0">
                <a:solidFill>
                  <a:schemeClr val="bg1"/>
                </a:solidFill>
              </a:rPr>
              <a:t>prompt</a:t>
            </a:r>
            <a:r>
              <a:rPr lang="en-CA" sz="2400" dirty="0">
                <a:solidFill>
                  <a:schemeClr val="bg1"/>
                </a:solidFill>
              </a:rPr>
              <a:t> to guide the user.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5ACE1-4038-2C78-6133-589E64351973}"/>
              </a:ext>
            </a:extLst>
          </p:cNvPr>
          <p:cNvSpPr txBox="1"/>
          <p:nvPr/>
        </p:nvSpPr>
        <p:spPr>
          <a:xfrm>
            <a:off x="1117597" y="3871724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age =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input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(“how old are you?”)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... how old are you?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562E2-1675-6204-4848-D9A97E8FE83F}"/>
              </a:ext>
            </a:extLst>
          </p:cNvPr>
          <p:cNvSpPr/>
          <p:nvPr/>
        </p:nvSpPr>
        <p:spPr>
          <a:xfrm>
            <a:off x="4897338" y="4318218"/>
            <a:ext cx="3626753" cy="2857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E75E3-6D0C-77E2-CB23-DD33F4DF946B}"/>
              </a:ext>
            </a:extLst>
          </p:cNvPr>
          <p:cNvSpPr txBox="1"/>
          <p:nvPr/>
        </p:nvSpPr>
        <p:spPr>
          <a:xfrm>
            <a:off x="1117596" y="4899653"/>
            <a:ext cx="8739326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age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whatever was entered by the user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BEB6D-DFAF-9C15-FDBE-03874B7FE518}"/>
              </a:ext>
            </a:extLst>
          </p:cNvPr>
          <p:cNvSpPr txBox="1"/>
          <p:nvPr/>
        </p:nvSpPr>
        <p:spPr>
          <a:xfrm>
            <a:off x="7849503" y="2182294"/>
            <a:ext cx="4055837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0" i="1" dirty="0">
                <a:solidFill>
                  <a:schemeClr val="bg1"/>
                </a:solidFill>
                <a:effectLst/>
              </a:rPr>
              <a:t>Note. 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Be careful when using `input()` -- there's no guarantee that the user will answer in a way you expect!</a:t>
            </a:r>
          </a:p>
          <a:p>
            <a:r>
              <a:rPr lang="en-CA" sz="2400" dirty="0">
                <a:solidFill>
                  <a:schemeClr val="bg1"/>
                </a:solidFill>
              </a:rPr>
              <a:t>e.g., “twenty”, “20 years old”</a:t>
            </a:r>
            <a:endParaRPr lang="en-CA" sz="2400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741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26A51-C2ED-04ED-78AB-4128D08B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AC1A-2263-5698-FF4B-08FCB944B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Converting user input for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FCB2B-9E59-C7D6-9E25-DB664F370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input() </a:t>
            </a:r>
            <a:r>
              <a:rPr lang="en-CA" sz="2400" b="1" dirty="0">
                <a:solidFill>
                  <a:schemeClr val="bg1"/>
                </a:solidFill>
              </a:rPr>
              <a:t>always returns a string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To do </a:t>
            </a:r>
            <a:r>
              <a:rPr lang="en-CA" sz="2400" b="1" dirty="0">
                <a:solidFill>
                  <a:schemeClr val="bg1"/>
                </a:solidFill>
              </a:rPr>
              <a:t>arithmetic</a:t>
            </a:r>
            <a:r>
              <a:rPr lang="en-CA" sz="2400" dirty="0">
                <a:solidFill>
                  <a:schemeClr val="bg1"/>
                </a:solidFill>
              </a:rPr>
              <a:t>, we must </a:t>
            </a:r>
            <a:r>
              <a:rPr lang="en-CA" sz="2400" b="1" dirty="0">
                <a:solidFill>
                  <a:schemeClr val="bg1"/>
                </a:solidFill>
              </a:rPr>
              <a:t>convert the input</a:t>
            </a:r>
            <a:r>
              <a:rPr lang="en-CA" sz="2400" dirty="0">
                <a:solidFill>
                  <a:schemeClr val="bg1"/>
                </a:solidFill>
              </a:rPr>
              <a:t> to a number: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int()</a:t>
            </a:r>
            <a:r>
              <a:rPr lang="en-CA" sz="2400" dirty="0">
                <a:solidFill>
                  <a:schemeClr val="bg1"/>
                </a:solidFill>
              </a:rPr>
              <a:t>or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016FD-547B-4B28-AFAC-98A8FE99CF1F}"/>
              </a:ext>
            </a:extLst>
          </p:cNvPr>
          <p:cNvSpPr txBox="1"/>
          <p:nvPr/>
        </p:nvSpPr>
        <p:spPr>
          <a:xfrm>
            <a:off x="1117597" y="2678355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input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(“how old are you?”)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... how old are you?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360D78-2D44-F472-7182-34E06E52E25F}"/>
              </a:ext>
            </a:extLst>
          </p:cNvPr>
          <p:cNvSpPr/>
          <p:nvPr/>
        </p:nvSpPr>
        <p:spPr>
          <a:xfrm>
            <a:off x="4943833" y="3143296"/>
            <a:ext cx="3626753" cy="2857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DC8DB-B64C-3574-238F-26FCCBA417A7}"/>
              </a:ext>
            </a:extLst>
          </p:cNvPr>
          <p:cNvSpPr txBox="1"/>
          <p:nvPr/>
        </p:nvSpPr>
        <p:spPr>
          <a:xfrm>
            <a:off x="1117596" y="3706284"/>
            <a:ext cx="8739326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i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(age) + 1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Your age next year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1694C-51F2-D907-FC89-EFA483AA514A}"/>
              </a:ext>
            </a:extLst>
          </p:cNvPr>
          <p:cNvSpPr txBox="1"/>
          <p:nvPr/>
        </p:nvSpPr>
        <p:spPr>
          <a:xfrm>
            <a:off x="7644392" y="4093319"/>
            <a:ext cx="4055837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0" i="1" dirty="0">
                <a:solidFill>
                  <a:schemeClr val="bg1"/>
                </a:solidFill>
                <a:effectLst/>
              </a:rPr>
              <a:t>This only works if the user enters a valid integer  (e.g., “20”)</a:t>
            </a:r>
          </a:p>
          <a:p>
            <a:r>
              <a:rPr lang="en-CA" sz="2400" i="1" dirty="0">
                <a:solidFill>
                  <a:schemeClr val="bg1"/>
                </a:solidFill>
              </a:rPr>
              <a:t>If users enter something non-numeric, we get a </a:t>
            </a:r>
            <a:r>
              <a:rPr lang="en-CA" sz="2400" i="1" dirty="0" err="1">
                <a:solidFill>
                  <a:schemeClr val="bg1"/>
                </a:solidFill>
              </a:rPr>
              <a:t>ValueError</a:t>
            </a:r>
            <a:endParaRPr lang="en-CA" sz="2400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6192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E8C1B-8F33-9CF1-D69E-00888167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1294-3283-96C4-6AE8-6160CDF3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Input 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EAFA-8D1F-DB07-3370-046E15F0A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  <a:cs typeface="Calibri" panose="020F0502020204030204" pitchFamily="34" charset="0"/>
              </a:rPr>
              <a:t>We can combine input() with functions!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163F3-1518-66AB-A48D-09B9570F009A}"/>
              </a:ext>
            </a:extLst>
          </p:cNvPr>
          <p:cNvSpPr txBox="1"/>
          <p:nvPr/>
        </p:nvSpPr>
        <p:spPr>
          <a:xfrm>
            <a:off x="1117597" y="2678355"/>
            <a:ext cx="8739325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ef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greet_user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name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input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(“Enter your name:”)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print(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f”Hello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, {name}!”)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greet_user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()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95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260BF-D837-DB74-CA57-304637E08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0EBF-1AE5-362A-A0DB-99E7913F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User Input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78C20-4254-F54B-372E-B4A02AA83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1. What does the input() function return?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An integer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 float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 string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user’s exact data type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41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9BEBB-0DE0-D7EB-2A39-29E3E248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579A-AF04-41CB-2D80-F1DE1E66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User Input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6BF8A-A996-EFBF-ED15-051C32D5F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will happen when this code is run and the user enters 5</a:t>
            </a:r>
            <a:r>
              <a:rPr lang="en-CA" sz="2400" dirty="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Prints 6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Prints 51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Causes an error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Prints nothing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87408-69DA-AF5A-3912-ABC6E9330862}"/>
              </a:ext>
            </a:extLst>
          </p:cNvPr>
          <p:cNvSpPr txBox="1"/>
          <p:nvPr/>
        </p:nvSpPr>
        <p:spPr>
          <a:xfrm>
            <a:off x="1327147" y="2070810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input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(“Enter a number: ”)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p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(num + 1)</a:t>
            </a:r>
          </a:p>
        </p:txBody>
      </p:sp>
    </p:spTree>
    <p:extLst>
      <p:ext uri="{BB962C8B-B14F-4D97-AF65-F5344CB8AC3E}">
        <p14:creationId xmlns:p14="http://schemas.microsoft.com/office/powerpoint/2010/main" val="205161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EC541-F421-B29A-3A84-7F0BDD01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95C3-F4B1-E841-FF57-A5D0B1AD2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User Input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996C8-EC86-1070-2D01-B973DD795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Which line correctly converts user input so arithmetic can be done?</a:t>
            </a: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Prints 6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Prints 51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Causes an error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Prints nothing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FC078-02E5-F357-61A1-4907CAE2FE2A}"/>
              </a:ext>
            </a:extLst>
          </p:cNvPr>
          <p:cNvSpPr txBox="1"/>
          <p:nvPr/>
        </p:nvSpPr>
        <p:spPr>
          <a:xfrm>
            <a:off x="1346194" y="240719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 = input(int("How old are you?"))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7AD10-0260-E8DB-1E84-349F25F13018}"/>
              </a:ext>
            </a:extLst>
          </p:cNvPr>
          <p:cNvSpPr txBox="1"/>
          <p:nvPr/>
        </p:nvSpPr>
        <p:spPr>
          <a:xfrm>
            <a:off x="1346196" y="2935442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 = int(input("How old are you?"))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41588-FF38-11CE-446C-D3AFD04FDCA5}"/>
              </a:ext>
            </a:extLst>
          </p:cNvPr>
          <p:cNvSpPr txBox="1"/>
          <p:nvPr/>
        </p:nvSpPr>
        <p:spPr>
          <a:xfrm>
            <a:off x="1346194" y="3421815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 = input("How old are you?")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D687E0-D25A-B055-29C3-543922604B69}"/>
              </a:ext>
            </a:extLst>
          </p:cNvPr>
          <p:cNvSpPr txBox="1"/>
          <p:nvPr/>
        </p:nvSpPr>
        <p:spPr>
          <a:xfrm>
            <a:off x="1346194" y="3922831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i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nput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(age) = int("How old are you?")</a:t>
            </a:r>
          </a:p>
        </p:txBody>
      </p:sp>
    </p:spTree>
    <p:extLst>
      <p:ext uri="{BB962C8B-B14F-4D97-AF65-F5344CB8AC3E}">
        <p14:creationId xmlns:p14="http://schemas.microsoft.com/office/powerpoint/2010/main" val="326480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49CFF-50AB-E0F7-BA1B-5451FC32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1731-A654-0B6F-4DBA-C7778A30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0942-0BFA-C53B-C9B6-AE250C3C9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Ask the user for their favorite color and print it back to them</a:t>
            </a: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373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BD1B3-127A-8C9A-1CEE-C8316E06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C19B-80B3-068F-0537-3F3F5074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</a:t>
            </a:r>
            <a:r>
              <a:rPr lang="en-CA" dirty="0">
                <a:solidFill>
                  <a:schemeClr val="bg1"/>
                </a:solidFill>
              </a:rPr>
              <a:t># </a:t>
            </a:r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08EF3-3F0C-316F-EAD3-9C1394E0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Ask the user for their first name using input().</a:t>
            </a: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Ask the user for their last name using input().</a:t>
            </a: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Print the full name by combining the two inputs.</a:t>
            </a: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24B6F-AF41-8F75-A7D5-6E9980C3BCE0}"/>
              </a:ext>
            </a:extLst>
          </p:cNvPr>
          <p:cNvSpPr txBox="1"/>
          <p:nvPr/>
        </p:nvSpPr>
        <p:spPr>
          <a:xfrm>
            <a:off x="1375475" y="4116069"/>
            <a:ext cx="967481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Tip: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Recall how we concatenate strings!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Also, use a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space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between first and last names when combining them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366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545</Words>
  <Application>Microsoft Macintosh PowerPoint</Application>
  <PresentationFormat>Widescreen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Courier New</vt:lpstr>
      <vt:lpstr>1_Office Theme</vt:lpstr>
      <vt:lpstr>06. input</vt:lpstr>
      <vt:lpstr>Learning objectives</vt:lpstr>
      <vt:lpstr>Getting user input</vt:lpstr>
      <vt:lpstr>Converting user input for arithmetic</vt:lpstr>
      <vt:lpstr>Input in functions</vt:lpstr>
      <vt:lpstr>Quiz: User Input in Python</vt:lpstr>
      <vt:lpstr>Quiz: User Input in Python</vt:lpstr>
      <vt:lpstr>Quiz: User Input in Python</vt:lpstr>
      <vt:lpstr>Exercise #1</vt:lpstr>
      <vt:lpstr>Exercise #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15</cp:revision>
  <dcterms:created xsi:type="dcterms:W3CDTF">2026-01-08T19:01:42Z</dcterms:created>
  <dcterms:modified xsi:type="dcterms:W3CDTF">2026-04-10T17:12:02Z</dcterms:modified>
</cp:coreProperties>
</file>