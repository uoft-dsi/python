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22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9" r:id="rId9"/>
    <p:sldId id="351" r:id="rId10"/>
    <p:sldId id="352" r:id="rId11"/>
    <p:sldId id="353" r:id="rId12"/>
    <p:sldId id="354" r:id="rId13"/>
    <p:sldId id="355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357" r:id="rId24"/>
    <p:sldId id="358" r:id="rId25"/>
    <p:sldId id="359" r:id="rId26"/>
    <p:sldId id="360" r:id="rId27"/>
    <p:sldId id="361" r:id="rId28"/>
    <p:sldId id="292" r:id="rId29"/>
    <p:sldId id="293" r:id="rId30"/>
    <p:sldId id="294" r:id="rId31"/>
    <p:sldId id="296" r:id="rId32"/>
    <p:sldId id="295" r:id="rId33"/>
    <p:sldId id="297" r:id="rId34"/>
    <p:sldId id="362" r:id="rId35"/>
    <p:sldId id="364" r:id="rId36"/>
    <p:sldId id="363" r:id="rId37"/>
    <p:sldId id="365" r:id="rId38"/>
    <p:sldId id="298" r:id="rId39"/>
    <p:sldId id="299" r:id="rId40"/>
    <p:sldId id="300" r:id="rId41"/>
    <p:sldId id="301" r:id="rId42"/>
    <p:sldId id="302" r:id="rId43"/>
    <p:sldId id="303" r:id="rId44"/>
    <p:sldId id="304" r:id="rId45"/>
    <p:sldId id="305" r:id="rId46"/>
    <p:sldId id="306" r:id="rId47"/>
    <p:sldId id="307" r:id="rId48"/>
    <p:sldId id="308" r:id="rId49"/>
    <p:sldId id="309" r:id="rId50"/>
    <p:sldId id="310" r:id="rId51"/>
    <p:sldId id="311" r:id="rId52"/>
    <p:sldId id="312" r:id="rId53"/>
    <p:sldId id="313" r:id="rId54"/>
    <p:sldId id="366" r:id="rId55"/>
    <p:sldId id="367" r:id="rId56"/>
    <p:sldId id="368" r:id="rId57"/>
    <p:sldId id="369" r:id="rId58"/>
    <p:sldId id="314" r:id="rId59"/>
    <p:sldId id="315" r:id="rId60"/>
    <p:sldId id="371" r:id="rId61"/>
    <p:sldId id="372" r:id="rId62"/>
    <p:sldId id="373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74" r:id="rId71"/>
    <p:sldId id="375" r:id="rId72"/>
    <p:sldId id="377" r:id="rId73"/>
    <p:sldId id="376" r:id="rId74"/>
    <p:sldId id="323" r:id="rId75"/>
    <p:sldId id="324" r:id="rId76"/>
    <p:sldId id="325" r:id="rId77"/>
    <p:sldId id="326" r:id="rId78"/>
    <p:sldId id="327" r:id="rId79"/>
    <p:sldId id="328" r:id="rId80"/>
    <p:sldId id="378" r:id="rId81"/>
    <p:sldId id="379" r:id="rId82"/>
    <p:sldId id="380" r:id="rId83"/>
    <p:sldId id="381" r:id="rId84"/>
    <p:sldId id="382" r:id="rId85"/>
    <p:sldId id="329" r:id="rId86"/>
    <p:sldId id="330" r:id="rId87"/>
    <p:sldId id="331" r:id="rId88"/>
    <p:sldId id="332" r:id="rId89"/>
    <p:sldId id="333" r:id="rId90"/>
    <p:sldId id="334" r:id="rId91"/>
    <p:sldId id="335" r:id="rId92"/>
    <p:sldId id="336" r:id="rId93"/>
    <p:sldId id="337" r:id="rId94"/>
    <p:sldId id="383" r:id="rId95"/>
    <p:sldId id="384" r:id="rId96"/>
    <p:sldId id="385" r:id="rId97"/>
    <p:sldId id="386" r:id="rId98"/>
    <p:sldId id="338" r:id="rId99"/>
    <p:sldId id="339" r:id="rId100"/>
    <p:sldId id="340" r:id="rId101"/>
    <p:sldId id="341" r:id="rId102"/>
    <p:sldId id="342" r:id="rId103"/>
    <p:sldId id="387" r:id="rId104"/>
    <p:sldId id="388" r:id="rId105"/>
    <p:sldId id="389" r:id="rId106"/>
    <p:sldId id="344" r:id="rId107"/>
    <p:sldId id="345" r:id="rId108"/>
    <p:sldId id="343" r:id="rId109"/>
    <p:sldId id="346" r:id="rId110"/>
    <p:sldId id="390" r:id="rId111"/>
    <p:sldId id="391" r:id="rId112"/>
    <p:sldId id="347" r:id="rId113"/>
    <p:sldId id="348" r:id="rId114"/>
    <p:sldId id="349" r:id="rId115"/>
    <p:sldId id="350" r:id="rId116"/>
    <p:sldId id="392" r:id="rId117"/>
    <p:sldId id="393" r:id="rId118"/>
    <p:sldId id="394" r:id="rId119"/>
    <p:sldId id="395" r:id="rId120"/>
    <p:sldId id="396" r:id="rId1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549"/>
    <p:restoredTop sz="97030"/>
  </p:normalViewPr>
  <p:slideViewPr>
    <p:cSldViewPr snapToGrid="0">
      <p:cViewPr varScale="1">
        <p:scale>
          <a:sx n="112" d="100"/>
          <a:sy n="112" d="100"/>
        </p:scale>
        <p:origin x="216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presProps" Target="pres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viewProps" Target="view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A7DC34-8B27-6C47-857A-B7F3DFC4D9CE}" type="datetimeFigureOut">
              <a:rPr lang="en-US" smtClean="0"/>
              <a:t>4/10/26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0AF73F-E641-F34B-A4EF-EAA46269E3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403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b="1" dirty="0"/>
              <a:t>Hi everyone, I’m Julia — a PhD candidate at the Institute of Medical Science here at the University of Toronto.</a:t>
            </a:r>
          </a:p>
          <a:p>
            <a:br>
              <a:rPr lang="en-CA" dirty="0"/>
            </a:br>
            <a:endParaRPr lang="en-CA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sz="1200" dirty="0"/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21035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2800" dirty="0"/>
              <a:t>Just to orient everyone, here are our learning objectives for today’s session.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48517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EC71F-809F-1544-92E7-1EC4094B0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8CF66B-6DBA-29AF-FABD-8D23099F0A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3CD8BC-F615-2155-08D3-321EC75E86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2800" dirty="0"/>
              <a:t>Just to orient everyone, here are our learning objectives for today’s session.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5C4344-84F2-6BF3-5C91-C014274C4D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59262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6F7E3-ED32-C4CD-6BDC-8981BFAAA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BCE484-F354-6D93-CAD1-E627BD1B3F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F0F773-781C-E601-4BFD-1104790E1E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2800" dirty="0"/>
              <a:t>Just to orient everyone, here are our learning objectives for today’s session.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D60DAF-76E4-03DD-68A8-BADCAF3E18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52131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9F77A-C0CC-5894-59F4-2D6D2D94D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767DDB-62F7-288B-3861-A2E983607D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87F079-8ECF-435D-A986-2B39A19AF4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306635-8244-0DC8-09CC-EB11BDF2C8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25334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810F5-AFF3-CB13-1514-CA2490928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69E1FF-DFA3-8904-343B-2BD500727E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C65B60-F33A-A631-F5D2-11885140BC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138FD7-F6EB-355E-6359-76A4D511C3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913288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DA0AC-376A-4D11-C8A1-5C5B658ED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889702-9099-2FB5-FD2F-D1D0D7E278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4E7BBE-85AF-266F-64D1-753B13802D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sz="2800" dirty="0"/>
              <a:t>Just to orient everyone, here are our learning objectives for today’s session.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2024DA-3335-9E15-5F22-5FC11745B9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623943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A7BBA-F83B-08B8-32BC-6718F2BF0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3B79CB-EF8A-8994-78A1-0F908BD24E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EAAABB-7C6F-08A7-499D-3B2CBF0A6A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BABB2A-DF65-E35D-2549-322C3E44CC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62433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EE8F16-323C-30C9-748E-92F9E92A4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45916C-17BE-5C41-5322-24515E176D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BBA1BF-6143-75F8-9A6E-9FFB71E598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9B35A6-D77F-E454-7774-D226E300FF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84485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F813C7-C199-F7DE-5875-319710A31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3262DD-09A0-D491-9F36-D07B780150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27E89A-412E-8F85-4EDE-64C7A42801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DA4B95-30CB-99AA-E5A6-59BBC9900C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66792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A5B94-F4AC-18B1-E6A1-F5A10D3534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BCFF0B-7C91-17CB-78B2-282AA6DB2B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5E1515-C8B1-3A67-3FC6-F26203ABD2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746E03-4C9D-74FE-7D07-BCEC87FA73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04062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3EC77-FCD6-081A-CF72-8CC1C59DB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1F21DF-6E9B-5B37-3C2D-4F3FB81C3B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4CDD3A-08F7-F5D2-DCB6-97E3D3CA50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F8495A-EE78-12F1-E588-35959907ED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19037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97A67-7F5F-9F10-0135-42769F9E5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36951F-D88C-263A-1D85-C4183550A0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15F7F5-A80A-244A-2300-28E02417F0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450CE5-F275-E7AC-A1D5-B7EF5AA632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14048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3BC30-6C6C-8BCB-D2C5-315ED69E7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CF7E04-E988-8A14-8AE5-830AEB5D5A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5EBFDA-CEAE-70BD-A9AD-37F25593A4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7EFAB7-0B44-B72C-36D9-55F645BF2A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4469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C7273-087F-1FBD-4090-AA37EFCDD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C014A0-D2CF-82D1-76E8-E07248D028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9693F9-7C14-8883-500A-974D3385B6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0818EB-E369-4789-C5B9-5B3109EECB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37806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4F2EB-340A-5E22-0741-495921F6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8AAB8C-E52E-B8EB-3162-DE035F1534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45C72B-AF7D-EE0F-A437-4B9D35F978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49C0A6-019B-7802-807E-55EBBEF0E7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5940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A3A73-2693-3D8B-BFC8-061797AAC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F6E057-3BED-2AFE-57C1-15E22DFA3F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8CCA5A-0D0E-275E-2458-7C91E11A74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2EED07-BC1E-171D-6241-18C5981D7B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110902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0673E-6601-D600-ECBC-0BC2A2655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9E31C2-0DFC-04E0-0E59-2DA22BACD1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79CE85-C402-7866-8597-B715C6C144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6EEB90-ED0C-E55F-635F-5AD29A7368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34062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9F2BB-FDFD-A900-5681-F68602460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8BCABF-955A-7C17-C8C0-952CA906B4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CB7F7D-90CA-5D7C-7A25-5C74CE5632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44E804-2A6C-DE84-DE7E-956C1A744F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61283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25959-E524-48D3-38BF-524C028F0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168FEA-102A-2421-A7AF-CB58EDD1E2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4E786C-2932-0BDE-45E1-A7615773D9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F6E2DA-BA3C-B69C-DB8D-56CDA55675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85886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8119B-BEBA-7037-EDDF-653205DF1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491FA7-E7BF-84DE-A4B8-27982A70CA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F5850C-08AD-C720-D9F6-0BA1A7B3BD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03E80F-5C8F-4478-991A-A94BE7144C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342701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30B0F-B7AD-66D4-BA7E-D2D5E7278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B48E03-4344-1E2F-8953-FFCF88586D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FA2EC9-2040-3BA1-63CD-BC32C0176A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FAEB23-1393-C11E-20C8-84AE697B89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239794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5E808-507C-52A0-D7FF-001DAE6F7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D632D1-4D4A-D15C-7844-B6A302EBA1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A08A8F-7A6A-6B9E-CCF7-70954C28BE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56B46A-A493-4E8A-49A6-993358628D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3189527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B0D08-90AF-2F9F-45A2-C22AC9EFE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CFA0E4-219B-3843-B19B-0881C38C1A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B5E89B-BB85-66BC-F00A-3EE247F306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9ACD93-34A1-ADDD-FFB0-9335505CA0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958047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6FEE1-0E73-FE22-8A4B-8BEC8CC12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8D4B95-E537-A8FF-D816-219E9EA484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7E489D-8CC6-126E-96C4-73EF2D706E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27B828-411F-C3B3-D652-C8A64CFC27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40883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D0C01-93D6-3D60-720B-21749BD4D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14F497-4E10-77F2-DDFB-DCA409044F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12F9BB-BE49-89AA-87A9-CD1DF17934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0EDC04-9141-3D3A-A2CF-421B3D124B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124000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9C19E-5F2F-DBED-605E-CEA5D1CA3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EEF707-E2FB-47C5-CF32-994FA5752E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6C0A70-3DBB-D113-FB4F-3F3F47B02A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39C18F-4E75-0B96-3EBC-9578381556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073492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0FEAA-E7B8-2801-0B6D-209F04027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F41450-9DFD-C3E8-9C4E-532AC3E1CA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7406BE-608E-101A-6495-4F503C4E16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18777A-958C-732B-2E98-958AA2DDC3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989641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B8DC3-A9A5-03C5-332F-963C8D3FA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66C5C2-8BB6-C096-1D17-16BD4D37F8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865AA3-B193-CD47-D4C7-5CB0FC3147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043BE8-7A4D-5CC6-7A20-B747FB9758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1735777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AEB8F-6407-BFAD-266C-0F3864F95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C6A8FD-D88B-9AE4-1190-E2BB33D97C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10FA39-22E6-23CA-0114-FCAFD6E432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12B309-9C40-5258-8718-2E08D0EFE5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852459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C88D5-745E-E0A4-D139-588832A23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3B9795-F22D-6F58-29B7-DF4F003DDD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148354-661C-3EC3-4C09-D8905DD1B0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35B0C4-AE38-4F69-8B03-37A9D91D03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776695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CFF7F-FB25-D8CB-0BBB-7F7884D9C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ED0C6E-9E5B-BE74-705F-9C5791D3BB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35A0B8-9DBF-F38B-B9A5-FC652314B3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869364-6F11-05CE-3723-DB59742582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344904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2667A-6BBD-608D-A48D-4F07ACE4E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F13A49-79CE-5417-1014-F9943C9E78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E537E8-E81D-1617-6ED1-FEB506F7DA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A665B9-96EB-E405-902E-B0B2238A88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677631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C78B6-7071-20E6-2AE7-FDC63DF5E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A5831E-D71F-06C6-A04D-82B4FF4D7E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043EFF-F84D-0E72-920A-D5FD166840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93C3F9-D219-A8AC-37D2-25BE4AED37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043799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5619B-644B-B953-CAD8-39133DD5B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6A475C-3682-4684-74C9-A500D057D0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8D721C-8D08-658B-EA0F-B9322E29FA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205719-E49C-564B-D3EE-4A4A7FFCA3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277546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F6FC9-36D2-9748-4279-7D10BAE44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522435-DAA8-9D62-61A8-E36AF0BB67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8AC737-4B73-F2FD-A7AF-5C3AB66F7D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4A7A3E-C3EF-3C61-0752-AC369927B3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159752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76693-1ED5-1038-2436-64B4826A0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3E56EA-034C-BBF7-25E3-92BAA1B515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4E55E2-FDBC-4678-A4E2-E284AFF28A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45B3E3-791D-D9B3-8962-837F0D1756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821066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FB950-BB88-AD6F-1BE0-0713659D0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CB1F47-04B7-4DD8-A583-91AAC6DA42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032971-E322-3C4F-5304-F35BD75DC4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CC54AB-3329-99C8-F305-C9143A8787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778592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A3B1F-4980-B864-BEE0-9BA2B194E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DED1BF-0F08-8280-1D96-E6CF3173A4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602DA9-BE4B-B743-4283-CF3216E9D5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8B3226-0ADB-FCCC-B07B-43AE86A698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389751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16EB1-01C2-F2ED-691D-2158C8105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C4F1F5-486F-5BDF-1F0C-A03F28ED9C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068812-2856-2326-E9AD-5E6737F82A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14FB1D-376B-7C09-BAD1-1015C97B87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816762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B6A72-EEF1-08E0-7F3D-0C8DD4342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637295-CCA7-B5A4-0D8C-5DF838BF28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3DD08F-05C0-2399-958D-33E1DB1EB5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DCEFC2-A191-6E2B-9B1B-8D126E9D38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871540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618AA-2DFF-918A-A786-C7DFDEAB4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B5087C-0332-42FC-423E-AFFF3D36FD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15B80A-7F13-BBD7-25A8-C65CAE1C96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40AD15-D2C8-9D44-D274-D0159635E6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5883018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796F5-FA64-F859-0878-0463B4F77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2032B3-15F4-60BC-43CF-D5B069A722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5174CE-49A2-D9DC-E415-CBD27D7397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CE5A77-3353-CA0C-9630-EFB98F2152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688258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DDC6C-3237-C84E-9340-138D0CCAE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3EE819-EF15-4BDA-8A12-D25B07165A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35D741-2AC6-DEDF-7F9D-7B77A1D4D9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B1E69F-0284-66B2-8EE4-0F5A07112C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0922600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81318-D3AE-7CB9-120A-0B40F5C9E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734966-E2DE-DA54-ECED-FF2791C7FA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89BCA2-AE57-3182-941D-72E9A1D568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7BA487-75DA-51A7-598E-01D5556942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441481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86386-7BBF-7830-9FE9-7F7B02637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9CB077-84EC-AB3B-1B2A-0E5EE346A8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5984DF-BB72-4FA9-FB23-8245BD1AD8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3AECC9-C437-F8BB-D145-0957A7847A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722554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A744D-BC81-246E-A455-899ABB317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6D5CFD-4BAF-2870-EC00-FEECFF929E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18A25A-211E-49A5-7FCB-FBC5C22FC1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F81DDC-2D8F-2A8E-0D3B-F9363489D4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177971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4CC0C-FFEA-5B26-7708-F45B21870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8E6271-0564-81BB-9CDA-158EA76750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630A1A-C7CC-B727-5061-58FE473890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346471-D634-79D7-C551-D531E61B3A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489072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25D2D-D3F8-80E9-B8BB-0F321A263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28DA32-1D72-8286-4722-3F718721C7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3DBAF1-66EF-CBE9-2B39-29C0A995BA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EC8EF5-297F-9A68-A084-5317529975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845464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4AC4C-14F5-85A0-3619-DA45DB6A8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689F86-6A9C-AFC9-4C0E-2D1E7B12A4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40BEC1-50BF-8F1E-2459-A3979319B4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C86B50-653F-8DA5-2F23-26E0104AAC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223142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904DD-4BA9-C90F-F46C-FD88D36BA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9E8354-7919-74D8-7198-4BA766B0CE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9956DE-03BF-C02D-2253-92BD8EF664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2EAAF8-CA4E-B549-2BD0-6E47CFE165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595222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652EE-2209-AC81-08ED-97B53152F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E74FB1-92A2-CFF4-950A-94949DF583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424D6B-7228-F5B2-3088-2FEBFF2979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8A0332-FE64-E911-9CF1-E2545E4532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701319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761C3-0AAF-0C74-1451-B7FADF281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2EC0AC-26E7-348B-D90A-AF07582E0E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A296BF-B432-289E-6EC8-8CD81EEEAE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4608C3-6D6D-4666-5B89-B7F58C6C49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455881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96C9F5-C0A9-D623-068C-147F478EB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D470B1-778B-5121-39D6-F43D1222AB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DA9E91-7E11-D146-9E64-B69B1F6263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C07BD-EA78-F1C3-CF18-CABB0D6813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8640807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9313A-74B8-F8A9-36DA-123426C65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1D16D7-D44D-A513-16F9-0D750F0D93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23359F-94FA-44D4-5267-4776E19C77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2097EE-04DE-A738-124E-38C2495F4D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921406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042B0-E178-0D66-CA9C-87894CBC0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5CF2A9-757D-2621-7D20-D323326CBB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012637-E3B6-279F-99F4-C179DA8264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94830E-D857-0934-3F19-11AE0A63CF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79836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8E6D5-1F59-F04A-FCBF-7DE71F0B9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690F6F-861B-83A8-8D26-94CF8838C4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717607-A85B-EEA0-897E-9F3176F868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BB9DFD-5894-93C2-D810-998C19AC6F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3947624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D7C34-1011-5C3B-F7B5-B364E30E4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7474156-F530-1A19-2F08-E684E0DB26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D68387-F930-2749-05D2-58EAF6EC47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D1BD78-6AE3-2789-B490-E0FF65ABF7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9494920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BFFEF-158C-0992-A66F-BB357F53B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345754-7B6B-BD46-A55D-38709E1F41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F2D8CB-1BAD-E51A-E89D-D217E8259A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D17BF8-F75F-DC3C-07F1-58BDF0BDAA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5242980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54F49-5F46-F03E-B95E-180A4BD2B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14B2E5-D596-BB5B-C5A4-4CB348DE27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1B8B76-2D8D-1F02-B5B0-2A9AA27381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4E03E-B0CF-76D6-A808-F85F9A9765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8004394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BF749-DAE8-5C0B-7285-D13B05CEB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AE1618-2EC5-CDF7-FB62-0035E9A6DC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87D351-B3A8-AD18-D6E2-3EA1F2AD9F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FFFBBE-805A-86B0-84A4-E680CFBFDF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2372046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953A3-839D-86FD-39E7-212842489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501C0B-3524-D5F1-C441-434A66E367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67C188-3404-FFB9-E8D4-FF2EA7DA68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5407E2-0E45-5791-E9D5-0357895F31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988856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70167-C210-6FB7-7242-EE048E63E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389821-C28D-DD4C-ADE8-1AF9204FF2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5BB73C-EEAA-1B40-CF45-349ECBD501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DDB556-2E62-51EE-99EA-E91F6FBB40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0248353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7D63E2-B9F1-7089-8A8C-CFCBFF9F7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6D0038-0B96-3665-323C-0625EB0BCC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5863FF-32A8-3FB0-CF41-43FE3192C4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86224C-53E0-F36E-3E9F-61F13DFB9E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6561018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A5E00-97A7-684A-4DF5-6CB51D0A3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E5470F-4643-A67A-F078-06FF976813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D8C57B-DF36-728B-B8B8-6F9E761485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848B07-DE57-C088-6E3A-31F51EABE6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2330987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68298-86F5-CEB6-A411-55E22661F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BFE0F7-84F5-0D31-DEC9-EE047B3CA9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45EECF-5F0B-E313-DC0A-D0D6489EFB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449B9C-B626-8876-E0F9-975612A8A0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156607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4BB67-8AA5-D896-31D1-571803E1D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4BEFD2-6198-7F5E-E05A-29D48470D5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610329-5FEE-9E91-E83B-2E2214B9A1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CECD7-C274-0CC7-D00C-332C95AF66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72025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192E6-2C64-4CB0-C119-92767CA08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BAECEC-8C92-053C-D5EC-47E8C0156F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E24D04-FE41-AAC5-8817-DCB41CB61C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FF6A34-0865-A32A-3C81-07C97D4C15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13844829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1399E-4C60-A79F-4EE8-4DF3F5F1F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77FBAF-F301-8EC9-35BD-9A53892B00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14E5F4-3793-26FB-0C87-53FDC08004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95C290-AB3D-514D-1149-2501CF5232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2982459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BCAA6-21AB-9CC7-CCE6-EA2766C69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A3518F-54A2-B0D7-4BD9-8F0002D44A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83B153-3214-6A65-6D55-6521553CDD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72845C-2496-F3E5-B3D7-EB56F74060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7544197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EC353-C8B5-F254-024C-D372F36EE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B7F7A8-57DC-5B0C-930C-892EA3BBEF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B58CA1-EDFF-4E48-33ED-8A93EE7495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BDBF47-1A3F-8B0A-9D5C-CFBD62B0D4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8813737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4D72E8-9C15-E94E-7908-2045D7DE1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410E06-8452-854B-FCE3-C9480E6A23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39B9EB-172E-6B06-A69B-58F43172F2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44475F-BCBE-3C30-E24B-3773CE75BE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66614534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2B52E-4C17-AB8A-C443-E689818DB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DBDF06-E0E1-F3BD-372D-A960AAF79C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111A98-5760-7B64-9440-86C6FA0FF3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2040A6-0CA6-FDA2-599C-F1793D8087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9961916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2ED5B-2A5F-080D-6FF7-DF301E166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F15502-EA21-FC44-9CC9-23937942A8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1BC5A7-5550-8F7F-F340-DFCE4ABCCE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68EB42-3520-F294-20C4-44AF584512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7679543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B7F3D-3FEC-5FAD-BAEC-6F212C5220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3BF9DB-1259-0164-2B8B-220D377506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CABDDE-90F6-4C43-94F7-FC083EE4B7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91DDAD-54A2-DCD4-B70E-237A295E48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43386438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7D958-96C7-9669-BA73-3A34B4FE2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00EC63-75D8-D591-F034-04CC3D22C8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0BF0D6-907B-BBBB-BF94-B8133E2FA1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FA81CB-2A47-0E57-17BA-ECBCEA2B7C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5747915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84179-4870-69A5-9BE0-62FAD61D6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DB8B46-FAFD-88DB-82E8-BBE5B7BA49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18B01A-0376-DC3D-239E-92E89C0F28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3FD83A-F094-0433-7694-07C8D75DF4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2458487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AD207-7672-D8A6-5C38-EAFE1F4C1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DE671F-AB34-2A56-FA13-1F68B3FFEF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E56AD1-E578-EFEB-2F7C-F04DA5D7F1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820854-FC1A-DED1-1E4D-93EA38E753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9631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9117E-A1DC-22BC-C69B-7C260FE07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151536-219D-314C-24F7-515B14D4F2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DF76F4-7166-3C0F-8245-19DA251DF0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E52C7D-DFD3-7D7F-DF65-52C18A7B84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7438470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E60D8-CF01-E335-78A7-B3A7D77761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6DE8B2-23E4-9580-6C31-B9853660F7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814F4B-8CF7-FDB0-6485-386E901ABE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03A66C-4496-DF07-EFB0-7D32455D5F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5040272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ACDA2-1ACD-331A-4FC3-213F5F301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650712-6497-BE38-5AD2-188D91311B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B39587-F8A9-536D-D39E-897FD0F035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AC2ABA-A110-8483-D246-CE43B9BFFA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440053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6DE04-535D-9CB2-CE26-361B4DE7D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FBD439-DEBC-B1C2-8E59-F37015D8F1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843A4D-B1D0-C36C-7D03-74D8756777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B51873-BE94-AFFB-5162-7851E06348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99254460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4D0A1A-1CCB-4FD3-C766-0124ECFB5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BE6D9A-FDE2-F192-2C46-68138EF037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0FB297-2EA7-2E22-7B84-95BF73EBF8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60150A-D789-527E-AC16-3A2E532EB0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4998028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C54B54-CBBE-00AA-2D54-EE65E3047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85F43A-BB45-D587-34DA-BF1C39F086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3DF0CF-3156-C8E3-D784-3E449B664B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E784DC-C50F-9CBA-51F6-BDE08F142C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710856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4BD25-8BA6-DB2A-31AD-E4CA805F1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A8256F-050B-0BF9-0BBB-C92E18A2EB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E96A72-1C5F-4B91-DD33-34DA455F4F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D4CC93-A1D9-30DA-3D47-8053C5A1F8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0882094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63F3E-DF95-9A34-3E32-3B50A15AF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D8E59B-83C9-244F-385A-A696616CBC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68AD70-03DC-A25A-8188-3F658569FE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C1F3FD-EBD7-CDE4-04DD-8E5A933DD4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5949208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4609D-A402-B8EE-19C5-E46998145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406D7B-7DE7-002B-3D8F-80CE9A4D7A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667DE2-C930-7494-5495-75ECB5EF25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08564B-5206-AFAC-A8DC-3ECD3ED8D5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8452959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BB91C-818A-AF5E-CAED-F8217AF62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85FBF6-9F10-5AAD-0AED-0E9D530FAB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9D0DA9-2BA2-F57C-31A2-2F384A518E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9FF513-C66E-3BA6-C921-F07B2800F5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6612149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04304-27C0-41EC-BF15-2FF9DC7C1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27FAD6-CD74-C980-789E-A260638B70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292E66-5421-3C25-E569-8493F9B327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10BEE0-A513-E073-9525-FC95BA3248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1582353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4672B-5468-32DD-233F-351CAD9F1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AA5C40-A4CD-53AD-812C-606C78B22F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481F29-0EFA-AF31-FACA-FF765EB29B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7FD214-9B2C-C926-C681-CFD72B6FCC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618815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BA977-96B9-FD55-287E-8DD2249B6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D24363-C009-EB2D-024B-5C15F7C238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CA8EA0-7115-EEB8-80A8-0D430974C7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737A82-BF60-4DC6-4B40-B5D6566892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5415947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6E85E-DDFF-D468-4C6D-97BAF787E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D6F0FA-B9EC-798B-CC14-377595B03A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441E0F-FE27-A2CE-08D5-B147873A7A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97EF1B-AE27-5CCF-E333-E97B524355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5678728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C80D4-2E14-E612-D884-3CC8DC0C6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3A154D-2682-E7C0-E7FA-49BCC75832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4EDCDB-40B4-3AD3-4A82-66A0F3A4A3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583C19-5D84-07A6-7AAF-40E7B68C29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51500174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1A7C2-281D-D5DC-D9FD-2574BAC16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25F701-8EC1-BBC4-0108-8AFB974DA9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0A6929-CD7F-FB1D-1833-F52CE41C9F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AD0E1D-239A-0B64-E45D-172F9BC8B7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9767432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BC5AE-7E87-D551-71E3-1AF3C8CFE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BE8353-3C74-C002-CBC8-10AE9FE330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02C311-4B9B-D94E-C6C3-934C06BFEC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C05F11-5B69-F8C3-7F24-5E95DB5905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9726594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4FB1E-65D1-2CDC-2079-9241BBDFE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968B0E-8B5E-C58B-9C1D-82A4097F11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6607D2-A324-3CA8-0A28-B6A4B0CCC6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9DC374-87E5-2343-F25B-6F939A3279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3154869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06CFF-DEC9-763B-0948-F87DB4280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031763-F492-1F71-B1A1-E6CC6B85A6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473E5-DECE-E8CA-1E29-4CDFC9E999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E2A805-4A87-FF98-9565-6C6AB796F8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9491354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5F4F7-C806-D7BC-73E6-C622D3D78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7E4CC6-79D2-388C-4CB8-1255C99183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4AD0F4-63CF-4BF5-5240-E30B47E75B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7877FC-36E1-E761-4968-55CFEC9A0E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0154050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80E7C-E01D-FF5D-AB72-06FF086AE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E636DE-5A4A-E34B-BECF-53451BD830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5EF441-469F-06B3-6B17-8B2927BEEC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34DF45-3E92-62DB-A4B1-2B1FEDF401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335984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1A742-8690-4AAF-2A6C-C261B8B59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009004-ED88-7812-FA09-4BCE0BD4DB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94276C-AA92-F378-6CED-A86343C290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7BA55A-E4AE-834C-11AD-8E1897D71E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2766096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0E363-30B6-8AD4-1B42-3DEC8CC62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755642-2860-7A6E-7A3D-64F9322462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0672DC-D56D-BF6D-E52F-F43C18271B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3B8125-8BFD-D839-6A37-24F9EADC75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385715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E18C9-1B66-2796-A9B4-00BA5292E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6A5BD3-FA45-8EA5-75B4-1C0CB049DE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E20D34-E2EC-B0FA-5876-95E953E043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92492D-5553-FF3F-2A26-2C2F10C4EE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8015604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425B3-C118-68ED-78E8-1BAC5EEEE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0871F7-DC18-1C59-83BA-1D5F846D92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7951EF-EAE1-C00D-C65C-6016F2DE63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10E368-EAB6-0A18-E7F9-A0CE87940D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6346342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447F9-F895-9398-FD1E-050083A06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F1FB7F-EEA5-0CE0-3EC1-BFB00EF970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85E8DB-0892-4D1A-9135-4427EEB024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DF0C25-B2D5-6145-A60C-768F7CD211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7920049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18B6C-C25F-9113-6C7B-1F216C2B4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6B6603-A052-C217-0BD8-D352FB3DB6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678F2C-2BCD-F24B-F3C7-4C4D6BF0F0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40041-C3AF-AD35-C939-9FBA821BDF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3941635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C561D-96E2-CE90-82CA-FFBE94A86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0BE645-12FD-FA7C-9F72-F056D16FB3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1AACA8-4F06-279F-132F-63EC9482CB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424A66-90EB-43DF-16A4-A4E16A10A3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3381938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B4CC2-DEB8-D8CF-0AD0-5D982F439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7EF4DE-0C18-4D18-53BE-C50885CD8D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40CC69-7A4F-E9F5-C339-AB5256D2B4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81C99A-BCE2-48FA-52AE-ED11DD43EE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696147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31E2C-1E54-BEF4-53A6-F6BF16401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829B06-343F-B54A-6D73-6A6F0E20C3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B9F31E-30BA-981F-5199-62F07B0B88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01262E-75C7-E2E1-1D7F-754E1FCA33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3533354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B0459-66F3-2B33-413D-06B5418B1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63CDBA-607E-FB07-19FD-1B4887C193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5A038A-8187-F34D-8278-EC3D7A143A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9DEC20-99C7-C71B-B9F7-3B5495E04E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4550869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CEE6F6-3E4B-3AEC-3B10-986A429B0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8C229A-6354-979F-0924-FD71D3A74C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18541A-C4BE-86FA-2DEE-85F723AAA1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7C59AE-F2FF-928D-F398-1FF2549C3E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3846955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1E258-8E0B-47AE-F6C0-D4013A99F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DF524D-6ED2-822B-4768-4F686252CF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863131-5051-EFF8-4262-D044422C09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7EC1D2-E1F3-DE67-CDC8-F302FB95C5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4169719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3CBF7-1F44-9974-B86D-C99FBD412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894B1B-D5D4-7566-9358-AECBD719B3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F42616-17CC-46F6-9C41-BD85639BFE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7090D-BD89-5EA2-100A-FBB681721E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955536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D8BF3-AC82-8283-4269-8F9D772E6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B93F3F-716D-FB7D-C2BD-D4BF2BBE27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CC16B7-8450-FC53-7ECC-0EA82D3AD5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DD428C-4BD1-A1CA-688E-DBE2A30264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9263217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B47CC-251B-56D7-09BD-4447CE143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141FF1-5DD3-B8E2-0828-5F8706C5A3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8854C8-DBB9-69E9-0313-8C353DB665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9B1F8F-1E53-6F42-455C-ED4D45FEDB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8224456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9531D-FF36-F088-76FE-2EDC59263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A17EED-829D-CD0B-FD59-81524C8DBF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294714-9149-14D5-3844-C7F62CEA0C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A0AC49-2AB8-9BDF-A2E7-56C7CD34FF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25809929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0B647-F326-FCD6-BCA5-62B48A36D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7C8415-D3C4-5D5D-9482-B2F9DB9C73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F2E7DF-06EB-E5D1-6CD6-2C9C251DAC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0EBB27-3B41-F390-94BF-3944337B4B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155721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AD172-727A-BC07-AF7D-5C12CDB74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0F8A4C-149F-88C6-C39C-5C619811C1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AAE0CD-ECAC-9423-E00C-C98BBDA894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EC235D-A5A2-B017-2291-347D8A8AD4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346220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C309F-21B3-8133-C24E-83E9218CD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94169A-1DD1-1448-8F97-A0E67E1B7E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1E232B-7F5C-4B27-05D1-28EEC6BFC9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92FFCD-7D24-B800-943B-1F45FE509C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2952432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00304-E889-DF09-9575-7255AB815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EB1F42-D08A-A991-6E89-996E5B60BB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96EADE-9A35-1930-1FBD-7FA401DB25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9D99F8-71F4-222C-45D2-015B7F1E26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9209586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6864C-4ADA-523F-10A1-0636DC6F0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FA3317-8B9A-4AEF-2923-85F276A00F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D6824A-280F-ACC0-3F96-DC9C9A8925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BA0189-5A39-4051-6C0A-740BF64C7C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6684CCC-3B07-9749-B35D-9DD2CC5B7C8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93350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93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09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461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754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409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912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054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565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083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269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501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C9C1E032-8598-D245-A611-EA3486D3858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4A0F8ABF-90C8-B749-959D-C788298CCB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9688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svg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E1707-777C-7A52-3280-B460A827B0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983190" cy="2387600"/>
          </a:xfrm>
        </p:spPr>
        <p:txBody>
          <a:bodyPr/>
          <a:lstStyle/>
          <a:p>
            <a:pPr algn="l"/>
            <a:r>
              <a:rPr lang="en-US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07. control flow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380620E-E1D9-3EB3-B86A-8BB074B78A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136217"/>
          </a:xfrm>
          <a:solidFill>
            <a:schemeClr val="tx2">
              <a:lumMod val="25000"/>
            </a:schemeClr>
          </a:solidFill>
        </p:spPr>
        <p:txBody>
          <a:bodyPr>
            <a:normAutofit/>
          </a:bodyPr>
          <a:lstStyle/>
          <a:p>
            <a:pPr algn="l"/>
            <a:endParaRPr lang="en-US" sz="1400" b="1" dirty="0"/>
          </a:p>
          <a:p>
            <a:pPr algn="l"/>
            <a:r>
              <a:rPr lang="en-US" b="1" dirty="0"/>
              <a:t>Data Science Institute | Python</a:t>
            </a:r>
          </a:p>
          <a:p>
            <a:pPr algn="l"/>
            <a:endParaRPr lang="en-US" sz="1400" dirty="0"/>
          </a:p>
          <a:p>
            <a:pPr algn="l"/>
            <a:endParaRPr lang="en-US" dirty="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017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2B004-DEF5-406C-8AD6-3F634E4E8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BCF6B-5C58-D402-B42A-C11166569E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CA" sz="2400" dirty="0">
                <a:solidFill>
                  <a:schemeClr val="bg1"/>
                </a:solidFill>
              </a:rPr>
              <a:t>Be able to use Boolean values and logical operators to build conditions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CA" sz="2400" dirty="0">
                <a:solidFill>
                  <a:schemeClr val="bg1"/>
                </a:solidFill>
                <a:cs typeface="Calibri Light" panose="020F0302020204030204" pitchFamily="34" charset="0"/>
              </a:rPr>
              <a:t>Write conditional statements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CA" sz="2400" dirty="0">
                <a:solidFill>
                  <a:schemeClr val="bg1"/>
                </a:solidFill>
                <a:cs typeface="Calibri Light" panose="020F0302020204030204" pitchFamily="34" charset="0"/>
              </a:rPr>
              <a:t>Work with collections of values and apply specific operations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CA" sz="2400" dirty="0">
                <a:solidFill>
                  <a:schemeClr val="bg1"/>
                </a:solidFill>
                <a:cs typeface="Calibri Light" panose="020F0302020204030204" pitchFamily="34" charset="0"/>
              </a:rPr>
              <a:t>Use iterations to </a:t>
            </a:r>
            <a:r>
              <a:rPr lang="en-CA" sz="2400">
                <a:solidFill>
                  <a:schemeClr val="bg1"/>
                </a:solidFill>
                <a:cs typeface="Calibri Light" panose="020F0302020204030204" pitchFamily="34" charset="0"/>
              </a:rPr>
              <a:t>repeat actions</a:t>
            </a:r>
            <a:endParaRPr lang="en-US" sz="2400" dirty="0">
              <a:solidFill>
                <a:schemeClr val="bg1"/>
              </a:solidFill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9353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B77EF7-789E-0D9A-543A-3746A9DC3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D25DA-FDB6-0D32-DCE5-37A71DD6E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What is a Boolean?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BBC73B-5B65-D0F3-CCEE-8F72FD28FA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r>
              <a:rPr lang="en-CA" sz="2400" dirty="0">
                <a:solidFill>
                  <a:schemeClr val="bg1"/>
                </a:solidFill>
              </a:rPr>
              <a:t>A </a:t>
            </a:r>
            <a:r>
              <a:rPr lang="en-CA" sz="2400" b="1" dirty="0">
                <a:solidFill>
                  <a:schemeClr val="bg1"/>
                </a:solidFill>
              </a:rPr>
              <a:t>Boolean</a:t>
            </a:r>
            <a:r>
              <a:rPr lang="en-CA" sz="2400" dirty="0">
                <a:solidFill>
                  <a:schemeClr val="bg1"/>
                </a:solidFill>
              </a:rPr>
              <a:t> (bool) is a data type with only two possible values:</a:t>
            </a:r>
          </a:p>
          <a:p>
            <a:pPr lvl="1"/>
            <a:r>
              <a:rPr lang="en-CA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</a:p>
          <a:p>
            <a:pPr lvl="1"/>
            <a:r>
              <a:rPr lang="en-CA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</a:p>
          <a:p>
            <a:r>
              <a:rPr lang="en-CA" sz="2400" dirty="0">
                <a:solidFill>
                  <a:schemeClr val="bg1"/>
                </a:solidFill>
              </a:rPr>
              <a:t>Booleans are often used to:</a:t>
            </a:r>
          </a:p>
          <a:p>
            <a:pPr lvl="1"/>
            <a:r>
              <a:rPr lang="en-CA" dirty="0">
                <a:solidFill>
                  <a:schemeClr val="bg1"/>
                </a:solidFill>
              </a:rPr>
              <a:t>Make decisions</a:t>
            </a:r>
          </a:p>
          <a:p>
            <a:pPr lvl="1"/>
            <a:r>
              <a:rPr lang="en-CA" dirty="0">
                <a:solidFill>
                  <a:schemeClr val="bg1"/>
                </a:solidFill>
              </a:rPr>
              <a:t>Compare values </a:t>
            </a:r>
            <a:r>
              <a:rPr lang="en-CA" dirty="0">
                <a:solidFill>
                  <a:schemeClr val="bg1"/>
                </a:solidFill>
                <a:sym typeface="Wingdings" pitchFamily="2" charset="2"/>
              </a:rPr>
              <a:t> Logic operators are often used with comparisons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&gt;</a:t>
            </a:r>
            <a:r>
              <a:rPr lang="en-CA" sz="2400" dirty="0">
                <a:solidFill>
                  <a:schemeClr val="bg1"/>
                </a:solidFill>
                <a:sym typeface="Wingdings" pitchFamily="2" charset="2"/>
              </a:rPr>
              <a:t> greater than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&lt;</a:t>
            </a:r>
            <a:r>
              <a:rPr lang="en-CA" sz="2400" dirty="0">
                <a:solidFill>
                  <a:schemeClr val="bg1"/>
                </a:solidFill>
                <a:sym typeface="Wingdings" pitchFamily="2" charset="2"/>
              </a:rPr>
              <a:t> less than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==</a:t>
            </a:r>
            <a:r>
              <a:rPr lang="en-CA" sz="2400" dirty="0">
                <a:solidFill>
                  <a:schemeClr val="bg1"/>
                </a:solidFill>
                <a:sym typeface="Wingdings" pitchFamily="2" charset="2"/>
              </a:rPr>
              <a:t> equal to</a:t>
            </a:r>
            <a:endParaRPr lang="en-CA" sz="2400" dirty="0">
              <a:solidFill>
                <a:schemeClr val="bg1"/>
              </a:solidFill>
            </a:endParaRPr>
          </a:p>
          <a:p>
            <a:pPr lvl="1"/>
            <a:r>
              <a:rPr lang="en-CA" dirty="0">
                <a:solidFill>
                  <a:schemeClr val="bg1"/>
                </a:solidFill>
              </a:rPr>
              <a:t>Control program flow (e.g., if statements)</a:t>
            </a:r>
          </a:p>
        </p:txBody>
      </p:sp>
    </p:spTree>
    <p:extLst>
      <p:ext uri="{BB962C8B-B14F-4D97-AF65-F5344CB8AC3E}">
        <p14:creationId xmlns:p14="http://schemas.microsoft.com/office/powerpoint/2010/main" val="2207413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6BD76F-9263-771B-D350-85A97D7AA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B33B0-D579-9A63-650D-3CF7D3E98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Logical (or Boolean)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AE43DF-3BBD-45D4-B5A0-0E0DD9D86B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r>
              <a:rPr lang="en-CA" sz="2400" dirty="0">
                <a:solidFill>
                  <a:schemeClr val="bg1"/>
                </a:solidFill>
              </a:rPr>
              <a:t>Python has 3 main logical operators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CA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not</a:t>
            </a:r>
            <a:r>
              <a:rPr lang="en-CA" dirty="0">
                <a:solidFill>
                  <a:schemeClr val="bg1"/>
                </a:solidFill>
              </a:rPr>
              <a:t> → </a:t>
            </a:r>
            <a:r>
              <a:rPr lang="en-CA" b="1" dirty="0">
                <a:solidFill>
                  <a:schemeClr val="bg1"/>
                </a:solidFill>
              </a:rPr>
              <a:t>reverses (or flips) </a:t>
            </a:r>
            <a:r>
              <a:rPr lang="en-CA" dirty="0">
                <a:solidFill>
                  <a:schemeClr val="bg1"/>
                </a:solidFill>
              </a:rPr>
              <a:t>a Boolean value</a:t>
            </a:r>
          </a:p>
          <a:p>
            <a:pPr marL="914400" lvl="1" indent="-457200">
              <a:buFont typeface="+mj-lt"/>
              <a:buAutoNum type="arabicPeriod"/>
            </a:pPr>
            <a:endParaRPr lang="en-CA" dirty="0">
              <a:solidFill>
                <a:schemeClr val="bg1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endParaRPr lang="en-CA" dirty="0">
              <a:solidFill>
                <a:schemeClr val="bg1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endParaRPr lang="en-CA" dirty="0">
              <a:solidFill>
                <a:schemeClr val="bg1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endParaRPr lang="en-CA" dirty="0">
              <a:solidFill>
                <a:schemeClr val="bg1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endParaRPr lang="en-CA" dirty="0">
              <a:solidFill>
                <a:schemeClr val="bg1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endParaRPr lang="en-CA" dirty="0">
              <a:solidFill>
                <a:schemeClr val="bg1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endParaRPr lang="en-CA" dirty="0">
              <a:solidFill>
                <a:schemeClr val="bg1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CA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and</a:t>
            </a:r>
            <a:r>
              <a:rPr lang="en-CA" dirty="0">
                <a:solidFill>
                  <a:schemeClr val="bg1"/>
                </a:solidFill>
              </a:rPr>
              <a:t> → checks if </a:t>
            </a:r>
            <a:r>
              <a:rPr lang="en-CA" b="1" dirty="0">
                <a:solidFill>
                  <a:schemeClr val="bg1"/>
                </a:solidFill>
              </a:rPr>
              <a:t>both conditions are true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CA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</a:t>
            </a:r>
            <a:r>
              <a:rPr lang="en-CA" dirty="0">
                <a:solidFill>
                  <a:schemeClr val="bg1"/>
                </a:solidFill>
              </a:rPr>
              <a:t> → checks if </a:t>
            </a:r>
            <a:r>
              <a:rPr lang="en-CA" b="1" dirty="0">
                <a:solidFill>
                  <a:schemeClr val="bg1"/>
                </a:solidFill>
              </a:rPr>
              <a:t>at least one condition is true</a:t>
            </a:r>
          </a:p>
          <a:p>
            <a:pPr marL="0" indent="0">
              <a:buNone/>
            </a:pPr>
            <a:endParaRPr lang="en-CA" dirty="0">
              <a:solidFill>
                <a:schemeClr val="bg1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D9BC7D4-C8B5-22A4-75DB-00FAABA8FD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4841285"/>
              </p:ext>
            </p:extLst>
          </p:nvPr>
        </p:nvGraphicFramePr>
        <p:xfrm>
          <a:off x="3197485" y="2393904"/>
          <a:ext cx="3509159" cy="1393552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609107">
                  <a:extLst>
                    <a:ext uri="{9D8B030D-6E8A-4147-A177-3AD203B41FA5}">
                      <a16:colId xmlns:a16="http://schemas.microsoft.com/office/drawing/2014/main" val="2124711436"/>
                    </a:ext>
                  </a:extLst>
                </a:gridCol>
                <a:gridCol w="1900052">
                  <a:extLst>
                    <a:ext uri="{9D8B030D-6E8A-4147-A177-3AD203B41FA5}">
                      <a16:colId xmlns:a16="http://schemas.microsoft.com/office/drawing/2014/main" val="504328110"/>
                    </a:ext>
                  </a:extLst>
                </a:gridCol>
              </a:tblGrid>
              <a:tr h="340238">
                <a:tc>
                  <a:txBody>
                    <a:bodyPr/>
                    <a:lstStyle/>
                    <a:p>
                      <a:pPr fontAlgn="ctr"/>
                      <a:r>
                        <a:rPr lang="en-CA" sz="2400" b="1" dirty="0">
                          <a:effectLst/>
                        </a:rPr>
                        <a:t>x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2400" b="1" u="sng" dirty="0">
                          <a:effectLst/>
                        </a:rPr>
                        <a:t>not</a:t>
                      </a:r>
                      <a:r>
                        <a:rPr lang="en-CA" sz="2400" b="1" dirty="0">
                          <a:effectLst/>
                        </a:rPr>
                        <a:t> x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5486340"/>
                  </a:ext>
                </a:extLst>
              </a:tr>
              <a:tr h="468176">
                <a:tc>
                  <a:txBody>
                    <a:bodyPr/>
                    <a:lstStyle/>
                    <a:p>
                      <a:pPr fontAlgn="ctr"/>
                      <a:r>
                        <a:rPr lang="en-CA" sz="18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True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8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False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553372"/>
                  </a:ext>
                </a:extLst>
              </a:tr>
              <a:tr h="468176">
                <a:tc>
                  <a:txBody>
                    <a:bodyPr/>
                    <a:lstStyle/>
                    <a:p>
                      <a:pPr fontAlgn="ctr"/>
                      <a:r>
                        <a:rPr lang="en-CA" sz="1800" i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False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True</a:t>
                      </a:r>
                      <a:endParaRPr lang="en-CA" sz="1800" dirty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879072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A53BD43-F2B9-9C41-CDE1-E335D6F64587}"/>
              </a:ext>
            </a:extLst>
          </p:cNvPr>
          <p:cNvSpPr txBox="1"/>
          <p:nvPr/>
        </p:nvSpPr>
        <p:spPr>
          <a:xfrm>
            <a:off x="7052153" y="2675181"/>
            <a:ext cx="3825658" cy="8309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CA" sz="2400" dirty="0">
                <a:solidFill>
                  <a:schemeClr val="bg1"/>
                </a:solidFill>
              </a:rPr>
              <a:t>💡 Think of </a:t>
            </a:r>
            <a:r>
              <a:rPr lang="en-CA" sz="2400" i="1" dirty="0">
                <a:solidFill>
                  <a:schemeClr val="bg1"/>
                </a:solidFill>
              </a:rPr>
              <a:t>not</a:t>
            </a:r>
            <a:r>
              <a:rPr lang="en-CA" sz="2400" dirty="0">
                <a:solidFill>
                  <a:schemeClr val="bg1"/>
                </a:solidFill>
              </a:rPr>
              <a:t> as saying </a:t>
            </a:r>
            <a:r>
              <a:rPr lang="en-CA" sz="2400" b="1" dirty="0">
                <a:solidFill>
                  <a:schemeClr val="bg1"/>
                </a:solidFill>
              </a:rPr>
              <a:t>“the opposite of”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AAFE17-A724-2177-46F0-9EFE0FC0B851}"/>
              </a:ext>
            </a:extLst>
          </p:cNvPr>
          <p:cNvSpPr txBox="1"/>
          <p:nvPr/>
        </p:nvSpPr>
        <p:spPr>
          <a:xfrm>
            <a:off x="1279578" y="4075172"/>
            <a:ext cx="9598233" cy="830997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schemeClr val="accent1"/>
                </a:solidFill>
                <a:latin typeface="Courier New" panose="02070309020205020404" pitchFamily="49" charset="0"/>
              </a:rPr>
              <a:t># Example evaluates as False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schemeClr val="bg2">
                    <a:lumMod val="75000"/>
                    <a:lumOff val="25000"/>
                  </a:schemeClr>
                </a:solidFill>
                <a:latin typeface="Courier New" panose="02070309020205020404" pitchFamily="49" charset="0"/>
              </a:rPr>
              <a:t>n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2">
                    <a:lumMod val="75000"/>
                    <a:lumOff val="25000"/>
                  </a:scheme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ot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(3 == 3.0)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3474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0A15B7-3CBC-3C1B-9B88-008AA8E80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A9B0C-7EB7-550A-8374-4FDB7E938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Logical (or Boolean)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7B8B6-D86A-C587-7D16-827503BE5A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r>
              <a:rPr lang="en-CA" sz="2400" dirty="0">
                <a:solidFill>
                  <a:schemeClr val="bg1"/>
                </a:solidFill>
              </a:rPr>
              <a:t>Python has 3 main logical operators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CA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not</a:t>
            </a:r>
            <a:r>
              <a:rPr lang="en-CA" dirty="0">
                <a:solidFill>
                  <a:schemeClr val="bg1"/>
                </a:solidFill>
              </a:rPr>
              <a:t> → </a:t>
            </a:r>
            <a:r>
              <a:rPr lang="en-CA" b="1" dirty="0">
                <a:solidFill>
                  <a:schemeClr val="bg1"/>
                </a:solidFill>
              </a:rPr>
              <a:t>reverses (or flips) </a:t>
            </a:r>
            <a:r>
              <a:rPr lang="en-CA" dirty="0">
                <a:solidFill>
                  <a:schemeClr val="bg1"/>
                </a:solidFill>
              </a:rPr>
              <a:t>a Boolean value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CA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and</a:t>
            </a:r>
            <a:r>
              <a:rPr lang="en-CA" dirty="0">
                <a:solidFill>
                  <a:schemeClr val="bg1"/>
                </a:solidFill>
              </a:rPr>
              <a:t> → checks if </a:t>
            </a:r>
            <a:r>
              <a:rPr lang="en-CA" b="1" dirty="0">
                <a:solidFill>
                  <a:schemeClr val="bg1"/>
                </a:solidFill>
              </a:rPr>
              <a:t>both conditions are true</a:t>
            </a:r>
          </a:p>
          <a:p>
            <a:pPr marL="914400" lvl="1" indent="-457200">
              <a:buFont typeface="+mj-lt"/>
              <a:buAutoNum type="arabicPeriod"/>
            </a:pPr>
            <a:endParaRPr lang="en-CA" b="1" dirty="0">
              <a:solidFill>
                <a:schemeClr val="bg1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endParaRPr lang="en-CA" b="1" dirty="0">
              <a:solidFill>
                <a:schemeClr val="bg1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endParaRPr lang="en-CA" b="1" dirty="0">
              <a:solidFill>
                <a:schemeClr val="bg1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endParaRPr lang="en-CA" b="1" dirty="0">
              <a:solidFill>
                <a:schemeClr val="bg1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endParaRPr lang="en-CA" b="1" dirty="0">
              <a:solidFill>
                <a:schemeClr val="bg1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endParaRPr lang="en-CA" b="1" dirty="0">
              <a:solidFill>
                <a:schemeClr val="bg1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endParaRPr lang="en-CA" b="1" dirty="0">
              <a:solidFill>
                <a:schemeClr val="bg1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endParaRPr lang="en-CA" b="1" dirty="0">
              <a:solidFill>
                <a:schemeClr val="bg1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endParaRPr lang="en-CA" b="1" dirty="0">
              <a:solidFill>
                <a:schemeClr val="bg1"/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CA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</a:t>
            </a:r>
            <a:r>
              <a:rPr lang="en-CA" dirty="0">
                <a:solidFill>
                  <a:schemeClr val="bg1"/>
                </a:solidFill>
              </a:rPr>
              <a:t> → checks if </a:t>
            </a:r>
            <a:r>
              <a:rPr lang="en-CA" b="1" dirty="0">
                <a:solidFill>
                  <a:schemeClr val="bg1"/>
                </a:solidFill>
              </a:rPr>
              <a:t>at least one condition is true</a:t>
            </a:r>
          </a:p>
          <a:p>
            <a:pPr marL="0" indent="0">
              <a:buNone/>
            </a:pPr>
            <a:endParaRPr lang="en-CA" dirty="0">
              <a:solidFill>
                <a:schemeClr val="bg1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BA15EC0-360C-DA7C-E4D5-D9AFAF4C95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572864"/>
              </p:ext>
            </p:extLst>
          </p:nvPr>
        </p:nvGraphicFramePr>
        <p:xfrm>
          <a:off x="3197485" y="2901807"/>
          <a:ext cx="3509158" cy="2329904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43888">
                  <a:extLst>
                    <a:ext uri="{9D8B030D-6E8A-4147-A177-3AD203B41FA5}">
                      <a16:colId xmlns:a16="http://schemas.microsoft.com/office/drawing/2014/main" val="2124711436"/>
                    </a:ext>
                  </a:extLst>
                </a:gridCol>
                <a:gridCol w="1232635">
                  <a:extLst>
                    <a:ext uri="{9D8B030D-6E8A-4147-A177-3AD203B41FA5}">
                      <a16:colId xmlns:a16="http://schemas.microsoft.com/office/drawing/2014/main" val="504328110"/>
                    </a:ext>
                  </a:extLst>
                </a:gridCol>
                <a:gridCol w="1232635">
                  <a:extLst>
                    <a:ext uri="{9D8B030D-6E8A-4147-A177-3AD203B41FA5}">
                      <a16:colId xmlns:a16="http://schemas.microsoft.com/office/drawing/2014/main" val="416445568"/>
                    </a:ext>
                  </a:extLst>
                </a:gridCol>
              </a:tblGrid>
              <a:tr h="340238">
                <a:tc>
                  <a:txBody>
                    <a:bodyPr/>
                    <a:lstStyle/>
                    <a:p>
                      <a:pPr fontAlgn="ctr"/>
                      <a:r>
                        <a:rPr lang="en-CA" sz="2400" b="1" dirty="0">
                          <a:effectLst/>
                        </a:rPr>
                        <a:t>x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2400" b="1" u="none" dirty="0">
                          <a:effectLst/>
                        </a:rPr>
                        <a:t>y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2400" b="1" dirty="0">
                          <a:effectLst/>
                        </a:rPr>
                        <a:t>x </a:t>
                      </a:r>
                      <a:r>
                        <a:rPr lang="en-CA" sz="2400" b="1" u="sng" dirty="0">
                          <a:effectLst/>
                        </a:rPr>
                        <a:t>and</a:t>
                      </a:r>
                      <a:r>
                        <a:rPr lang="en-CA" sz="2400" b="1" dirty="0">
                          <a:effectLst/>
                        </a:rPr>
                        <a:t> y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5486340"/>
                  </a:ext>
                </a:extLst>
              </a:tr>
              <a:tr h="468176">
                <a:tc>
                  <a:txBody>
                    <a:bodyPr/>
                    <a:lstStyle/>
                    <a:p>
                      <a:pPr fontAlgn="ctr"/>
                      <a:r>
                        <a:rPr lang="en-CA" sz="18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True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8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True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8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True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553372"/>
                  </a:ext>
                </a:extLst>
              </a:tr>
              <a:tr h="468176">
                <a:tc>
                  <a:txBody>
                    <a:bodyPr/>
                    <a:lstStyle/>
                    <a:p>
                      <a:pPr fontAlgn="ctr"/>
                      <a:r>
                        <a:rPr lang="en-CA" sz="1800" i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True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False</a:t>
                      </a:r>
                      <a:endParaRPr lang="en-CA" sz="1800" dirty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8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False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8790727"/>
                  </a:ext>
                </a:extLst>
              </a:tr>
              <a:tr h="468176">
                <a:tc>
                  <a:txBody>
                    <a:bodyPr/>
                    <a:lstStyle/>
                    <a:p>
                      <a:pPr fontAlgn="ctr"/>
                      <a:r>
                        <a:rPr lang="en-CA" sz="1800" i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False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8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True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8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False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1158697"/>
                  </a:ext>
                </a:extLst>
              </a:tr>
              <a:tr h="468176">
                <a:tc>
                  <a:txBody>
                    <a:bodyPr/>
                    <a:lstStyle/>
                    <a:p>
                      <a:pPr fontAlgn="ctr"/>
                      <a:r>
                        <a:rPr lang="en-CA" sz="1800" i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False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8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False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8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False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799468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85A826B-072D-8B87-8828-B118614BF1A9}"/>
              </a:ext>
            </a:extLst>
          </p:cNvPr>
          <p:cNvSpPr txBox="1"/>
          <p:nvPr/>
        </p:nvSpPr>
        <p:spPr>
          <a:xfrm>
            <a:off x="7014575" y="3482716"/>
            <a:ext cx="3825658" cy="8309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💡 Think both conditions must be met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90908C-5754-959E-8F1B-4DE5C47E46CC}"/>
              </a:ext>
            </a:extLst>
          </p:cNvPr>
          <p:cNvSpPr txBox="1"/>
          <p:nvPr/>
        </p:nvSpPr>
        <p:spPr>
          <a:xfrm>
            <a:off x="1296883" y="5349668"/>
            <a:ext cx="9598233" cy="830997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schemeClr val="accent1"/>
                </a:solidFill>
                <a:latin typeface="Courier New" panose="02070309020205020404" pitchFamily="49" charset="0"/>
              </a:rPr>
              <a:t># Example evaluates as True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7 == 7.0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  <a:lumOff val="25000"/>
                  </a:scheme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and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32 &gt; 9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48102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FE6EE8-A3B9-4238-FDA9-ABA97B5F9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FF3BA-8238-C725-48F6-A09561C9C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Logical (or Boolean)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5FCE93-9F12-69B8-1C79-B8FF771254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r>
              <a:rPr lang="en-CA" sz="2400" dirty="0">
                <a:solidFill>
                  <a:schemeClr val="bg1"/>
                </a:solidFill>
              </a:rPr>
              <a:t>Python has 3 main logical operators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CA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not</a:t>
            </a:r>
            <a:r>
              <a:rPr lang="en-CA" dirty="0">
                <a:solidFill>
                  <a:schemeClr val="bg1"/>
                </a:solidFill>
              </a:rPr>
              <a:t> → </a:t>
            </a:r>
            <a:r>
              <a:rPr lang="en-CA" b="1" dirty="0">
                <a:solidFill>
                  <a:schemeClr val="bg1"/>
                </a:solidFill>
              </a:rPr>
              <a:t>reverses (or flips) </a:t>
            </a:r>
            <a:r>
              <a:rPr lang="en-CA" dirty="0">
                <a:solidFill>
                  <a:schemeClr val="bg1"/>
                </a:solidFill>
              </a:rPr>
              <a:t>a Boolean value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CA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and</a:t>
            </a:r>
            <a:r>
              <a:rPr lang="en-CA" dirty="0">
                <a:solidFill>
                  <a:schemeClr val="bg1"/>
                </a:solidFill>
              </a:rPr>
              <a:t> → checks if </a:t>
            </a:r>
            <a:r>
              <a:rPr lang="en-CA" b="1" dirty="0">
                <a:solidFill>
                  <a:schemeClr val="bg1"/>
                </a:solidFill>
              </a:rPr>
              <a:t>both conditions are true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CA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</a:t>
            </a:r>
            <a:r>
              <a:rPr lang="en-CA" dirty="0">
                <a:solidFill>
                  <a:schemeClr val="bg1"/>
                </a:solidFill>
              </a:rPr>
              <a:t> → checks if </a:t>
            </a:r>
            <a:r>
              <a:rPr lang="en-CA" b="1" dirty="0">
                <a:solidFill>
                  <a:schemeClr val="bg1"/>
                </a:solidFill>
              </a:rPr>
              <a:t>at least one condition is true</a:t>
            </a:r>
          </a:p>
          <a:p>
            <a:pPr marL="0" indent="0">
              <a:buNone/>
            </a:pPr>
            <a:endParaRPr lang="en-CA" dirty="0">
              <a:solidFill>
                <a:schemeClr val="bg1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CF99401-180B-7F3D-4E79-CCFBCDE264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5640377"/>
              </p:ext>
            </p:extLst>
          </p:nvPr>
        </p:nvGraphicFramePr>
        <p:xfrm>
          <a:off x="3197485" y="3327692"/>
          <a:ext cx="3509158" cy="2329904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43888">
                  <a:extLst>
                    <a:ext uri="{9D8B030D-6E8A-4147-A177-3AD203B41FA5}">
                      <a16:colId xmlns:a16="http://schemas.microsoft.com/office/drawing/2014/main" val="2124711436"/>
                    </a:ext>
                  </a:extLst>
                </a:gridCol>
                <a:gridCol w="1232635">
                  <a:extLst>
                    <a:ext uri="{9D8B030D-6E8A-4147-A177-3AD203B41FA5}">
                      <a16:colId xmlns:a16="http://schemas.microsoft.com/office/drawing/2014/main" val="504328110"/>
                    </a:ext>
                  </a:extLst>
                </a:gridCol>
                <a:gridCol w="1232635">
                  <a:extLst>
                    <a:ext uri="{9D8B030D-6E8A-4147-A177-3AD203B41FA5}">
                      <a16:colId xmlns:a16="http://schemas.microsoft.com/office/drawing/2014/main" val="416445568"/>
                    </a:ext>
                  </a:extLst>
                </a:gridCol>
              </a:tblGrid>
              <a:tr h="340238">
                <a:tc>
                  <a:txBody>
                    <a:bodyPr/>
                    <a:lstStyle/>
                    <a:p>
                      <a:pPr fontAlgn="ctr"/>
                      <a:r>
                        <a:rPr lang="en-CA" sz="2400" b="1" dirty="0">
                          <a:effectLst/>
                        </a:rPr>
                        <a:t>x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2400" b="1" u="none" dirty="0">
                          <a:effectLst/>
                        </a:rPr>
                        <a:t>y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2400" b="1" dirty="0">
                          <a:effectLst/>
                        </a:rPr>
                        <a:t>x </a:t>
                      </a:r>
                      <a:r>
                        <a:rPr lang="en-CA" sz="2400" b="1" u="sng" dirty="0">
                          <a:effectLst/>
                        </a:rPr>
                        <a:t>or</a:t>
                      </a:r>
                      <a:r>
                        <a:rPr lang="en-CA" sz="2400" b="1" dirty="0">
                          <a:effectLst/>
                        </a:rPr>
                        <a:t> y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5486340"/>
                  </a:ext>
                </a:extLst>
              </a:tr>
              <a:tr h="468176">
                <a:tc>
                  <a:txBody>
                    <a:bodyPr/>
                    <a:lstStyle/>
                    <a:p>
                      <a:pPr fontAlgn="ctr"/>
                      <a:r>
                        <a:rPr lang="en-CA" sz="18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True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8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True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8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True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553372"/>
                  </a:ext>
                </a:extLst>
              </a:tr>
              <a:tr h="468176">
                <a:tc>
                  <a:txBody>
                    <a:bodyPr/>
                    <a:lstStyle/>
                    <a:p>
                      <a:pPr fontAlgn="ctr"/>
                      <a:r>
                        <a:rPr lang="en-CA" sz="1800" i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True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False</a:t>
                      </a:r>
                      <a:endParaRPr lang="en-CA" sz="1800" dirty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8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True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8790727"/>
                  </a:ext>
                </a:extLst>
              </a:tr>
              <a:tr h="468176">
                <a:tc>
                  <a:txBody>
                    <a:bodyPr/>
                    <a:lstStyle/>
                    <a:p>
                      <a:pPr fontAlgn="ctr"/>
                      <a:r>
                        <a:rPr lang="en-CA" sz="1800" i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False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8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True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8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True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1158697"/>
                  </a:ext>
                </a:extLst>
              </a:tr>
              <a:tr h="468176">
                <a:tc>
                  <a:txBody>
                    <a:bodyPr/>
                    <a:lstStyle/>
                    <a:p>
                      <a:pPr fontAlgn="ctr"/>
                      <a:r>
                        <a:rPr lang="en-CA" sz="1800" i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False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8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False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8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False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799468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BABE9F1-A0D8-E0F7-18DC-B8C0F60590BD}"/>
              </a:ext>
            </a:extLst>
          </p:cNvPr>
          <p:cNvSpPr txBox="1"/>
          <p:nvPr/>
        </p:nvSpPr>
        <p:spPr>
          <a:xfrm>
            <a:off x="7014575" y="3971231"/>
            <a:ext cx="3825658" cy="8309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💡 Think one </a:t>
            </a:r>
            <a:r>
              <a:rPr kumimoji="0" lang="en-CA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or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the other (or both!)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1497A7-576A-AA8F-BC76-149A8EA31835}"/>
              </a:ext>
            </a:extLst>
          </p:cNvPr>
          <p:cNvSpPr txBox="1"/>
          <p:nvPr/>
        </p:nvSpPr>
        <p:spPr>
          <a:xfrm>
            <a:off x="1296883" y="5804774"/>
            <a:ext cx="9598233" cy="830997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schemeClr val="accent1"/>
                </a:solidFill>
                <a:latin typeface="Courier New" panose="02070309020205020404" pitchFamily="49" charset="0"/>
              </a:rPr>
              <a:t># Example evaluates as True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‘python’ == ‘Python’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  <a:lumOff val="25000"/>
                  </a:scheme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or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32 &gt; 9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903306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37CBA7-C545-385E-9302-9143CE58A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9F65C-D5BB-1C80-1C5F-4D0455BE58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Best practice: Use Boolean values explicitly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5884D-73BE-0FE4-1FE0-72F48B22FD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r>
              <a:rPr lang="en-CA" sz="2400" dirty="0">
                <a:solidFill>
                  <a:schemeClr val="bg1"/>
                </a:solidFill>
              </a:rPr>
              <a:t>To avoid confusion and ensure </a:t>
            </a:r>
            <a:r>
              <a:rPr lang="en-CA" sz="2400" b="1" dirty="0">
                <a:solidFill>
                  <a:schemeClr val="bg1"/>
                </a:solidFill>
              </a:rPr>
              <a:t>consistent behaviour</a:t>
            </a:r>
            <a:r>
              <a:rPr lang="en-CA" sz="2400" dirty="0">
                <a:solidFill>
                  <a:schemeClr val="bg1"/>
                </a:solidFill>
              </a:rPr>
              <a:t>, it is recommended to use </a:t>
            </a:r>
            <a:r>
              <a:rPr lang="en-CA" sz="2400" b="1" dirty="0">
                <a:solidFill>
                  <a:schemeClr val="bg1"/>
                </a:solidFill>
              </a:rPr>
              <a:t>Boolean values</a:t>
            </a:r>
            <a:r>
              <a:rPr lang="en-CA" sz="2400" dirty="0">
                <a:solidFill>
                  <a:schemeClr val="bg1"/>
                </a:solidFill>
              </a:rPr>
              <a:t> (True or False) explicitly when working with logical operations.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sz="2400" dirty="0">
                <a:solidFill>
                  <a:schemeClr val="bg1"/>
                </a:solidFill>
              </a:rPr>
              <a:t>This helps ensure outcomes are </a:t>
            </a:r>
            <a:r>
              <a:rPr lang="en-CA" sz="2400" b="1" dirty="0">
                <a:solidFill>
                  <a:schemeClr val="bg1"/>
                </a:solidFill>
              </a:rPr>
              <a:t>predictable</a:t>
            </a:r>
            <a:r>
              <a:rPr lang="en-CA" sz="2400" dirty="0">
                <a:solidFill>
                  <a:schemeClr val="bg1"/>
                </a:solidFill>
              </a:rPr>
              <a:t> and based on clear Boolean logic.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sz="2400" dirty="0">
                <a:solidFill>
                  <a:schemeClr val="bg1"/>
                </a:solidFill>
              </a:rPr>
              <a:t>Python allows non-Boolean values (like numbers or strings) in logical expressions</a:t>
            </a:r>
          </a:p>
          <a:p>
            <a:pPr>
              <a:buFont typeface="Arial" panose="020B0604020202020204" pitchFamily="34" charset="0"/>
              <a:buChar char="•"/>
            </a:pPr>
            <a:endParaRPr lang="en-CA" sz="24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n-CA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CA" sz="24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CA" sz="2400" dirty="0">
                <a:solidFill>
                  <a:schemeClr val="bg1"/>
                </a:solidFill>
              </a:rPr>
              <a:t>This can sometimes lead to </a:t>
            </a:r>
            <a:r>
              <a:rPr lang="en-CA" sz="2400" b="1" dirty="0">
                <a:solidFill>
                  <a:schemeClr val="bg1"/>
                </a:solidFill>
              </a:rPr>
              <a:t>unexpected results</a:t>
            </a:r>
            <a:r>
              <a:rPr lang="en-CA" sz="2400" dirty="0">
                <a:solidFill>
                  <a:schemeClr val="bg1"/>
                </a:solidFill>
              </a:rPr>
              <a:t> !</a:t>
            </a:r>
          </a:p>
          <a:p>
            <a:pPr marL="0" indent="0">
              <a:buNone/>
            </a:pP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777432-7B4F-4BC4-CB9F-47384D937569}"/>
              </a:ext>
            </a:extLst>
          </p:cNvPr>
          <p:cNvSpPr txBox="1"/>
          <p:nvPr/>
        </p:nvSpPr>
        <p:spPr>
          <a:xfrm>
            <a:off x="1296883" y="4081427"/>
            <a:ext cx="9598233" cy="830997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schemeClr val="accent1"/>
                </a:solidFill>
                <a:latin typeface="Courier New" panose="02070309020205020404" pitchFamily="49" charset="0"/>
              </a:rPr>
              <a:t># Example evaluates as 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7.0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75000"/>
                    <a:lumOff val="25000"/>
                  </a:scheme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and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3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CE64F0-4106-1734-37F7-6DB2F21294DD}"/>
              </a:ext>
            </a:extLst>
          </p:cNvPr>
          <p:cNvSpPr txBox="1"/>
          <p:nvPr/>
        </p:nvSpPr>
        <p:spPr>
          <a:xfrm>
            <a:off x="6232071" y="3712096"/>
            <a:ext cx="5549900" cy="15696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0 is treated as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Any non-zero number is treated as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and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returns the </a:t>
            </a:r>
            <a:r>
              <a:rPr kumimoji="0" lang="en-CA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last evaluated value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, not True or False</a:t>
            </a:r>
          </a:p>
        </p:txBody>
      </p:sp>
    </p:spTree>
    <p:extLst>
      <p:ext uri="{BB962C8B-B14F-4D97-AF65-F5344CB8AC3E}">
        <p14:creationId xmlns:p14="http://schemas.microsoft.com/office/powerpoint/2010/main" val="20035944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4C3AFE-BB67-4580-9521-4D2E17F6D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46A0AEC-6124-597F-56E3-581DBBBFE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353800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Order of precedence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01B1CFD6-9CB4-347D-1EAB-E1E2FAAD65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2551" y="4247038"/>
            <a:ext cx="15452840" cy="673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D05414-A7ED-95C5-BE12-AF9191BBD0FB}"/>
              </a:ext>
            </a:extLst>
          </p:cNvPr>
          <p:cNvSpPr txBox="1"/>
          <p:nvPr/>
        </p:nvSpPr>
        <p:spPr>
          <a:xfrm>
            <a:off x="623887" y="1641466"/>
            <a:ext cx="10729913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Boolean operators are evaluated </a:t>
            </a:r>
            <a:r>
              <a:rPr kumimoji="0" lang="en-CA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after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arithmetic and comparison operators!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CA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75154EF-765E-25E3-C42E-D2E1EB8007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5787739"/>
              </p:ext>
            </p:extLst>
          </p:nvPr>
        </p:nvGraphicFramePr>
        <p:xfrm>
          <a:off x="1352551" y="2254322"/>
          <a:ext cx="9791699" cy="36068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904874">
                  <a:extLst>
                    <a:ext uri="{9D8B030D-6E8A-4147-A177-3AD203B41FA5}">
                      <a16:colId xmlns:a16="http://schemas.microsoft.com/office/drawing/2014/main" val="4156511981"/>
                    </a:ext>
                  </a:extLst>
                </a:gridCol>
                <a:gridCol w="2328863">
                  <a:extLst>
                    <a:ext uri="{9D8B030D-6E8A-4147-A177-3AD203B41FA5}">
                      <a16:colId xmlns:a16="http://schemas.microsoft.com/office/drawing/2014/main" val="272651257"/>
                    </a:ext>
                  </a:extLst>
                </a:gridCol>
                <a:gridCol w="6557962">
                  <a:extLst>
                    <a:ext uri="{9D8B030D-6E8A-4147-A177-3AD203B41FA5}">
                      <a16:colId xmlns:a16="http://schemas.microsoft.com/office/drawing/2014/main" val="15467019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fontAlgn="ctr"/>
                      <a:r>
                        <a:rPr lang="en-CA" sz="1800" b="1">
                          <a:effectLst/>
                        </a:rPr>
                        <a:t>Order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800" b="1">
                          <a:effectLst/>
                        </a:rPr>
                        <a:t>Operator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800" b="1">
                          <a:effectLst/>
                        </a:rPr>
                        <a:t>Description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435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/>
                      <a:r>
                        <a:rPr lang="en-CA" sz="1800" dirty="0">
                          <a:effectLst/>
                        </a:rPr>
                        <a:t>1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800" dirty="0">
                          <a:effectLst/>
                        </a:rPr>
                        <a:t>**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800" dirty="0">
                          <a:effectLst/>
                        </a:rPr>
                        <a:t>Exponentiation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8421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/>
                      <a:r>
                        <a:rPr lang="en-CA" sz="1800">
                          <a:effectLst/>
                        </a:rPr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800">
                          <a:effectLst/>
                        </a:rPr>
                        <a:t>-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800" dirty="0">
                          <a:effectLst/>
                        </a:rPr>
                        <a:t>Negation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3024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/>
                      <a:r>
                        <a:rPr lang="en-CA" sz="1800">
                          <a:effectLst/>
                        </a:rPr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800">
                          <a:effectLst/>
                        </a:rPr>
                        <a:t>*, /, //, %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800" dirty="0">
                          <a:effectLst/>
                        </a:rPr>
                        <a:t>Multiplication, division, integer division, and modulo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2966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/>
                      <a:r>
                        <a:rPr lang="en-CA" sz="1800">
                          <a:effectLst/>
                        </a:rPr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800">
                          <a:effectLst/>
                        </a:rPr>
                        <a:t>+, -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800" dirty="0">
                          <a:effectLst/>
                        </a:rPr>
                        <a:t>Addition and subtraction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99302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/>
                      <a:r>
                        <a:rPr lang="en-CA" sz="1800">
                          <a:effectLst/>
                        </a:rPr>
                        <a:t>5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800">
                          <a:effectLst/>
                        </a:rPr>
                        <a:t>&lt;, &lt;=, &gt;, &gt;=, ==, !=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800" dirty="0">
                          <a:effectLst/>
                        </a:rPr>
                        <a:t>Less than, less than or equal to, greater than, greater than or equal to, equal, not equal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64172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/>
                      <a:r>
                        <a:rPr lang="en-CA" sz="1800" dirty="0">
                          <a:effectLst/>
                        </a:rPr>
                        <a:t>6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800" dirty="0">
                          <a:effectLst/>
                        </a:rPr>
                        <a:t>not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800" dirty="0">
                          <a:effectLst/>
                        </a:rPr>
                        <a:t>Not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36019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/>
                      <a:r>
                        <a:rPr lang="en-CA" sz="1800" dirty="0">
                          <a:effectLst/>
                        </a:rPr>
                        <a:t>7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800" dirty="0">
                          <a:effectLst/>
                        </a:rPr>
                        <a:t>and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800" dirty="0">
                          <a:effectLst/>
                        </a:rPr>
                        <a:t>And 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16276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ctr"/>
                      <a:r>
                        <a:rPr lang="en-CA" sz="1800" dirty="0">
                          <a:effectLst/>
                        </a:rPr>
                        <a:t>8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800" dirty="0">
                          <a:effectLst/>
                        </a:rPr>
                        <a:t>or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800" dirty="0">
                          <a:effectLst/>
                        </a:rPr>
                        <a:t>Or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80127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031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8260BF-D837-DB74-CA57-304637E081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40EBF-1AE5-362A-A0DB-99E7913F7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Quiz: Logical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78C20-4254-F54B-372E-B4A02AA83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 marL="457200" indent="-457200">
              <a:buAutoNum type="arabicPeriod"/>
            </a:pPr>
            <a:r>
              <a:rPr lang="en-CA" sz="2400" b="1" dirty="0">
                <a:solidFill>
                  <a:schemeClr val="bg1"/>
                </a:solidFill>
              </a:rPr>
              <a:t>What is the output of the following expression?</a:t>
            </a:r>
          </a:p>
          <a:p>
            <a:pPr marL="457200" indent="-457200">
              <a:buAutoNum type="arabicPeriod"/>
            </a:pPr>
            <a:endParaRPr lang="en-CA" sz="2400" b="1" dirty="0">
              <a:solidFill>
                <a:schemeClr val="bg1"/>
              </a:solidFill>
            </a:endParaRPr>
          </a:p>
          <a:p>
            <a:pPr marL="457200" indent="-457200">
              <a:buAutoNum type="arabicPeriod"/>
            </a:pPr>
            <a:endParaRPr lang="en-CA" sz="2400" dirty="0">
              <a:solidFill>
                <a:schemeClr val="bg1"/>
              </a:solidFill>
            </a:endParaRP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True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False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None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Error</a:t>
            </a:r>
          </a:p>
          <a:p>
            <a:pPr marL="0" indent="0">
              <a:buNone/>
            </a:pP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3CF0F9-4054-904F-B844-1273532CCBE5}"/>
              </a:ext>
            </a:extLst>
          </p:cNvPr>
          <p:cNvSpPr txBox="1"/>
          <p:nvPr/>
        </p:nvSpPr>
        <p:spPr>
          <a:xfrm>
            <a:off x="1327147" y="2242260"/>
            <a:ext cx="8739325" cy="46166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True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and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False</a:t>
            </a:r>
          </a:p>
        </p:txBody>
      </p:sp>
    </p:spTree>
    <p:extLst>
      <p:ext uri="{BB962C8B-B14F-4D97-AF65-F5344CB8AC3E}">
        <p14:creationId xmlns:p14="http://schemas.microsoft.com/office/powerpoint/2010/main" val="3594416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505E13-7EB2-979D-D7A0-E0E7E2193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B4430-D382-0C59-C8A4-54338D6C5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Quiz: Logical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FD371-7443-E505-8C3F-8B2ADAA788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CA" sz="2400" b="1" dirty="0">
                <a:solidFill>
                  <a:schemeClr val="bg1"/>
                </a:solidFill>
              </a:rPr>
              <a:t>2.   What is the output of the following expression?</a:t>
            </a:r>
          </a:p>
          <a:p>
            <a:pPr marL="457200" indent="-457200">
              <a:buAutoNum type="arabicPeriod"/>
            </a:pPr>
            <a:endParaRPr lang="en-CA" sz="2400" b="1" dirty="0">
              <a:solidFill>
                <a:schemeClr val="bg1"/>
              </a:solidFill>
            </a:endParaRPr>
          </a:p>
          <a:p>
            <a:pPr marL="457200" indent="-457200">
              <a:buAutoNum type="arabicPeriod"/>
            </a:pPr>
            <a:endParaRPr lang="en-CA" sz="2400" dirty="0">
              <a:solidFill>
                <a:schemeClr val="bg1"/>
              </a:solidFill>
            </a:endParaRP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True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False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None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Error</a:t>
            </a:r>
          </a:p>
          <a:p>
            <a:pPr marL="0" indent="0">
              <a:buNone/>
            </a:pP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442C28-FBDD-96F8-6CDA-5F19D701DE42}"/>
              </a:ext>
            </a:extLst>
          </p:cNvPr>
          <p:cNvSpPr txBox="1"/>
          <p:nvPr/>
        </p:nvSpPr>
        <p:spPr>
          <a:xfrm>
            <a:off x="1327147" y="2242260"/>
            <a:ext cx="8739325" cy="46166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True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or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False</a:t>
            </a:r>
          </a:p>
        </p:txBody>
      </p:sp>
    </p:spTree>
    <p:extLst>
      <p:ext uri="{BB962C8B-B14F-4D97-AF65-F5344CB8AC3E}">
        <p14:creationId xmlns:p14="http://schemas.microsoft.com/office/powerpoint/2010/main" val="37121545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18A82E-61DC-138C-EB43-941BCF42A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E869C-CFA4-B9AD-8120-42B85C523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Quiz: Logical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A69EA8-9568-CADC-4EF4-EFD8515DCD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CA" sz="2400" b="1" dirty="0">
                <a:solidFill>
                  <a:schemeClr val="bg1"/>
                </a:solidFill>
              </a:rPr>
              <a:t>3.   What does the not operator do?</a:t>
            </a:r>
          </a:p>
          <a:p>
            <a:pPr marL="457200" indent="-457200">
              <a:buAutoNum type="arabicPeriod"/>
            </a:pPr>
            <a:endParaRPr lang="en-CA" sz="2400" dirty="0">
              <a:solidFill>
                <a:schemeClr val="bg1"/>
              </a:solidFill>
            </a:endParaRP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Combines two conditions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Checks if two values are equal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Reverses a Boolean value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Converts a value to a string</a:t>
            </a:r>
          </a:p>
          <a:p>
            <a:pPr marL="0" indent="0">
              <a:buNone/>
            </a:pPr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7146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AA4AED-78C8-6686-B14B-0A703003B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6E1E4-D0F0-2521-9903-0C3E694E9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Quiz: Logical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2A61F-F1D6-7166-EAEB-9E068D2516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CA" sz="2400" b="1" dirty="0">
                <a:solidFill>
                  <a:schemeClr val="bg1"/>
                </a:solidFill>
              </a:rPr>
              <a:t>4.   What is the output of the following code?</a:t>
            </a:r>
          </a:p>
          <a:p>
            <a:pPr marL="457200" indent="-457200">
              <a:buAutoNum type="arabicPeriod"/>
            </a:pPr>
            <a:endParaRPr lang="en-CA" sz="2400" b="1" dirty="0">
              <a:solidFill>
                <a:schemeClr val="bg1"/>
              </a:solidFill>
            </a:endParaRPr>
          </a:p>
          <a:p>
            <a:pPr marL="457200" indent="-457200">
              <a:buAutoNum type="arabicPeriod"/>
            </a:pPr>
            <a:endParaRPr lang="en-CA" sz="2400" dirty="0">
              <a:solidFill>
                <a:schemeClr val="bg1"/>
              </a:solidFill>
            </a:endParaRP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True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False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None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Error</a:t>
            </a:r>
          </a:p>
          <a:p>
            <a:pPr marL="0" indent="0">
              <a:buNone/>
            </a:pP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9D6DFA-F4AC-6715-D52C-135F87AA7A1D}"/>
              </a:ext>
            </a:extLst>
          </p:cNvPr>
          <p:cNvSpPr txBox="1"/>
          <p:nvPr/>
        </p:nvSpPr>
        <p:spPr>
          <a:xfrm>
            <a:off x="1327147" y="2242260"/>
            <a:ext cx="8739325" cy="46166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srgbClr val="156082"/>
                </a:solidFill>
                <a:latin typeface="Courier New" panose="02070309020205020404" pitchFamily="49" charset="0"/>
              </a:rPr>
              <a:t>not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True</a:t>
            </a:r>
          </a:p>
        </p:txBody>
      </p:sp>
    </p:spTree>
    <p:extLst>
      <p:ext uri="{BB962C8B-B14F-4D97-AF65-F5344CB8AC3E}">
        <p14:creationId xmlns:p14="http://schemas.microsoft.com/office/powerpoint/2010/main" val="23202848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5B4028-B230-611B-6023-2E1A7B44C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937A6-3D8F-B22C-A0E1-52432224B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Quiz: Logical operators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A5B02-3462-E378-2ACC-E2740D9FC7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CA" sz="2400" b="1" dirty="0">
                <a:solidFill>
                  <a:schemeClr val="bg1"/>
                </a:solidFill>
              </a:rPr>
              <a:t>5. What will be printed?</a:t>
            </a:r>
          </a:p>
          <a:p>
            <a:pPr marL="457200" indent="-457200">
              <a:buAutoNum type="arabicPeriod" startAt="4"/>
            </a:pPr>
            <a:endParaRPr lang="en-CA" sz="2400" b="1" dirty="0">
              <a:solidFill>
                <a:schemeClr val="bg1"/>
              </a:solidFill>
            </a:endParaRPr>
          </a:p>
          <a:p>
            <a:pPr marL="457200" indent="-457200">
              <a:buAutoNum type="arabicPeriod"/>
            </a:pPr>
            <a:endParaRPr lang="en-CA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0D2D9B-8450-6DD4-53AA-427530C32190}"/>
              </a:ext>
            </a:extLst>
          </p:cNvPr>
          <p:cNvSpPr txBox="1"/>
          <p:nvPr/>
        </p:nvSpPr>
        <p:spPr>
          <a:xfrm>
            <a:off x="1327147" y="2242260"/>
            <a:ext cx="8739325" cy="830997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a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ge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= 20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srgbClr val="156082"/>
                </a:solidFill>
                <a:latin typeface="Courier New" panose="02070309020205020404" pitchFamily="49" charset="0"/>
              </a:rPr>
              <a:t>print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(age &gt;= 18 </a:t>
            </a:r>
            <a:r>
              <a:rPr lang="en-CA" sz="2400" dirty="0">
                <a:solidFill>
                  <a:schemeClr val="accent3"/>
                </a:solidFill>
                <a:latin typeface="Courier New" panose="02070309020205020404" pitchFamily="49" charset="0"/>
              </a:rPr>
              <a:t>and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 age &lt;= 25</a:t>
            </a:r>
            <a:r>
              <a:rPr lang="en-CA" sz="2400" dirty="0">
                <a:solidFill>
                  <a:srgbClr val="156082"/>
                </a:solidFill>
                <a:latin typeface="Courier New" panose="02070309020205020404" pitchFamily="49" charset="0"/>
              </a:rPr>
              <a:t>)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79522D-1563-547F-6998-A5E9C7532BD3}"/>
              </a:ext>
            </a:extLst>
          </p:cNvPr>
          <p:cNvSpPr txBox="1"/>
          <p:nvPr/>
        </p:nvSpPr>
        <p:spPr>
          <a:xfrm>
            <a:off x="1327146" y="3784744"/>
            <a:ext cx="8739325" cy="830997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x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= 10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srgbClr val="156082"/>
                </a:solidFill>
                <a:latin typeface="Courier New" panose="02070309020205020404" pitchFamily="49" charset="0"/>
              </a:rPr>
              <a:t>print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(x &lt; 5 </a:t>
            </a:r>
            <a:r>
              <a:rPr lang="en-CA" sz="2400" dirty="0">
                <a:solidFill>
                  <a:schemeClr val="accent3"/>
                </a:solidFill>
                <a:latin typeface="Courier New" panose="02070309020205020404" pitchFamily="49" charset="0"/>
              </a:rPr>
              <a:t>or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 x == 10</a:t>
            </a:r>
            <a:r>
              <a:rPr lang="en-CA" sz="2400" dirty="0">
                <a:solidFill>
                  <a:srgbClr val="156082"/>
                </a:solidFill>
                <a:latin typeface="Courier New" panose="02070309020205020404" pitchFamily="49" charset="0"/>
              </a:rPr>
              <a:t>)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05576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F2792E-4A6E-F1DA-92E4-2B3C77382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E2C9C-4CA1-2F8D-5658-D5B410A01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What is control flow?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3BB48-F841-3699-9F7D-85FE42AA22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CA" sz="2400" b="1" dirty="0">
                <a:solidFill>
                  <a:schemeClr val="bg1"/>
                </a:solidFill>
              </a:rPr>
              <a:t>Control flow</a:t>
            </a:r>
            <a:r>
              <a:rPr lang="en-CA" sz="2400" dirty="0">
                <a:solidFill>
                  <a:schemeClr val="bg1"/>
                </a:solidFill>
              </a:rPr>
              <a:t> refers to the order in which a program’s statements are executed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sz="2400" dirty="0">
                <a:solidFill>
                  <a:schemeClr val="bg1"/>
                </a:solidFill>
              </a:rPr>
              <a:t>It determines: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CA" dirty="0">
                <a:solidFill>
                  <a:schemeClr val="bg1"/>
                </a:solidFill>
              </a:rPr>
              <a:t>Which lines of code run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CA" dirty="0">
                <a:solidFill>
                  <a:schemeClr val="bg1"/>
                </a:solidFill>
              </a:rPr>
              <a:t>When they run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CA" dirty="0">
                <a:solidFill>
                  <a:schemeClr val="bg1"/>
                </a:solidFill>
              </a:rPr>
              <a:t>Whether some lines are skipped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CA" dirty="0">
              <a:solidFill>
                <a:schemeClr val="bg1"/>
              </a:solidFill>
            </a:endParaRPr>
          </a:p>
          <a:p>
            <a:r>
              <a:rPr lang="en-CA" sz="2400" dirty="0">
                <a:solidFill>
                  <a:schemeClr val="bg1"/>
                </a:solidFill>
              </a:rPr>
              <a:t>Control flow allows programs to: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CA" dirty="0">
                <a:solidFill>
                  <a:schemeClr val="bg1"/>
                </a:solidFill>
              </a:rPr>
              <a:t>Make decisions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CA" dirty="0">
                <a:solidFill>
                  <a:schemeClr val="bg1"/>
                </a:solidFill>
              </a:rPr>
              <a:t>React to different inputs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CA" dirty="0">
                <a:solidFill>
                  <a:schemeClr val="bg1"/>
                </a:solidFill>
              </a:rPr>
              <a:t>Run different code in different situations</a:t>
            </a:r>
          </a:p>
          <a:p>
            <a:r>
              <a:rPr lang="en-CA" sz="2400" dirty="0">
                <a:solidFill>
                  <a:schemeClr val="bg1"/>
                </a:solidFill>
              </a:rPr>
              <a:t>Without control flow, programs would always do the exact same thing every time</a:t>
            </a:r>
          </a:p>
          <a:p>
            <a:pPr>
              <a:buFont typeface="Courier New" panose="02070309020205020404" pitchFamily="49" charset="0"/>
              <a:buChar char="o"/>
            </a:pPr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98786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8206C1-298B-51CE-51FE-15C07D677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D7630-AB43-C375-ED96-7294E5DA94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Conditions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FA1D3D-EE82-03FE-28B5-6194154FD3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CA" sz="2400" b="1" dirty="0">
                <a:solidFill>
                  <a:schemeClr val="bg1"/>
                </a:solidFill>
              </a:rPr>
              <a:t>A conditional statement </a:t>
            </a:r>
            <a:r>
              <a:rPr lang="en-CA" sz="2400" dirty="0">
                <a:solidFill>
                  <a:schemeClr val="bg1"/>
                </a:solidFill>
              </a:rPr>
              <a:t>lets Python choose what to do next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sz="2400" dirty="0">
                <a:solidFill>
                  <a:schemeClr val="bg1"/>
                </a:solidFill>
              </a:rPr>
              <a:t>Code runs ONLY if a condition is met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sz="2400" dirty="0">
                <a:solidFill>
                  <a:schemeClr val="bg1"/>
                </a:solidFill>
              </a:rPr>
              <a:t>Condition must evaluate to 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CA" sz="2400" dirty="0">
                <a:solidFill>
                  <a:schemeClr val="bg1"/>
                </a:solidFill>
              </a:rPr>
              <a:t> or 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</a:p>
          <a:p>
            <a:pPr>
              <a:buFont typeface="Courier New" panose="02070309020205020404" pitchFamily="49" charset="0"/>
              <a:buChar char="o"/>
            </a:pPr>
            <a:endParaRPr lang="en-CA" dirty="0">
              <a:solidFill>
                <a:schemeClr val="bg1"/>
              </a:solidFill>
            </a:endParaRPr>
          </a:p>
        </p:txBody>
      </p:sp>
      <p:pic>
        <p:nvPicPr>
          <p:cNvPr id="1026" name="Picture 2" descr="If Else Statement in Python">
            <a:extLst>
              <a:ext uri="{FF2B5EF4-FFF2-40B4-BE49-F238E27FC236}">
                <a16:creationId xmlns:a16="http://schemas.microsoft.com/office/drawing/2014/main" id="{30B60A3D-8287-B0BB-2AFC-6AD7C7A7CD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3063875"/>
            <a:ext cx="600075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68877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1B1786-3028-5891-1ECB-623C5E1B6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14F61-38F4-047C-4CDC-FE25968F8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The </a:t>
            </a:r>
            <a:r>
              <a:rPr lang="en-US" b="1" dirty="0">
                <a:solidFill>
                  <a:schemeClr val="bg1"/>
                </a:solidFill>
              </a:rPr>
              <a:t>if</a:t>
            </a:r>
            <a:r>
              <a:rPr lang="en-US" dirty="0">
                <a:solidFill>
                  <a:schemeClr val="bg1"/>
                </a:solidFill>
              </a:rPr>
              <a:t>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61B392-0AB4-6F7D-86CB-13A8008DA2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CA" sz="2400" dirty="0">
                <a:solidFill>
                  <a:schemeClr val="bg1"/>
                </a:solidFill>
              </a:rPr>
              <a:t>Conditional statements start with if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sz="2400" dirty="0">
                <a:solidFill>
                  <a:schemeClr val="bg1"/>
                </a:solidFill>
              </a:rPr>
              <a:t>The if keyword is followed by a condition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sz="2400" dirty="0">
                <a:solidFill>
                  <a:schemeClr val="bg1"/>
                </a:solidFill>
              </a:rPr>
              <a:t>If the condition is 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CA" sz="2400" dirty="0">
                <a:solidFill>
                  <a:schemeClr val="bg1"/>
                </a:solidFill>
              </a:rPr>
              <a:t>, the indented block of code runs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sz="2400" dirty="0">
                <a:solidFill>
                  <a:schemeClr val="bg1"/>
                </a:solidFill>
              </a:rPr>
              <a:t>If the condition is 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en-CA" sz="2400" dirty="0">
                <a:solidFill>
                  <a:schemeClr val="bg1"/>
                </a:solidFill>
              </a:rPr>
              <a:t>, the block is skipped</a:t>
            </a:r>
          </a:p>
          <a:p>
            <a:pPr>
              <a:buFont typeface="Courier New" panose="02070309020205020404" pitchFamily="49" charset="0"/>
              <a:buChar char="o"/>
            </a:pP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52DBCE-FAB6-73FB-6486-D00CAE2FB66B}"/>
              </a:ext>
            </a:extLst>
          </p:cNvPr>
          <p:cNvSpPr/>
          <p:nvPr/>
        </p:nvSpPr>
        <p:spPr>
          <a:xfrm>
            <a:off x="2017059" y="3633402"/>
            <a:ext cx="8157884" cy="51995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If statement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4EBF94-B064-08AB-774A-776E0610365C}"/>
              </a:ext>
            </a:extLst>
          </p:cNvPr>
          <p:cNvSpPr/>
          <p:nvPr/>
        </p:nvSpPr>
        <p:spPr>
          <a:xfrm>
            <a:off x="2017059" y="4579771"/>
            <a:ext cx="3872753" cy="51995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Condition is true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F6EA5FA-B3E3-9F03-AA10-FB1DC2B4981D}"/>
              </a:ext>
            </a:extLst>
          </p:cNvPr>
          <p:cNvSpPr/>
          <p:nvPr/>
        </p:nvSpPr>
        <p:spPr>
          <a:xfrm>
            <a:off x="6302190" y="4579771"/>
            <a:ext cx="3872753" cy="51995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Condition is false </a:t>
            </a:r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B6B65282-93B8-AF69-6093-887E75A31AFF}"/>
              </a:ext>
            </a:extLst>
          </p:cNvPr>
          <p:cNvSpPr/>
          <p:nvPr/>
        </p:nvSpPr>
        <p:spPr>
          <a:xfrm rot="16200000">
            <a:off x="5889812" y="2987580"/>
            <a:ext cx="412376" cy="2772006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AB20419-1336-4F21-9C1B-55648ED2F2EC}"/>
              </a:ext>
            </a:extLst>
          </p:cNvPr>
          <p:cNvSpPr/>
          <p:nvPr/>
        </p:nvSpPr>
        <p:spPr>
          <a:xfrm>
            <a:off x="2017059" y="5352060"/>
            <a:ext cx="2330823" cy="10590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Execute the if-block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20DDBE6-AE55-CA61-0834-A9AD8EBAECAA}"/>
              </a:ext>
            </a:extLst>
          </p:cNvPr>
          <p:cNvSpPr/>
          <p:nvPr/>
        </p:nvSpPr>
        <p:spPr>
          <a:xfrm>
            <a:off x="6316591" y="5358287"/>
            <a:ext cx="2330823" cy="10590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Skip the if-block</a:t>
            </a:r>
          </a:p>
        </p:txBody>
      </p:sp>
      <p:pic>
        <p:nvPicPr>
          <p:cNvPr id="13" name="Graphic 12" descr="Close with solid fill">
            <a:extLst>
              <a:ext uri="{FF2B5EF4-FFF2-40B4-BE49-F238E27FC236}">
                <a16:creationId xmlns:a16="http://schemas.microsoft.com/office/drawing/2014/main" id="{20B0B12D-504E-4DBF-B002-49F8A9FB98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65078" y="5353244"/>
            <a:ext cx="914400" cy="914400"/>
          </a:xfrm>
          <a:prstGeom prst="rect">
            <a:avLst/>
          </a:prstGeom>
        </p:spPr>
      </p:pic>
      <p:pic>
        <p:nvPicPr>
          <p:cNvPr id="15" name="Graphic 14" descr="Checkmark with solid fill">
            <a:extLst>
              <a:ext uri="{FF2B5EF4-FFF2-40B4-BE49-F238E27FC236}">
                <a16:creationId xmlns:a16="http://schemas.microsoft.com/office/drawing/2014/main" id="{CB984692-69CC-EDF5-6C2F-59C156CC812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12341" y="535324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5053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B93609-7CF3-6663-52D6-294C7A981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2D4E2-C75D-6579-16D3-C10A78BC3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The </a:t>
            </a:r>
            <a:r>
              <a:rPr lang="en-US" b="1" dirty="0">
                <a:solidFill>
                  <a:schemeClr val="bg1"/>
                </a:solidFill>
              </a:rPr>
              <a:t>if</a:t>
            </a:r>
            <a:r>
              <a:rPr lang="en-US" dirty="0">
                <a:solidFill>
                  <a:schemeClr val="bg1"/>
                </a:solidFill>
              </a:rPr>
              <a:t>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831A1C-392F-C2C8-3FA2-B3B67AB8D3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CA" sz="2400" dirty="0">
                <a:solidFill>
                  <a:schemeClr val="bg1"/>
                </a:solidFill>
              </a:rPr>
              <a:t>Conditional statements start with if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sz="2400" dirty="0">
                <a:solidFill>
                  <a:schemeClr val="bg1"/>
                </a:solidFill>
              </a:rPr>
              <a:t>The if keyword is followed by a condition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sz="2400" dirty="0">
                <a:solidFill>
                  <a:schemeClr val="bg1"/>
                </a:solidFill>
              </a:rPr>
              <a:t>If the condition is 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CA" sz="2400" dirty="0">
                <a:solidFill>
                  <a:schemeClr val="bg1"/>
                </a:solidFill>
              </a:rPr>
              <a:t>, the indented block of code runs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sz="2400" dirty="0">
                <a:solidFill>
                  <a:schemeClr val="bg1"/>
                </a:solidFill>
              </a:rPr>
              <a:t>If the condition is 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en-CA" sz="2400" dirty="0">
                <a:solidFill>
                  <a:schemeClr val="bg1"/>
                </a:solidFill>
              </a:rPr>
              <a:t>, the block is skipped</a:t>
            </a:r>
          </a:p>
          <a:p>
            <a:pPr>
              <a:buFont typeface="Courier New" panose="02070309020205020404" pitchFamily="49" charset="0"/>
              <a:buChar char="o"/>
            </a:pP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3EA32D1-B56C-57C3-C027-A2418D70378A}"/>
              </a:ext>
            </a:extLst>
          </p:cNvPr>
          <p:cNvSpPr txBox="1"/>
          <p:nvPr/>
        </p:nvSpPr>
        <p:spPr>
          <a:xfrm>
            <a:off x="1296883" y="3751913"/>
            <a:ext cx="9598233" cy="830997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 err="1">
                <a:solidFill>
                  <a:schemeClr val="bg2">
                    <a:lumMod val="50000"/>
                    <a:lumOff val="50000"/>
                  </a:schemeClr>
                </a:solidFill>
                <a:latin typeface="Courier New" panose="02070309020205020404" pitchFamily="49" charset="0"/>
              </a:rPr>
              <a:t>i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  <a:lumOff val="50000"/>
                  </a:scheme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f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condition: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	</a:t>
            </a:r>
            <a:r>
              <a:rPr lang="en-CA" sz="2400" dirty="0">
                <a:solidFill>
                  <a:schemeClr val="accent1"/>
                </a:solidFill>
                <a:latin typeface="Courier New" panose="02070309020205020404" pitchFamily="49" charset="0"/>
              </a:rPr>
              <a:t># code that runs if condition is true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24C3BE-A035-EBEA-3723-A36339E72B43}"/>
              </a:ext>
            </a:extLst>
          </p:cNvPr>
          <p:cNvSpPr txBox="1"/>
          <p:nvPr/>
        </p:nvSpPr>
        <p:spPr>
          <a:xfrm>
            <a:off x="5345216" y="4897865"/>
            <a:ext cx="5549900" cy="8309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schemeClr val="bg1"/>
                </a:solidFill>
              </a:rPr>
              <a:t>Indentation matters in Python — it defines the code block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73614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E8F7D0-3B2E-9C51-0F3A-E28AF02ED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6E9A3-CE21-6173-DEFC-1BA139B95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The </a:t>
            </a:r>
            <a:r>
              <a:rPr lang="en-US" b="1" dirty="0">
                <a:solidFill>
                  <a:schemeClr val="bg1"/>
                </a:solidFill>
              </a:rPr>
              <a:t>if</a:t>
            </a:r>
            <a:r>
              <a:rPr lang="en-US" dirty="0">
                <a:solidFill>
                  <a:schemeClr val="bg1"/>
                </a:solidFill>
              </a:rPr>
              <a:t>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0239A-2661-971C-0A88-20C1A7563C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CA" sz="2400" dirty="0">
                <a:solidFill>
                  <a:schemeClr val="bg1"/>
                </a:solidFill>
              </a:rPr>
              <a:t>Conditional statements start with if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sz="2400" dirty="0">
                <a:solidFill>
                  <a:schemeClr val="bg1"/>
                </a:solidFill>
              </a:rPr>
              <a:t>The if keyword is followed by a condition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sz="2400" dirty="0">
                <a:solidFill>
                  <a:schemeClr val="bg1"/>
                </a:solidFill>
              </a:rPr>
              <a:t>If the condition is 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True</a:t>
            </a:r>
            <a:r>
              <a:rPr lang="en-CA" sz="2400" dirty="0">
                <a:solidFill>
                  <a:schemeClr val="bg1"/>
                </a:solidFill>
              </a:rPr>
              <a:t>, the indented block of code runs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sz="2400" dirty="0">
                <a:solidFill>
                  <a:schemeClr val="bg1"/>
                </a:solidFill>
              </a:rPr>
              <a:t>If the condition is 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en-CA" sz="2400" dirty="0">
                <a:solidFill>
                  <a:schemeClr val="bg1"/>
                </a:solidFill>
              </a:rPr>
              <a:t>, the block is skipped</a:t>
            </a:r>
          </a:p>
          <a:p>
            <a:pPr>
              <a:buFont typeface="Courier New" panose="02070309020205020404" pitchFamily="49" charset="0"/>
              <a:buChar char="o"/>
            </a:pP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485AD4-60B9-83AD-92E2-E932C8B6D768}"/>
              </a:ext>
            </a:extLst>
          </p:cNvPr>
          <p:cNvSpPr txBox="1"/>
          <p:nvPr/>
        </p:nvSpPr>
        <p:spPr>
          <a:xfrm>
            <a:off x="1296883" y="3751913"/>
            <a:ext cx="9598233" cy="2308324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Example of basic if statement</a:t>
            </a:r>
          </a:p>
          <a:p>
            <a:pPr>
              <a:defRPr/>
            </a:pPr>
            <a:endParaRPr lang="en-CA" sz="2400" dirty="0">
              <a:solidFill>
                <a:schemeClr val="bg1"/>
              </a:solidFill>
              <a:latin typeface="Courier New" panose="02070309020205020404" pitchFamily="49" charset="0"/>
            </a:endParaRPr>
          </a:p>
          <a:p>
            <a:pPr>
              <a:defRPr/>
            </a:pP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year = 2022</a:t>
            </a:r>
          </a:p>
          <a:p>
            <a:pPr>
              <a:defRPr/>
            </a:pPr>
            <a:r>
              <a:rPr lang="en-CA" sz="2400" dirty="0">
                <a:solidFill>
                  <a:schemeClr val="bg2">
                    <a:lumMod val="50000"/>
                    <a:lumOff val="50000"/>
                  </a:schemeClr>
                </a:solidFill>
                <a:latin typeface="Courier New" panose="02070309020205020404" pitchFamily="49" charset="0"/>
              </a:rPr>
              <a:t>i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  <a:lumOff val="50000"/>
                  </a:scheme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f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year &gt;= 2000:</a:t>
            </a:r>
          </a:p>
          <a:p>
            <a:pPr>
              <a:defRPr/>
            </a:pP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	print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(</a:t>
            </a:r>
            <a:r>
              <a:rPr lang="en-CA" sz="2400" dirty="0">
                <a:solidFill>
                  <a:schemeClr val="accent6"/>
                </a:solidFill>
                <a:latin typeface="Courier New" panose="02070309020205020404" pitchFamily="49" charset="0"/>
              </a:rPr>
              <a:t>“We are in the 21st century”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)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rgbClr val="196B24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BC9130-0EC0-EAC3-49FC-0AC8E7C923EA}"/>
              </a:ext>
            </a:extLst>
          </p:cNvPr>
          <p:cNvSpPr txBox="1"/>
          <p:nvPr/>
        </p:nvSpPr>
        <p:spPr>
          <a:xfrm>
            <a:off x="7298665" y="3939396"/>
            <a:ext cx="4749901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schemeClr val="bg1"/>
                </a:solidFill>
              </a:rPr>
              <a:t>Condition: year &gt;= 2000</a:t>
            </a:r>
          </a:p>
          <a:p>
            <a:pPr lvl="1">
              <a:defRPr/>
            </a:pPr>
            <a:r>
              <a:rPr lang="en-CA" sz="2400" dirty="0">
                <a:solidFill>
                  <a:schemeClr val="bg1"/>
                </a:solidFill>
              </a:rPr>
              <a:t>If True → message is printed</a:t>
            </a:r>
          </a:p>
          <a:p>
            <a:pPr lvl="1">
              <a:defRPr/>
            </a:pPr>
            <a:r>
              <a:rPr lang="en-CA" sz="2400" dirty="0">
                <a:solidFill>
                  <a:schemeClr val="bg1"/>
                </a:solidFill>
              </a:rPr>
              <a:t>If False → nothing happens</a:t>
            </a:r>
          </a:p>
        </p:txBody>
      </p:sp>
      <p:pic>
        <p:nvPicPr>
          <p:cNvPr id="5" name="Graphic 4" descr="Checkmark with solid fill">
            <a:extLst>
              <a:ext uri="{FF2B5EF4-FFF2-40B4-BE49-F238E27FC236}">
                <a16:creationId xmlns:a16="http://schemas.microsoft.com/office/drawing/2014/main" id="{886C4765-EF2D-7EE1-9308-DEB9B3C608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9043" y="4815805"/>
            <a:ext cx="647840" cy="64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4749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6AFF45-E0B1-1B7A-8B10-F80A0A678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A7E94-165D-BB2A-77D7-4246E5AD9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The </a:t>
            </a:r>
            <a:r>
              <a:rPr lang="en-US" b="1" dirty="0">
                <a:solidFill>
                  <a:schemeClr val="bg1"/>
                </a:solidFill>
              </a:rPr>
              <a:t>else</a:t>
            </a:r>
            <a:r>
              <a:rPr lang="en-US" dirty="0">
                <a:solidFill>
                  <a:schemeClr val="bg1"/>
                </a:solidFill>
              </a:rPr>
              <a:t>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EC5CE8-5C8E-5172-8C84-CC7AC395B4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CA" sz="2400" dirty="0">
                <a:solidFill>
                  <a:schemeClr val="bg1"/>
                </a:solidFill>
              </a:rPr>
              <a:t>We can use an 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CA" sz="2400" dirty="0">
                <a:solidFill>
                  <a:schemeClr val="bg1"/>
                </a:solidFill>
              </a:rPr>
              <a:t> statement to tell Python what code to run if the condition evaluates to 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en-CA" sz="2400" dirty="0">
                <a:solidFill>
                  <a:schemeClr val="bg1"/>
                </a:solidFill>
              </a:rPr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sz="2400" dirty="0">
                <a:solidFill>
                  <a:schemeClr val="bg1"/>
                </a:solidFill>
              </a:rPr>
              <a:t>An 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CA" sz="2400" dirty="0">
                <a:solidFill>
                  <a:schemeClr val="bg1"/>
                </a:solidFill>
              </a:rPr>
              <a:t> statement must always be paired with an 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CA" sz="2400" dirty="0">
                <a:solidFill>
                  <a:schemeClr val="bg1"/>
                </a:solidFill>
              </a:rPr>
              <a:t> statement, but as we have seen, 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CA" sz="2400" dirty="0">
                <a:solidFill>
                  <a:schemeClr val="bg1"/>
                </a:solidFill>
              </a:rPr>
              <a:t> statements do not need to be paired with 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CA" sz="2400" dirty="0">
                <a:solidFill>
                  <a:schemeClr val="bg1"/>
                </a:solidFill>
              </a:rPr>
              <a:t>.</a:t>
            </a:r>
          </a:p>
          <a:p>
            <a:pPr>
              <a:buFont typeface="Courier New" panose="02070309020205020404" pitchFamily="49" charset="0"/>
              <a:buChar char="o"/>
            </a:pP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EADDA5-3C90-6CD5-BBF0-21A742B34FF7}"/>
              </a:ext>
            </a:extLst>
          </p:cNvPr>
          <p:cNvSpPr/>
          <p:nvPr/>
        </p:nvSpPr>
        <p:spPr>
          <a:xfrm>
            <a:off x="2142565" y="3169024"/>
            <a:ext cx="8157884" cy="51995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If statement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E9C94A9-7729-4356-EA76-3C6D4601F85B}"/>
              </a:ext>
            </a:extLst>
          </p:cNvPr>
          <p:cNvSpPr/>
          <p:nvPr/>
        </p:nvSpPr>
        <p:spPr>
          <a:xfrm>
            <a:off x="2142565" y="4115393"/>
            <a:ext cx="3872753" cy="51995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Condition is true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545B9A-A0E9-D23C-F406-BC88CEFAC204}"/>
              </a:ext>
            </a:extLst>
          </p:cNvPr>
          <p:cNvSpPr/>
          <p:nvPr/>
        </p:nvSpPr>
        <p:spPr>
          <a:xfrm>
            <a:off x="6427696" y="4115393"/>
            <a:ext cx="3872753" cy="51995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Condition is false </a:t>
            </a:r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05534821-76A0-7408-BB50-A2EB918CCCA1}"/>
              </a:ext>
            </a:extLst>
          </p:cNvPr>
          <p:cNvSpPr/>
          <p:nvPr/>
        </p:nvSpPr>
        <p:spPr>
          <a:xfrm rot="16200000">
            <a:off x="6015318" y="2523202"/>
            <a:ext cx="412376" cy="2772006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9E2FB7-508E-E41D-8D68-845ACD44EBFE}"/>
              </a:ext>
            </a:extLst>
          </p:cNvPr>
          <p:cNvSpPr/>
          <p:nvPr/>
        </p:nvSpPr>
        <p:spPr>
          <a:xfrm>
            <a:off x="2142565" y="4818406"/>
            <a:ext cx="3872753" cy="10590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Execute the if-block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6713042-B63D-C90A-980D-EA6A8FF11CE6}"/>
              </a:ext>
            </a:extLst>
          </p:cNvPr>
          <p:cNvSpPr/>
          <p:nvPr/>
        </p:nvSpPr>
        <p:spPr>
          <a:xfrm>
            <a:off x="6442097" y="4868553"/>
            <a:ext cx="3858352" cy="162432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Skip the if-block and </a:t>
            </a:r>
            <a:r>
              <a:rPr lang="en-US" sz="2800" dirty="0">
                <a:solidFill>
                  <a:prstClr val="black"/>
                </a:solidFill>
                <a:latin typeface="Aptos" panose="02110004020202020204"/>
              </a:rPr>
              <a:t>Execute the else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statement</a:t>
            </a:r>
          </a:p>
        </p:txBody>
      </p:sp>
    </p:spTree>
    <p:extLst>
      <p:ext uri="{BB962C8B-B14F-4D97-AF65-F5344CB8AC3E}">
        <p14:creationId xmlns:p14="http://schemas.microsoft.com/office/powerpoint/2010/main" val="28250062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251B15-36FA-95D3-A21A-A1CDC9ADF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277B1-0374-2768-894B-9109B4C3F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The </a:t>
            </a:r>
            <a:r>
              <a:rPr lang="en-US" b="1" dirty="0">
                <a:solidFill>
                  <a:schemeClr val="bg1"/>
                </a:solidFill>
              </a:rPr>
              <a:t>else</a:t>
            </a:r>
            <a:r>
              <a:rPr lang="en-US" dirty="0">
                <a:solidFill>
                  <a:schemeClr val="bg1"/>
                </a:solidFill>
              </a:rPr>
              <a:t>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968FB-B974-A99E-5B6C-3DF49AB87E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CA" sz="2400" dirty="0">
                <a:solidFill>
                  <a:schemeClr val="bg1"/>
                </a:solidFill>
              </a:rPr>
              <a:t>We can use an 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CA" sz="2400" dirty="0">
                <a:solidFill>
                  <a:schemeClr val="bg1"/>
                </a:solidFill>
              </a:rPr>
              <a:t> statement to tell Python what code to run if the condition evaluates to 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en-CA" sz="2400" dirty="0">
                <a:solidFill>
                  <a:schemeClr val="bg1"/>
                </a:solidFill>
              </a:rPr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sz="2400" dirty="0">
                <a:solidFill>
                  <a:schemeClr val="bg1"/>
                </a:solidFill>
              </a:rPr>
              <a:t>An 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CA" sz="2400" dirty="0">
                <a:solidFill>
                  <a:schemeClr val="bg1"/>
                </a:solidFill>
              </a:rPr>
              <a:t> statement must always be paired with an 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CA" sz="2400" dirty="0">
                <a:solidFill>
                  <a:schemeClr val="bg1"/>
                </a:solidFill>
              </a:rPr>
              <a:t> statement, but as we have seen, 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CA" sz="2400" dirty="0">
                <a:solidFill>
                  <a:schemeClr val="bg1"/>
                </a:solidFill>
              </a:rPr>
              <a:t> statements do not need to be paired with 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CA" sz="2400" dirty="0">
                <a:solidFill>
                  <a:schemeClr val="bg1"/>
                </a:solidFill>
              </a:rPr>
              <a:t>.</a:t>
            </a:r>
          </a:p>
          <a:p>
            <a:pPr marL="0" indent="0">
              <a:buNone/>
            </a:pP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C88578-D91B-3AD7-0AF1-B747F5E16C06}"/>
              </a:ext>
            </a:extLst>
          </p:cNvPr>
          <p:cNvSpPr txBox="1"/>
          <p:nvPr/>
        </p:nvSpPr>
        <p:spPr>
          <a:xfrm>
            <a:off x="1296883" y="3751913"/>
            <a:ext cx="9598233" cy="2677656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Example of if/else statement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year = 1999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50000"/>
                    <a:lumOff val="50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if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year &gt;= 2000: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	print(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“We are in the 21st century”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schemeClr val="accent3"/>
                </a:solidFill>
                <a:latin typeface="Courier New" panose="02070309020205020404" pitchFamily="49" charset="0"/>
              </a:rPr>
              <a:t>e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lse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:</a:t>
            </a:r>
          </a:p>
          <a:p>
            <a:pPr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	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print(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“We are not in the 21st century”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44405C-46DA-F366-7389-2CB5F3061765}"/>
              </a:ext>
            </a:extLst>
          </p:cNvPr>
          <p:cNvSpPr txBox="1"/>
          <p:nvPr/>
        </p:nvSpPr>
        <p:spPr>
          <a:xfrm>
            <a:off x="7064389" y="3890412"/>
            <a:ext cx="5020237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Condition: year &gt;= 2000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If True → execute if statement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If False → execute else statement</a:t>
            </a:r>
          </a:p>
        </p:txBody>
      </p:sp>
      <p:pic>
        <p:nvPicPr>
          <p:cNvPr id="6" name="Graphic 5" descr="Close with solid fill">
            <a:extLst>
              <a:ext uri="{FF2B5EF4-FFF2-40B4-BE49-F238E27FC236}">
                <a16:creationId xmlns:a16="http://schemas.microsoft.com/office/drawing/2014/main" id="{E1780756-4850-9B25-33BE-A4400C0ED9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2907" y="4926150"/>
            <a:ext cx="711211" cy="711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1810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CD4208-33D8-E0B5-B53E-97B4ED4E3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AFADF-79ED-5396-985E-9F02126E7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The </a:t>
            </a:r>
            <a:r>
              <a:rPr lang="en-US" b="1" dirty="0" err="1">
                <a:solidFill>
                  <a:schemeClr val="bg1"/>
                </a:solidFill>
              </a:rPr>
              <a:t>elif</a:t>
            </a:r>
            <a:r>
              <a:rPr lang="en-US" dirty="0">
                <a:solidFill>
                  <a:schemeClr val="bg1"/>
                </a:solidFill>
              </a:rPr>
              <a:t>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14566-6E36-4504-6443-92F1F69158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6481"/>
            <a:ext cx="4435916" cy="4351338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CA" sz="2400" dirty="0">
                <a:solidFill>
                  <a:schemeClr val="bg1"/>
                </a:solidFill>
              </a:rPr>
              <a:t>We can evaluate several conditions one after another with </a:t>
            </a:r>
            <a:r>
              <a:rPr lang="en-CA" sz="2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elif</a:t>
            </a:r>
            <a:r>
              <a:rPr lang="en-CA" sz="2400" dirty="0">
                <a:solidFill>
                  <a:schemeClr val="bg1"/>
                </a:solidFill>
              </a:rPr>
              <a:t>, which is short for "</a:t>
            </a:r>
            <a:r>
              <a:rPr lang="en-CA" sz="2400" b="1" dirty="0">
                <a:solidFill>
                  <a:schemeClr val="bg1"/>
                </a:solidFill>
              </a:rPr>
              <a:t>else if</a:t>
            </a:r>
            <a:r>
              <a:rPr lang="en-CA" sz="2400" dirty="0">
                <a:solidFill>
                  <a:schemeClr val="bg1"/>
                </a:solidFill>
              </a:rPr>
              <a:t>".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sz="2400" dirty="0">
                <a:solidFill>
                  <a:schemeClr val="bg1"/>
                </a:solidFill>
              </a:rPr>
              <a:t>Conditions are checked in the order they appear.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sz="2400" dirty="0">
                <a:solidFill>
                  <a:schemeClr val="bg1"/>
                </a:solidFill>
              </a:rPr>
              <a:t>Python will execute the code block under the first `True` condition and skip subsequent </a:t>
            </a:r>
            <a:r>
              <a:rPr lang="en-CA" sz="2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elif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sz="2400" dirty="0">
                <a:solidFill>
                  <a:schemeClr val="bg1"/>
                </a:solidFill>
              </a:rPr>
              <a:t> and 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CA" sz="2400" dirty="0">
                <a:solidFill>
                  <a:schemeClr val="bg1"/>
                </a:solidFill>
              </a:rPr>
              <a:t> statements after without evaluating them.</a:t>
            </a:r>
          </a:p>
          <a:p>
            <a:pPr>
              <a:buFont typeface="Courier New" panose="02070309020205020404" pitchFamily="49" charset="0"/>
              <a:buChar char="o"/>
            </a:pP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64D118-D9BD-395C-2DC5-3A845F6BA3B5}"/>
              </a:ext>
            </a:extLst>
          </p:cNvPr>
          <p:cNvSpPr/>
          <p:nvPr/>
        </p:nvSpPr>
        <p:spPr>
          <a:xfrm>
            <a:off x="5611906" y="652880"/>
            <a:ext cx="6320118" cy="51995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If statement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FDDCCA-E7D7-63F6-0611-FA89206BAEC7}"/>
              </a:ext>
            </a:extLst>
          </p:cNvPr>
          <p:cNvSpPr/>
          <p:nvPr/>
        </p:nvSpPr>
        <p:spPr>
          <a:xfrm>
            <a:off x="5611906" y="1568386"/>
            <a:ext cx="2772006" cy="51995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Condition is true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700D65-9147-4AD3-4720-3C32334F97F8}"/>
              </a:ext>
            </a:extLst>
          </p:cNvPr>
          <p:cNvSpPr/>
          <p:nvPr/>
        </p:nvSpPr>
        <p:spPr>
          <a:xfrm>
            <a:off x="8721702" y="1568386"/>
            <a:ext cx="3210322" cy="51995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Condition is false </a:t>
            </a:r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D2162A95-AF43-76F0-EBCF-CED76A30FD05}"/>
              </a:ext>
            </a:extLst>
          </p:cNvPr>
          <p:cNvSpPr/>
          <p:nvPr/>
        </p:nvSpPr>
        <p:spPr>
          <a:xfrm rot="16200000">
            <a:off x="8314765" y="-6983"/>
            <a:ext cx="412376" cy="2772006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5A0A53-CCE5-FF76-62CE-D58FD9ECD571}"/>
              </a:ext>
            </a:extLst>
          </p:cNvPr>
          <p:cNvSpPr/>
          <p:nvPr/>
        </p:nvSpPr>
        <p:spPr>
          <a:xfrm>
            <a:off x="5611906" y="2175366"/>
            <a:ext cx="2772006" cy="10590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Execute the if-block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02EF3F4-5C9C-95D2-DAAC-A11D6F5BBC0E}"/>
              </a:ext>
            </a:extLst>
          </p:cNvPr>
          <p:cNvSpPr/>
          <p:nvPr/>
        </p:nvSpPr>
        <p:spPr>
          <a:xfrm>
            <a:off x="8721700" y="2212444"/>
            <a:ext cx="3210323" cy="162432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Skip the if-block and evaluate the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elif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statement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62FC38-1611-9326-82C5-54BD0AA90016}"/>
              </a:ext>
            </a:extLst>
          </p:cNvPr>
          <p:cNvSpPr/>
          <p:nvPr/>
        </p:nvSpPr>
        <p:spPr>
          <a:xfrm>
            <a:off x="7753751" y="4221517"/>
            <a:ext cx="1838005" cy="51995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True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40A3FD7-6E74-BE8E-0A0F-194F569AC218}"/>
              </a:ext>
            </a:extLst>
          </p:cNvPr>
          <p:cNvSpPr/>
          <p:nvPr/>
        </p:nvSpPr>
        <p:spPr>
          <a:xfrm>
            <a:off x="9982678" y="4221517"/>
            <a:ext cx="1949344" cy="51995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False</a:t>
            </a:r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62E1A8B9-D4EB-5E15-E4D2-4D9077FC33F9}"/>
              </a:ext>
            </a:extLst>
          </p:cNvPr>
          <p:cNvSpPr/>
          <p:nvPr/>
        </p:nvSpPr>
        <p:spPr>
          <a:xfrm rot="16200000">
            <a:off x="9919925" y="2646148"/>
            <a:ext cx="412376" cy="2772006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A0ECDBC-DD52-F29E-2AC6-45FC49CFC776}"/>
              </a:ext>
            </a:extLst>
          </p:cNvPr>
          <p:cNvSpPr/>
          <p:nvPr/>
        </p:nvSpPr>
        <p:spPr>
          <a:xfrm>
            <a:off x="7753751" y="4888846"/>
            <a:ext cx="1935898" cy="17616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Execute the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elif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statement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FBB4142-4799-5A2B-04CD-AF6ADF6AF35B}"/>
              </a:ext>
            </a:extLst>
          </p:cNvPr>
          <p:cNvSpPr/>
          <p:nvPr/>
        </p:nvSpPr>
        <p:spPr>
          <a:xfrm>
            <a:off x="9982678" y="4806639"/>
            <a:ext cx="1949344" cy="184390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Evaluate the next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elif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statement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AF1F46C-5752-1ADA-356E-A06FC42FBE3D}"/>
              </a:ext>
            </a:extLst>
          </p:cNvPr>
          <p:cNvSpPr txBox="1"/>
          <p:nvPr/>
        </p:nvSpPr>
        <p:spPr>
          <a:xfrm>
            <a:off x="11550186" y="6531047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/>
                </a:solidFill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7080187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AE1576-492C-E401-837D-FDA3FEE33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44115-D4BD-A5AC-468F-2D5318AEC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The </a:t>
            </a:r>
            <a:r>
              <a:rPr lang="en-US" b="1" dirty="0">
                <a:solidFill>
                  <a:schemeClr val="bg1"/>
                </a:solidFill>
              </a:rPr>
              <a:t>else</a:t>
            </a:r>
            <a:r>
              <a:rPr lang="en-US" dirty="0">
                <a:solidFill>
                  <a:schemeClr val="bg1"/>
                </a:solidFill>
              </a:rPr>
              <a:t>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1AFE6-BD7C-BE7A-7E0F-C27EE89760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CA" sz="2400" dirty="0">
                <a:solidFill>
                  <a:schemeClr val="bg1"/>
                </a:solidFill>
              </a:rPr>
              <a:t>We can evaluate several conditions one after another with </a:t>
            </a:r>
            <a:r>
              <a:rPr lang="en-CA" sz="2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elif</a:t>
            </a:r>
            <a:r>
              <a:rPr lang="en-CA" sz="2400" dirty="0">
                <a:solidFill>
                  <a:schemeClr val="bg1"/>
                </a:solidFill>
              </a:rPr>
              <a:t>, which is short for "</a:t>
            </a:r>
            <a:r>
              <a:rPr lang="en-CA" sz="2400" b="1" dirty="0">
                <a:solidFill>
                  <a:schemeClr val="bg1"/>
                </a:solidFill>
              </a:rPr>
              <a:t>else if</a:t>
            </a:r>
            <a:r>
              <a:rPr lang="en-CA" sz="2400" dirty="0">
                <a:solidFill>
                  <a:schemeClr val="bg1"/>
                </a:solidFill>
              </a:rPr>
              <a:t>".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sz="2400" dirty="0">
                <a:solidFill>
                  <a:schemeClr val="bg1"/>
                </a:solidFill>
              </a:rPr>
              <a:t>Conditions are checked in the order they appear.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sz="2400" dirty="0">
                <a:solidFill>
                  <a:schemeClr val="bg1"/>
                </a:solidFill>
              </a:rPr>
              <a:t>Python will execute the code block under the first `True` condition and skip subsequent </a:t>
            </a:r>
            <a:r>
              <a:rPr lang="en-CA" sz="2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elif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sz="2400" dirty="0">
                <a:solidFill>
                  <a:schemeClr val="bg1"/>
                </a:solidFill>
              </a:rPr>
              <a:t> and 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CA" sz="2400" dirty="0">
                <a:solidFill>
                  <a:schemeClr val="bg1"/>
                </a:solidFill>
              </a:rPr>
              <a:t> statements after without evaluating them.</a:t>
            </a:r>
          </a:p>
          <a:p>
            <a:pPr marL="0" indent="0">
              <a:buNone/>
            </a:pP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670C53-C940-EE33-4830-AB1B0E2FE015}"/>
              </a:ext>
            </a:extLst>
          </p:cNvPr>
          <p:cNvSpPr txBox="1"/>
          <p:nvPr/>
        </p:nvSpPr>
        <p:spPr>
          <a:xfrm>
            <a:off x="1067541" y="3626407"/>
            <a:ext cx="10056917" cy="3046988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Example of if/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elif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/else statement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year = 1867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50000"/>
                    <a:lumOff val="50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if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year &gt;= 2000: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	print(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“We are in the 21st century”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srgbClr val="156082"/>
                </a:solidFill>
                <a:latin typeface="Courier New" panose="02070309020205020404" pitchFamily="49" charset="0"/>
              </a:rPr>
              <a:t>e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lif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year &gt;= 1900: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	print(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“We are in the 20st century”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rgbClr val="156082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else: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	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print(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“We are not in the 20th or 21st century”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</a:t>
            </a:r>
          </a:p>
        </p:txBody>
      </p:sp>
      <p:pic>
        <p:nvPicPr>
          <p:cNvPr id="6" name="Graphic 5" descr="Close with solid fill">
            <a:extLst>
              <a:ext uri="{FF2B5EF4-FFF2-40B4-BE49-F238E27FC236}">
                <a16:creationId xmlns:a16="http://schemas.microsoft.com/office/drawing/2014/main" id="{F2EDB4A7-C968-44D4-EFE4-A3D559CCD6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4259" y="4997866"/>
            <a:ext cx="711211" cy="711211"/>
          </a:xfrm>
          <a:prstGeom prst="rect">
            <a:avLst/>
          </a:prstGeom>
        </p:spPr>
      </p:pic>
      <p:pic>
        <p:nvPicPr>
          <p:cNvPr id="7" name="Graphic 6" descr="Close with solid fill">
            <a:extLst>
              <a:ext uri="{FF2B5EF4-FFF2-40B4-BE49-F238E27FC236}">
                <a16:creationId xmlns:a16="http://schemas.microsoft.com/office/drawing/2014/main" id="{294DC7D6-1B36-6995-C69A-2142724B77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1848" y="4286655"/>
            <a:ext cx="711211" cy="711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791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274088-77F7-C986-A126-0CEB282AE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CCA53-202A-823B-8525-9ADBC48BE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Quiz: Conditional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07AFD2-BF04-3716-32D1-F58EBC1923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 marL="457200" indent="-457200">
              <a:buAutoNum type="arabicPeriod"/>
            </a:pPr>
            <a:r>
              <a:rPr lang="en-CA" sz="2400" b="1" dirty="0">
                <a:solidFill>
                  <a:schemeClr val="bg1"/>
                </a:solidFill>
              </a:rPr>
              <a:t>What keyword is used to check an additional condition after an if statement?</a:t>
            </a:r>
          </a:p>
          <a:p>
            <a:pPr marL="457200" indent="-457200">
              <a:buAutoNum type="arabicPeriod"/>
            </a:pPr>
            <a:endParaRPr lang="en-CA" sz="2400" dirty="0">
              <a:solidFill>
                <a:schemeClr val="bg1"/>
              </a:solidFill>
            </a:endParaRP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Else if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elseif</a:t>
            </a:r>
          </a:p>
          <a:p>
            <a:pPr marL="457200" indent="-457200">
              <a:buAutoNum type="alphaUcPeriod"/>
            </a:pPr>
            <a:r>
              <a:rPr lang="en-CA" sz="2400" dirty="0" err="1">
                <a:solidFill>
                  <a:schemeClr val="bg1"/>
                </a:solidFill>
              </a:rPr>
              <a:t>elif</a:t>
            </a:r>
            <a:endParaRPr lang="en-CA" sz="2400" dirty="0">
              <a:solidFill>
                <a:schemeClr val="bg1"/>
              </a:solidFill>
            </a:endParaRP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If else</a:t>
            </a:r>
          </a:p>
          <a:p>
            <a:pPr marL="0" indent="0">
              <a:buNone/>
            </a:pPr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37147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313965-8370-DF8F-037D-97092BC13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8C8DB-EF9B-B222-D5AC-8F91AD24B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Quiz: Conditional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2D4148-B57E-D531-2FEC-FF1896E093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CA" sz="2400" b="1" dirty="0">
                <a:solidFill>
                  <a:schemeClr val="bg1"/>
                </a:solidFill>
              </a:rPr>
              <a:t>2. How many </a:t>
            </a:r>
            <a:r>
              <a:rPr lang="en-CA" sz="2400" b="1" i="1" dirty="0">
                <a:solidFill>
                  <a:schemeClr val="bg1"/>
                </a:solidFill>
              </a:rPr>
              <a:t>else</a:t>
            </a:r>
            <a:r>
              <a:rPr lang="en-CA" sz="2400" b="1" dirty="0">
                <a:solidFill>
                  <a:schemeClr val="bg1"/>
                </a:solidFill>
              </a:rPr>
              <a:t> blocks can an if statement have?</a:t>
            </a:r>
          </a:p>
          <a:p>
            <a:pPr marL="457200" indent="-457200">
              <a:buAutoNum type="arabicPeriod"/>
            </a:pPr>
            <a:endParaRPr lang="en-CA" sz="2400" dirty="0">
              <a:solidFill>
                <a:schemeClr val="bg1"/>
              </a:solidFill>
            </a:endParaRP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Zero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One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Two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Unlimited</a:t>
            </a:r>
          </a:p>
          <a:p>
            <a:pPr marL="0" indent="0">
              <a:buNone/>
            </a:pPr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64288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97D584-E191-A0F3-B154-4D343F7BF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6467A-6F70-65D1-63BD-5033DCB14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Quiz: Conditional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9264BC-973E-A655-4D98-DB9080FA5F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CA" sz="2400" b="1" dirty="0">
                <a:solidFill>
                  <a:schemeClr val="bg1"/>
                </a:solidFill>
              </a:rPr>
              <a:t>3. Which statement is true?</a:t>
            </a:r>
          </a:p>
          <a:p>
            <a:pPr marL="0" indent="0">
              <a:buNone/>
            </a:pPr>
            <a:endParaRPr lang="en-CA" sz="2400" dirty="0">
              <a:solidFill>
                <a:schemeClr val="bg1"/>
              </a:solidFill>
            </a:endParaRPr>
          </a:p>
          <a:p>
            <a:pPr marL="457200" indent="-457200">
              <a:buAutoNum type="alphaUcPeriod"/>
            </a:pPr>
            <a:r>
              <a:rPr lang="en-CA" sz="2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elif</a:t>
            </a:r>
            <a:r>
              <a:rPr lang="en-CA" sz="2400" dirty="0">
                <a:solidFill>
                  <a:schemeClr val="bg1"/>
                </a:solidFill>
              </a:rPr>
              <a:t> must come before 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CA" sz="2400" dirty="0">
                <a:solidFill>
                  <a:schemeClr val="bg1"/>
                </a:solidFill>
              </a:rPr>
              <a:t> can appear before </a:t>
            </a:r>
            <a:r>
              <a:rPr lang="en-CA" sz="2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elif</a:t>
            </a:r>
            <a:endParaRPr lang="en-CA" sz="2400" dirty="0">
              <a:solidFill>
                <a:schemeClr val="bg1"/>
              </a:solidFill>
            </a:endParaRP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An 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CA" sz="2400" dirty="0">
                <a:solidFill>
                  <a:schemeClr val="bg1"/>
                </a:solidFill>
              </a:rPr>
              <a:t> statement can exist without 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endParaRPr lang="en-CA" sz="2400" dirty="0">
              <a:solidFill>
                <a:schemeClr val="bg1"/>
              </a:solidFill>
            </a:endParaRP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An 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CA" sz="2400" dirty="0">
                <a:solidFill>
                  <a:schemeClr val="bg1"/>
                </a:solidFill>
              </a:rPr>
              <a:t> statement must always have </a:t>
            </a:r>
            <a:r>
              <a:rPr lang="en-CA" sz="2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elif</a:t>
            </a:r>
            <a:endParaRPr lang="en-CA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54574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CD58D7-BF8E-1254-DE93-F26473058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4CB36-109C-F4A7-48FA-EEDDB9DF5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Quiz: Conditional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DA06D7-DC39-8870-FE01-E8EEB61184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CA" sz="2400" b="1" dirty="0">
                <a:solidFill>
                  <a:schemeClr val="bg1"/>
                </a:solidFill>
              </a:rPr>
              <a:t>4.   What is printed from the following code?</a:t>
            </a:r>
          </a:p>
          <a:p>
            <a:pPr marL="457200" indent="-457200">
              <a:buAutoNum type="arabicPeriod"/>
            </a:pPr>
            <a:endParaRPr lang="en-CA" sz="24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22C5E0-CA55-4128-C2CA-6A67C1BF2AC4}"/>
              </a:ext>
            </a:extLst>
          </p:cNvPr>
          <p:cNvSpPr txBox="1"/>
          <p:nvPr/>
        </p:nvSpPr>
        <p:spPr>
          <a:xfrm>
            <a:off x="1163533" y="2182253"/>
            <a:ext cx="9598233" cy="2308324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>
              <a:defRPr/>
            </a:pP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x = 10</a:t>
            </a:r>
          </a:p>
          <a:p>
            <a:pPr>
              <a:defRPr/>
            </a:pPr>
            <a:endParaRPr lang="en-CA" sz="2400" dirty="0">
              <a:solidFill>
                <a:schemeClr val="bg1"/>
              </a:solidFill>
              <a:latin typeface="Courier New" panose="02070309020205020404" pitchFamily="49" charset="0"/>
            </a:endParaRPr>
          </a:p>
          <a:p>
            <a:pPr>
              <a:defRPr/>
            </a:pPr>
            <a:r>
              <a:rPr lang="en-CA" sz="2400" dirty="0">
                <a:solidFill>
                  <a:schemeClr val="bg2">
                    <a:lumMod val="50000"/>
                    <a:lumOff val="50000"/>
                  </a:schemeClr>
                </a:solidFill>
                <a:latin typeface="Courier New" panose="02070309020205020404" pitchFamily="49" charset="0"/>
              </a:rPr>
              <a:t>i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  <a:lumOff val="50000"/>
                  </a:scheme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f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x &gt; 5:</a:t>
            </a:r>
          </a:p>
          <a:p>
            <a:pPr>
              <a:defRPr/>
            </a:pP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	print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(</a:t>
            </a:r>
            <a:r>
              <a:rPr lang="en-CA" sz="2400" dirty="0">
                <a:solidFill>
                  <a:schemeClr val="accent6"/>
                </a:solidFill>
                <a:latin typeface="Courier New" panose="02070309020205020404" pitchFamily="49" charset="0"/>
              </a:rPr>
              <a:t>“A”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)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2">
                    <a:lumMod val="50000"/>
                    <a:lumOff val="50000"/>
                  </a:scheme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else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: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	print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(</a:t>
            </a:r>
            <a:r>
              <a:rPr lang="en-CA" sz="2400" dirty="0">
                <a:solidFill>
                  <a:schemeClr val="accent6"/>
                </a:solidFill>
                <a:latin typeface="Courier New" panose="02070309020205020404" pitchFamily="49" charset="0"/>
              </a:rPr>
              <a:t>“B”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)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rgbClr val="196B24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32745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614055-16C6-44B7-BD40-BCDAE7421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891A7-5A43-5D12-B143-2FCED09AC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Quiz: Conditional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DE03D-55A3-2E17-723E-2EAAA53A4F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CA" sz="2400" b="1" dirty="0">
                <a:solidFill>
                  <a:schemeClr val="bg1"/>
                </a:solidFill>
              </a:rPr>
              <a:t>5.  What is printed from the following code?</a:t>
            </a:r>
          </a:p>
          <a:p>
            <a:pPr marL="457200" indent="-457200">
              <a:buAutoNum type="arabicPeriod"/>
            </a:pPr>
            <a:endParaRPr lang="en-CA" sz="24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3030F5-B394-4630-2164-E40E16A190A6}"/>
              </a:ext>
            </a:extLst>
          </p:cNvPr>
          <p:cNvSpPr txBox="1"/>
          <p:nvPr/>
        </p:nvSpPr>
        <p:spPr>
          <a:xfrm>
            <a:off x="1163533" y="2182253"/>
            <a:ext cx="9598233" cy="3785652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score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= </a:t>
            </a: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85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50000"/>
                    <a:lumOff val="50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if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score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&gt;= </a:t>
            </a: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90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	print(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“A”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 err="1">
                <a:solidFill>
                  <a:schemeClr val="accent3"/>
                </a:solidFill>
                <a:latin typeface="Courier New" panose="02070309020205020404" pitchFamily="49" charset="0"/>
              </a:rPr>
              <a:t>elif</a:t>
            </a: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 score &gt;= 80:</a:t>
            </a:r>
          </a:p>
          <a:p>
            <a:pPr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	print(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“B”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rgbClr val="196B24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 err="1">
                <a:solidFill>
                  <a:schemeClr val="accent3"/>
                </a:solidFill>
                <a:latin typeface="Courier New" panose="02070309020205020404" pitchFamily="49" charset="0"/>
              </a:rPr>
              <a:t>elif</a:t>
            </a: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 score &gt;= 70:</a:t>
            </a:r>
          </a:p>
          <a:p>
            <a:pPr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	print(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“C”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50000"/>
                    <a:lumOff val="50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else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: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	print(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“D”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rgbClr val="196B24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7203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E49CFF-50AB-E0F7-BA1B-5451FC321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F1731-A654-0B6F-4DBA-C7778A30B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Exercise #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3B0942-0BFA-C53B-C9B6-AE250C3C9E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0400"/>
            <a:ext cx="11023599" cy="4351338"/>
          </a:xfrm>
        </p:spPr>
        <p:txBody>
          <a:bodyPr>
            <a:normAutofit/>
          </a:bodyPr>
          <a:lstStyle/>
          <a:p>
            <a:r>
              <a:rPr lang="en-CA" sz="2400" b="0" dirty="0">
                <a:solidFill>
                  <a:schemeClr val="bg1"/>
                </a:solidFill>
                <a:effectLst/>
              </a:rPr>
              <a:t>Try this on your own:</a:t>
            </a:r>
          </a:p>
          <a:p>
            <a:endParaRPr lang="en-CA" sz="2400" b="0" dirty="0">
              <a:solidFill>
                <a:schemeClr val="bg1"/>
              </a:solidFill>
              <a:effectLst/>
            </a:endParaRPr>
          </a:p>
          <a:p>
            <a:pPr lvl="1"/>
            <a:r>
              <a:rPr lang="en-CA" b="0" dirty="0">
                <a:solidFill>
                  <a:schemeClr val="bg1"/>
                </a:solidFill>
                <a:effectLst/>
              </a:rPr>
              <a:t>Write a program where it outputs how cold the weather is based on these conditions: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CA" sz="2400" b="0" dirty="0">
                <a:solidFill>
                  <a:schemeClr val="bg1"/>
                </a:solidFill>
                <a:effectLst/>
              </a:rPr>
              <a:t>Less than 0C, it is freezing cold!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CA" sz="2400" b="0" dirty="0">
                <a:solidFill>
                  <a:schemeClr val="bg1"/>
                </a:solidFill>
                <a:effectLst/>
              </a:rPr>
              <a:t>Between 1 and 15C, it is cold!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CA" sz="2400" b="0" dirty="0">
                <a:solidFill>
                  <a:schemeClr val="bg1"/>
                </a:solidFill>
                <a:effectLst/>
              </a:rPr>
              <a:t>Between 16 and 30C, it is hot!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CA" sz="2400" b="0" dirty="0">
                <a:solidFill>
                  <a:schemeClr val="bg1"/>
                </a:solidFill>
                <a:effectLst/>
              </a:rPr>
              <a:t>Between 31 and 45C, it is really hot!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CA" sz="2400" b="0" dirty="0">
                <a:solidFill>
                  <a:schemeClr val="bg1"/>
                </a:solidFill>
                <a:effectLst/>
              </a:rPr>
              <a:t>Over 45C, it is extremely hot!</a:t>
            </a:r>
          </a:p>
          <a:p>
            <a:pPr lvl="1"/>
            <a:endParaRPr lang="en-CA" b="0" dirty="0">
              <a:solidFill>
                <a:schemeClr val="bg1"/>
              </a:solidFill>
              <a:effectLst/>
            </a:endParaRPr>
          </a:p>
        </p:txBody>
      </p:sp>
      <p:pic>
        <p:nvPicPr>
          <p:cNvPr id="5" name="Graphic 4" descr="Partial sun outline">
            <a:extLst>
              <a:ext uri="{FF2B5EF4-FFF2-40B4-BE49-F238E27FC236}">
                <a16:creationId xmlns:a16="http://schemas.microsoft.com/office/drawing/2014/main" id="{F2B01930-1595-EEA7-FB3F-D20C34A2E5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39518" y="3008928"/>
            <a:ext cx="2214282" cy="2214282"/>
          </a:xfrm>
          <a:prstGeom prst="rect">
            <a:avLst/>
          </a:prstGeom>
        </p:spPr>
      </p:pic>
      <p:pic>
        <p:nvPicPr>
          <p:cNvPr id="7" name="Graphic 6" descr="Snowflake with solid fill">
            <a:extLst>
              <a:ext uri="{FF2B5EF4-FFF2-40B4-BE49-F238E27FC236}">
                <a16:creationId xmlns:a16="http://schemas.microsoft.com/office/drawing/2014/main" id="{AFA88C3D-9EFB-1161-7D20-A3F88BFF5E0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93106" y="3981598"/>
            <a:ext cx="2483224" cy="2483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7365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259C11-6FA6-347F-0151-448603BF5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4D087-0EFD-6D2D-D0BD-F35F01032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Building more complex conditions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E13450-3784-7CAE-5C7F-CC7EA9854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r>
              <a:rPr lang="en-CA" sz="2400" b="0" dirty="0">
                <a:solidFill>
                  <a:schemeClr val="bg1"/>
                </a:solidFill>
                <a:effectLst/>
              </a:rPr>
              <a:t>We can use logical operators to check more complex conditions</a:t>
            </a:r>
          </a:p>
          <a:p>
            <a:r>
              <a:rPr lang="en-CA" sz="2400" b="0" dirty="0">
                <a:solidFill>
                  <a:schemeClr val="bg1"/>
                </a:solidFill>
                <a:effectLst/>
              </a:rPr>
              <a:t>This allows us to test multiple rules at the same time</a:t>
            </a:r>
          </a:p>
          <a:p>
            <a:r>
              <a:rPr lang="en-CA" sz="2400" dirty="0">
                <a:solidFill>
                  <a:schemeClr val="bg1"/>
                </a:solidFill>
              </a:rPr>
              <a:t>For example, we can use </a:t>
            </a:r>
            <a:r>
              <a:rPr lang="en-CA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and</a:t>
            </a:r>
            <a:r>
              <a:rPr lang="en-CA" sz="2400" dirty="0">
                <a:solidFill>
                  <a:schemeClr val="bg1"/>
                </a:solidFill>
              </a:rPr>
              <a:t> to </a:t>
            </a:r>
            <a:r>
              <a:rPr lang="en-CA" sz="2400" b="1" dirty="0">
                <a:solidFill>
                  <a:schemeClr val="bg1"/>
                </a:solidFill>
              </a:rPr>
              <a:t>check if </a:t>
            </a:r>
            <a:r>
              <a:rPr lang="en-CA" sz="2400" b="1" u="sng" dirty="0">
                <a:solidFill>
                  <a:schemeClr val="bg1"/>
                </a:solidFill>
              </a:rPr>
              <a:t>both</a:t>
            </a:r>
            <a:r>
              <a:rPr lang="en-CA" sz="2400" b="1" dirty="0">
                <a:solidFill>
                  <a:schemeClr val="bg1"/>
                </a:solidFill>
              </a:rPr>
              <a:t> conditions are True </a:t>
            </a:r>
            <a:endParaRPr lang="en-CA" sz="2400" b="1" dirty="0">
              <a:solidFill>
                <a:schemeClr val="bg1"/>
              </a:solidFill>
              <a:effectLst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7BE854-04D3-17FA-F5A8-67EA051AC9FB}"/>
              </a:ext>
            </a:extLst>
          </p:cNvPr>
          <p:cNvSpPr txBox="1"/>
          <p:nvPr/>
        </p:nvSpPr>
        <p:spPr>
          <a:xfrm>
            <a:off x="1067541" y="3626407"/>
            <a:ext cx="10056917" cy="2308324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Example of if statement with and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age = 20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 err="1">
                <a:solidFill>
                  <a:prstClr val="black"/>
                </a:solidFill>
                <a:latin typeface="Courier New" panose="02070309020205020404" pitchFamily="49" charset="0"/>
              </a:rPr>
              <a:t>has_id</a:t>
            </a: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 = True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50000"/>
                    <a:lumOff val="50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if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age &gt;= 18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and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has_id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	print(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“You are able to enter”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5EF808-8BF7-9094-FE8C-C1DEEBB8C9CA}"/>
              </a:ext>
            </a:extLst>
          </p:cNvPr>
          <p:cNvSpPr txBox="1"/>
          <p:nvPr/>
        </p:nvSpPr>
        <p:spPr>
          <a:xfrm>
            <a:off x="7171763" y="4365070"/>
            <a:ext cx="4454180" cy="8309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Both conditions must be true to execute the indented code </a:t>
            </a:r>
          </a:p>
        </p:txBody>
      </p:sp>
    </p:spTree>
    <p:extLst>
      <p:ext uri="{BB962C8B-B14F-4D97-AF65-F5344CB8AC3E}">
        <p14:creationId xmlns:p14="http://schemas.microsoft.com/office/powerpoint/2010/main" val="22518630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1021EC-2FE4-5E63-4378-1F4AF629B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1861E-BDB7-72A6-61B3-52AE9D449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Building more complex conditions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DA1E0D-9DFF-C436-D517-6CC4F511A3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r>
              <a:rPr lang="en-CA" sz="2400" b="0" dirty="0">
                <a:solidFill>
                  <a:schemeClr val="bg1"/>
                </a:solidFill>
                <a:effectLst/>
              </a:rPr>
              <a:t>We can use logical operators to check more complex conditions</a:t>
            </a:r>
          </a:p>
          <a:p>
            <a:r>
              <a:rPr lang="en-CA" sz="2400" b="0" dirty="0">
                <a:solidFill>
                  <a:schemeClr val="bg1"/>
                </a:solidFill>
                <a:effectLst/>
              </a:rPr>
              <a:t>This allows us to test multiple rules at the same time</a:t>
            </a:r>
          </a:p>
          <a:p>
            <a:r>
              <a:rPr lang="en-CA" sz="2400" dirty="0">
                <a:solidFill>
                  <a:schemeClr val="bg1"/>
                </a:solidFill>
              </a:rPr>
              <a:t>For example, we can use </a:t>
            </a:r>
            <a:r>
              <a:rPr lang="en-CA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or</a:t>
            </a:r>
            <a:r>
              <a:rPr lang="en-CA" sz="2400" dirty="0">
                <a:solidFill>
                  <a:schemeClr val="bg1"/>
                </a:solidFill>
              </a:rPr>
              <a:t> to </a:t>
            </a:r>
            <a:r>
              <a:rPr lang="en-CA" sz="2400" b="1" dirty="0">
                <a:solidFill>
                  <a:schemeClr val="bg1"/>
                </a:solidFill>
              </a:rPr>
              <a:t>check if </a:t>
            </a:r>
            <a:r>
              <a:rPr lang="en-CA" sz="2400" b="1" u="sng" dirty="0">
                <a:solidFill>
                  <a:schemeClr val="bg1"/>
                </a:solidFill>
              </a:rPr>
              <a:t>either</a:t>
            </a:r>
            <a:r>
              <a:rPr lang="en-CA" sz="2400" b="1" dirty="0">
                <a:solidFill>
                  <a:schemeClr val="bg1"/>
                </a:solidFill>
              </a:rPr>
              <a:t> conditions are True </a:t>
            </a:r>
            <a:endParaRPr lang="en-CA" sz="2400" b="1" dirty="0">
              <a:solidFill>
                <a:schemeClr val="bg1"/>
              </a:solidFill>
              <a:effectLst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051F79-94C4-BA25-3B9E-0276CA9A5C43}"/>
              </a:ext>
            </a:extLst>
          </p:cNvPr>
          <p:cNvSpPr txBox="1"/>
          <p:nvPr/>
        </p:nvSpPr>
        <p:spPr>
          <a:xfrm>
            <a:off x="1067541" y="3626407"/>
            <a:ext cx="10056917" cy="2308324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Example of if statement with or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i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s_student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= False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has_</a:t>
            </a: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coupon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= True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50000"/>
                    <a:lumOff val="50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if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is_student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or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has_</a:t>
            </a: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coupon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	print(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“You get a discount!”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5CBC21-8DB5-F813-65C7-A69394176D1F}"/>
              </a:ext>
            </a:extLst>
          </p:cNvPr>
          <p:cNvSpPr txBox="1"/>
          <p:nvPr/>
        </p:nvSpPr>
        <p:spPr>
          <a:xfrm>
            <a:off x="7171763" y="4365070"/>
            <a:ext cx="4454180" cy="8309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One condition must be true to execute the indented code </a:t>
            </a:r>
          </a:p>
        </p:txBody>
      </p:sp>
    </p:spTree>
    <p:extLst>
      <p:ext uri="{BB962C8B-B14F-4D97-AF65-F5344CB8AC3E}">
        <p14:creationId xmlns:p14="http://schemas.microsoft.com/office/powerpoint/2010/main" val="18938398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B0F8C7-7FE8-E788-014E-9E7C72575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49D88-151E-4445-B6BA-0B7B31998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Building more complex conditions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2CC102-5165-41A5-F255-F7EA981D4C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r>
              <a:rPr lang="en-CA" sz="2400" b="0" dirty="0">
                <a:solidFill>
                  <a:schemeClr val="bg1"/>
                </a:solidFill>
                <a:effectLst/>
              </a:rPr>
              <a:t>We can use logical operators to check more complex conditions</a:t>
            </a:r>
          </a:p>
          <a:p>
            <a:r>
              <a:rPr lang="en-CA" sz="2400" b="0" dirty="0">
                <a:solidFill>
                  <a:schemeClr val="bg1"/>
                </a:solidFill>
                <a:effectLst/>
              </a:rPr>
              <a:t>This allows us to test multiple rules at the same time</a:t>
            </a:r>
          </a:p>
          <a:p>
            <a:r>
              <a:rPr lang="en-CA" sz="2400" dirty="0">
                <a:solidFill>
                  <a:schemeClr val="bg1"/>
                </a:solidFill>
              </a:rPr>
              <a:t>For example, we can use </a:t>
            </a:r>
            <a:r>
              <a:rPr lang="en-CA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not</a:t>
            </a:r>
            <a:r>
              <a:rPr lang="en-CA" sz="2400" dirty="0">
                <a:solidFill>
                  <a:schemeClr val="bg1"/>
                </a:solidFill>
              </a:rPr>
              <a:t> to </a:t>
            </a:r>
            <a:r>
              <a:rPr lang="en-CA" sz="2400" b="1" dirty="0">
                <a:solidFill>
                  <a:schemeClr val="bg1"/>
                </a:solidFill>
              </a:rPr>
              <a:t>reverse a Boolean value</a:t>
            </a:r>
            <a:endParaRPr lang="en-CA" sz="2400" b="1" dirty="0">
              <a:solidFill>
                <a:schemeClr val="bg1"/>
              </a:solidFill>
              <a:effectLst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5AF922-3020-C5F5-7329-A87F28111216}"/>
              </a:ext>
            </a:extLst>
          </p:cNvPr>
          <p:cNvSpPr txBox="1"/>
          <p:nvPr/>
        </p:nvSpPr>
        <p:spPr>
          <a:xfrm>
            <a:off x="1067541" y="3626407"/>
            <a:ext cx="10056917" cy="1938992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Example of if statement with not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is_raining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= False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srgbClr val="0E2841">
                    <a:lumMod val="50000"/>
                    <a:lumOff val="50000"/>
                  </a:srgbClr>
                </a:solidFill>
                <a:latin typeface="Courier New" panose="02070309020205020404" pitchFamily="49" charset="0"/>
              </a:rPr>
              <a:t>i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50000"/>
                    <a:lumOff val="50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f not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is_raining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	print(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“You can go outside!”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6F4349-C445-87F9-B8DA-B6FB2B95805E}"/>
              </a:ext>
            </a:extLst>
          </p:cNvPr>
          <p:cNvSpPr txBox="1"/>
          <p:nvPr/>
        </p:nvSpPr>
        <p:spPr>
          <a:xfrm>
            <a:off x="7171763" y="4365070"/>
            <a:ext cx="4454180" cy="8309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prstClr val="black"/>
                </a:solidFill>
                <a:latin typeface="Aptos" panose="02110004020202020204"/>
              </a:rPr>
              <a:t>r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everse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the Boolean False to True so code executes</a:t>
            </a:r>
          </a:p>
        </p:txBody>
      </p:sp>
    </p:spTree>
    <p:extLst>
      <p:ext uri="{BB962C8B-B14F-4D97-AF65-F5344CB8AC3E}">
        <p14:creationId xmlns:p14="http://schemas.microsoft.com/office/powerpoint/2010/main" val="42360554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08C4AA-B003-DCD8-E306-5636EF0C0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D4849-9C27-48DF-09D5-825794F14E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Nested conditions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E387C-11DE-477F-D4EF-8CDC1FC363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r>
              <a:rPr lang="en-CA" sz="2400" b="1" dirty="0">
                <a:solidFill>
                  <a:schemeClr val="bg1"/>
                </a:solidFill>
              </a:rPr>
              <a:t>Nested conditionals</a:t>
            </a:r>
            <a:r>
              <a:rPr lang="en-CA" sz="2400" dirty="0">
                <a:solidFill>
                  <a:schemeClr val="bg1"/>
                </a:solidFill>
              </a:rPr>
              <a:t> are if statements inside other if statements</a:t>
            </a:r>
          </a:p>
          <a:p>
            <a:r>
              <a:rPr lang="en-CA" sz="2400" dirty="0">
                <a:solidFill>
                  <a:schemeClr val="bg1"/>
                </a:solidFill>
              </a:rPr>
              <a:t>They allow us to check conditions </a:t>
            </a:r>
            <a:r>
              <a:rPr lang="en-CA" sz="2400" b="1" dirty="0">
                <a:solidFill>
                  <a:schemeClr val="bg1"/>
                </a:solidFill>
              </a:rPr>
              <a:t>step by step</a:t>
            </a:r>
            <a:endParaRPr lang="en-CA" sz="2400" dirty="0">
              <a:solidFill>
                <a:schemeClr val="bg1"/>
              </a:solidFill>
            </a:endParaRPr>
          </a:p>
          <a:p>
            <a:r>
              <a:rPr lang="en-CA" sz="2400" dirty="0">
                <a:solidFill>
                  <a:schemeClr val="bg1"/>
                </a:solidFill>
              </a:rPr>
              <a:t>This is another way to handle more complex logic</a:t>
            </a:r>
          </a:p>
          <a:p>
            <a:r>
              <a:rPr lang="en-CA" sz="2400" dirty="0">
                <a:solidFill>
                  <a:schemeClr val="bg1"/>
                </a:solidFill>
              </a:rPr>
              <a:t>Whether to use logical operators, nested conditionals, or a mix of both depends on: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CA" dirty="0">
                <a:solidFill>
                  <a:schemeClr val="bg1"/>
                </a:solidFill>
              </a:rPr>
              <a:t>Personal preference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CA" dirty="0">
                <a:solidFill>
                  <a:schemeClr val="bg1"/>
                </a:solidFill>
              </a:rPr>
              <a:t>Readability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CA" dirty="0">
                <a:solidFill>
                  <a:schemeClr val="bg1"/>
                </a:solidFill>
              </a:rPr>
              <a:t>What exactly you are trying to check</a:t>
            </a:r>
          </a:p>
          <a:p>
            <a:endParaRPr lang="en-CA" sz="2400" dirty="0">
              <a:solidFill>
                <a:schemeClr val="bg1"/>
              </a:solidFill>
            </a:endParaRPr>
          </a:p>
        </p:txBody>
      </p:sp>
      <p:pic>
        <p:nvPicPr>
          <p:cNvPr id="21506" name="Picture 2" descr="Build a Bird Nest | Scientific American">
            <a:extLst>
              <a:ext uri="{FF2B5EF4-FFF2-40B4-BE49-F238E27FC236}">
                <a16:creationId xmlns:a16="http://schemas.microsoft.com/office/drawing/2014/main" id="{B2BFDA5E-D90B-A824-504C-D34A825BD9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7152" y="3667159"/>
            <a:ext cx="4235303" cy="2825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64410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4F96EC-0214-DFED-ABEB-13BA54303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11D31-DA73-1873-E491-0A032C97B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Nested conditions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C68EDE-F134-4B39-F4F8-AFE4DC91C4C8}"/>
              </a:ext>
            </a:extLst>
          </p:cNvPr>
          <p:cNvSpPr txBox="1"/>
          <p:nvPr/>
        </p:nvSpPr>
        <p:spPr>
          <a:xfrm>
            <a:off x="838199" y="1788137"/>
            <a:ext cx="7545713" cy="4154984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Example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age = 20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 err="1">
                <a:solidFill>
                  <a:prstClr val="black"/>
                </a:solidFill>
                <a:latin typeface="Courier New" panose="02070309020205020404" pitchFamily="49" charset="0"/>
              </a:rPr>
              <a:t>has_id</a:t>
            </a: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 = True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sz="2400" dirty="0">
              <a:solidFill>
                <a:prstClr val="black"/>
              </a:solidFill>
              <a:latin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schemeClr val="accent3"/>
                </a:solidFill>
                <a:latin typeface="Courier New" panose="02070309020205020404" pitchFamily="49" charset="0"/>
              </a:rPr>
              <a:t>if</a:t>
            </a: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 age &gt;= 18: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schemeClr val="accent3"/>
                </a:solidFill>
                <a:latin typeface="Courier New" panose="02070309020205020404" pitchFamily="49" charset="0"/>
              </a:rPr>
              <a:t>  if</a:t>
            </a: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 </a:t>
            </a:r>
            <a:r>
              <a:rPr lang="en-CA" sz="2400" dirty="0" err="1">
                <a:solidFill>
                  <a:prstClr val="black"/>
                </a:solidFill>
                <a:latin typeface="Courier New" panose="02070309020205020404" pitchFamily="49" charset="0"/>
              </a:rPr>
              <a:t>has_id</a:t>
            </a: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      print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“You are able to enter”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  </a:t>
            </a:r>
            <a:r>
              <a:rPr lang="en-CA" sz="2400" dirty="0">
                <a:solidFill>
                  <a:schemeClr val="accent3"/>
                </a:solidFill>
                <a:latin typeface="Courier New" panose="02070309020205020404" pitchFamily="49" charset="0"/>
              </a:rPr>
              <a:t>else:</a:t>
            </a:r>
          </a:p>
          <a:p>
            <a:pPr lvl="1">
              <a:defRPr/>
            </a:pP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    print(</a:t>
            </a:r>
            <a:r>
              <a:rPr lang="en-CA" sz="2400" dirty="0">
                <a:solidFill>
                  <a:schemeClr val="accent6"/>
                </a:solidFill>
                <a:latin typeface="Courier New" panose="02070309020205020404" pitchFamily="49" charset="0"/>
              </a:rPr>
              <a:t>"You need an ID”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)</a:t>
            </a:r>
            <a:endParaRPr lang="en-CA" sz="2400" dirty="0">
              <a:solidFill>
                <a:schemeClr val="accent6"/>
              </a:solidFill>
              <a:latin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schemeClr val="accent3"/>
                </a:solidFill>
                <a:latin typeface="Courier New" panose="02070309020205020404" pitchFamily="49" charset="0"/>
              </a:rPr>
              <a:t>else: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    print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(</a:t>
            </a:r>
            <a:r>
              <a:rPr lang="en-CA" sz="2400" dirty="0">
                <a:solidFill>
                  <a:schemeClr val="accent6"/>
                </a:solidFill>
                <a:latin typeface="Courier New" panose="02070309020205020404" pitchFamily="49" charset="0"/>
              </a:rPr>
              <a:t>"You are too young"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64B29B-EA6F-E9D3-029B-685C135CB84B}"/>
              </a:ext>
            </a:extLst>
          </p:cNvPr>
          <p:cNvSpPr txBox="1"/>
          <p:nvPr/>
        </p:nvSpPr>
        <p:spPr>
          <a:xfrm>
            <a:off x="838200" y="6121020"/>
            <a:ext cx="71522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prstClr val="black"/>
                </a:solidFill>
                <a:latin typeface="Aptos" panose="02110004020202020204"/>
              </a:rPr>
              <a:t>The second </a:t>
            </a:r>
            <a:r>
              <a:rPr lang="en-CA" sz="2400" i="1" dirty="0">
                <a:solidFill>
                  <a:prstClr val="black"/>
                </a:solidFill>
                <a:latin typeface="Aptos" panose="02110004020202020204"/>
              </a:rPr>
              <a:t>if</a:t>
            </a:r>
            <a:r>
              <a:rPr lang="en-CA" sz="2400" dirty="0">
                <a:solidFill>
                  <a:prstClr val="black"/>
                </a:solidFill>
                <a:latin typeface="Aptos" panose="02110004020202020204"/>
              </a:rPr>
              <a:t> </a:t>
            </a:r>
            <a:r>
              <a:rPr lang="en-CA" sz="2400" b="1" dirty="0">
                <a:solidFill>
                  <a:prstClr val="black"/>
                </a:solidFill>
                <a:latin typeface="Aptos" panose="02110004020202020204"/>
              </a:rPr>
              <a:t>only runs if the first condition is True</a:t>
            </a:r>
            <a:endParaRPr kumimoji="0" lang="en-CA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70B83E-9598-D7A0-5BD3-A06FEE76FA24}"/>
              </a:ext>
            </a:extLst>
          </p:cNvPr>
          <p:cNvSpPr/>
          <p:nvPr/>
        </p:nvSpPr>
        <p:spPr>
          <a:xfrm>
            <a:off x="5611906" y="652880"/>
            <a:ext cx="6320118" cy="51995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Age greater or equal to 18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A2EE5F-B9CC-4158-36B1-AEC2D83C083D}"/>
              </a:ext>
            </a:extLst>
          </p:cNvPr>
          <p:cNvSpPr/>
          <p:nvPr/>
        </p:nvSpPr>
        <p:spPr>
          <a:xfrm>
            <a:off x="5611906" y="1568386"/>
            <a:ext cx="2772006" cy="51995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ptos" panose="02110004020202020204"/>
              </a:rPr>
              <a:t>False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A0FFEE-530E-7188-2770-E1288C91BE63}"/>
              </a:ext>
            </a:extLst>
          </p:cNvPr>
          <p:cNvSpPr/>
          <p:nvPr/>
        </p:nvSpPr>
        <p:spPr>
          <a:xfrm>
            <a:off x="8721702" y="1568386"/>
            <a:ext cx="3210322" cy="51995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True</a:t>
            </a:r>
          </a:p>
        </p:txBody>
      </p:sp>
      <p:sp>
        <p:nvSpPr>
          <p:cNvPr id="9" name="Right Brace 8">
            <a:extLst>
              <a:ext uri="{FF2B5EF4-FFF2-40B4-BE49-F238E27FC236}">
                <a16:creationId xmlns:a16="http://schemas.microsoft.com/office/drawing/2014/main" id="{08FE076A-D7F4-18FB-9B1C-5406A74FBEC0}"/>
              </a:ext>
            </a:extLst>
          </p:cNvPr>
          <p:cNvSpPr/>
          <p:nvPr/>
        </p:nvSpPr>
        <p:spPr>
          <a:xfrm rot="16200000">
            <a:off x="8314765" y="-6983"/>
            <a:ext cx="412376" cy="2772006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7E79A3-6819-3C16-C776-56F8579B0171}"/>
              </a:ext>
            </a:extLst>
          </p:cNvPr>
          <p:cNvSpPr/>
          <p:nvPr/>
        </p:nvSpPr>
        <p:spPr>
          <a:xfrm>
            <a:off x="5611906" y="2175366"/>
            <a:ext cx="2772006" cy="51995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Too young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858FD1-0F9E-2D7E-0853-5C3C388D5AA2}"/>
              </a:ext>
            </a:extLst>
          </p:cNvPr>
          <p:cNvSpPr/>
          <p:nvPr/>
        </p:nvSpPr>
        <p:spPr>
          <a:xfrm>
            <a:off x="8721700" y="2212444"/>
            <a:ext cx="3210323" cy="51995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Have id?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056760E-CA93-97CA-6A36-6D0DA8EE6A05}"/>
              </a:ext>
            </a:extLst>
          </p:cNvPr>
          <p:cNvSpPr/>
          <p:nvPr/>
        </p:nvSpPr>
        <p:spPr>
          <a:xfrm>
            <a:off x="8721700" y="3181200"/>
            <a:ext cx="1508692" cy="51995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ptos" panose="02110004020202020204"/>
              </a:rPr>
              <a:t>False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8A44A1E-4B9A-A854-60A2-1FC4C60CE4B9}"/>
              </a:ext>
            </a:extLst>
          </p:cNvPr>
          <p:cNvSpPr/>
          <p:nvPr/>
        </p:nvSpPr>
        <p:spPr>
          <a:xfrm>
            <a:off x="10480175" y="3195535"/>
            <a:ext cx="1451848" cy="51995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True</a:t>
            </a:r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AFDD4F00-582D-9E70-4B57-1F2332DB6854}"/>
              </a:ext>
            </a:extLst>
          </p:cNvPr>
          <p:cNvSpPr/>
          <p:nvPr/>
        </p:nvSpPr>
        <p:spPr>
          <a:xfrm rot="16200000">
            <a:off x="9678375" y="2225312"/>
            <a:ext cx="412376" cy="1508692"/>
          </a:xfrm>
          <a:prstGeom prst="righ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A70CC1A-AD83-BE3A-A6BD-71D2469DE3B6}"/>
              </a:ext>
            </a:extLst>
          </p:cNvPr>
          <p:cNvSpPr/>
          <p:nvPr/>
        </p:nvSpPr>
        <p:spPr>
          <a:xfrm>
            <a:off x="10480175" y="3865629"/>
            <a:ext cx="1451848" cy="7692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Can enter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87F74D-6C30-497D-273D-4112B6F4693F}"/>
              </a:ext>
            </a:extLst>
          </p:cNvPr>
          <p:cNvSpPr/>
          <p:nvPr/>
        </p:nvSpPr>
        <p:spPr>
          <a:xfrm>
            <a:off x="8696865" y="3866344"/>
            <a:ext cx="1508692" cy="8380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need ID</a:t>
            </a:r>
          </a:p>
        </p:txBody>
      </p:sp>
    </p:spTree>
    <p:extLst>
      <p:ext uri="{BB962C8B-B14F-4D97-AF65-F5344CB8AC3E}">
        <p14:creationId xmlns:p14="http://schemas.microsoft.com/office/powerpoint/2010/main" val="174246673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FDC1C1-8EFB-CA6F-7229-94EBC48BC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D5A70-1D65-C86E-A321-0FA468A66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Quiz: Nested conditions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63D90-D642-B475-BE67-1A740A8368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 marL="457200" indent="-457200">
              <a:buAutoNum type="arabicPeriod"/>
            </a:pPr>
            <a:r>
              <a:rPr lang="en-CA" sz="2400" b="1" dirty="0">
                <a:solidFill>
                  <a:schemeClr val="bg1"/>
                </a:solidFill>
              </a:rPr>
              <a:t>When does the inner if statement run in a nested condition?</a:t>
            </a:r>
            <a:endParaRPr lang="en-CA" sz="2400" dirty="0">
              <a:solidFill>
                <a:schemeClr val="bg1"/>
              </a:solidFill>
            </a:endParaRP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Always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Only if the outer 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CA" sz="2400" dirty="0">
                <a:solidFill>
                  <a:schemeClr val="bg1"/>
                </a:solidFill>
              </a:rPr>
              <a:t> condition is true</a:t>
            </a:r>
          </a:p>
          <a:p>
            <a:pPr marL="457200" indent="-457200">
              <a:buFont typeface="Arial" panose="020B0604020202020204" pitchFamily="34" charset="0"/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Only if the outer 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CA" sz="2400" dirty="0">
                <a:solidFill>
                  <a:schemeClr val="bg1"/>
                </a:solidFill>
              </a:rPr>
              <a:t> condition is false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Only if there is no </a:t>
            </a:r>
            <a:r>
              <a:rPr lang="en-CA" sz="2400" dirty="0" err="1">
                <a:solidFill>
                  <a:schemeClr val="bg1"/>
                </a:solidFill>
              </a:rPr>
              <a:t>elif</a:t>
            </a:r>
            <a:endParaRPr lang="en-CA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56536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5A1456-89D1-D844-F233-F68C68903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05FCB-B00B-AB30-9E33-8FB51DF81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Quiz: Nested conditions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A62D22-7DA1-D7EC-DE13-E9863439AE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CA" sz="2400" dirty="0">
                <a:solidFill>
                  <a:schemeClr val="bg1"/>
                </a:solidFill>
              </a:rPr>
              <a:t>2. </a:t>
            </a:r>
            <a:r>
              <a:rPr lang="en-CA" sz="2400" b="1" dirty="0">
                <a:solidFill>
                  <a:schemeClr val="bg1"/>
                </a:solidFill>
              </a:rPr>
              <a:t>In nested conditions, Python evaluates all if statements, even after one is true.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True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False</a:t>
            </a:r>
          </a:p>
          <a:p>
            <a:pPr marL="457200" indent="-457200">
              <a:buAutoNum type="alphaUcPeriod"/>
            </a:pPr>
            <a:endParaRPr lang="en-CA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66192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5BBC99-E97A-E3F7-E7CA-F2DFD40E6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4A5C6-47E0-74D5-2FC3-21CD56003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Quiz: Nested conditions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95A56A-84D4-A84F-8F06-F2FE1E09D7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CA" sz="2400" b="1" dirty="0">
                <a:solidFill>
                  <a:schemeClr val="bg1"/>
                </a:solidFill>
              </a:rPr>
              <a:t>3.  What is printed from the following code?</a:t>
            </a:r>
          </a:p>
          <a:p>
            <a:pPr marL="457200" indent="-457200">
              <a:buAutoNum type="arabicPeriod"/>
            </a:pPr>
            <a:endParaRPr lang="en-CA" sz="24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42B9C7-4980-F68A-6EB5-B8204ACC0D08}"/>
              </a:ext>
            </a:extLst>
          </p:cNvPr>
          <p:cNvSpPr txBox="1"/>
          <p:nvPr/>
        </p:nvSpPr>
        <p:spPr>
          <a:xfrm>
            <a:off x="1163533" y="2182253"/>
            <a:ext cx="9598233" cy="3416320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age = 15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50000"/>
                    <a:lumOff val="50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if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age &gt;= 18: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	print(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“Adult”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50000"/>
                    <a:lumOff val="50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else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:	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srgbClr val="196B24"/>
                </a:solidFill>
                <a:latin typeface="Courier New" panose="02070309020205020404" pitchFamily="49" charset="0"/>
              </a:rPr>
              <a:t>	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50000"/>
                    <a:lumOff val="50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if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age &gt;= 13: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		print(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“Teen”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	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50000"/>
                    <a:lumOff val="50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else: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rgbClr val="196B24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		print(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“Child”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rgbClr val="196B24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012142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77A782-44BB-D6D6-1670-7B7452980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23824-0AFD-B22C-C5D9-FAF2110EA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Quiz: Nested conditions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4A3109-020F-7EA2-7DF8-2970D803B2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CA" sz="2400" b="1" dirty="0">
                <a:solidFill>
                  <a:schemeClr val="bg1"/>
                </a:solidFill>
              </a:rPr>
              <a:t>4.  What is printed from the following code?</a:t>
            </a:r>
          </a:p>
          <a:p>
            <a:pPr marL="457200" indent="-457200">
              <a:buAutoNum type="arabicPeriod"/>
            </a:pPr>
            <a:endParaRPr lang="en-CA" sz="24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E75A33-476E-4153-8C6D-251036E19D24}"/>
              </a:ext>
            </a:extLst>
          </p:cNvPr>
          <p:cNvSpPr txBox="1"/>
          <p:nvPr/>
        </p:nvSpPr>
        <p:spPr>
          <a:xfrm>
            <a:off x="1163533" y="2182253"/>
            <a:ext cx="9598233" cy="3785652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score = 60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50000"/>
                    <a:lumOff val="50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if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score &gt;= 50: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	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50000"/>
                    <a:lumOff val="50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if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score &gt;= 75: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		print(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“Distinction”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	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50000"/>
                    <a:lumOff val="50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else: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rgbClr val="196B24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		print(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“Pass”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50000"/>
                    <a:lumOff val="50000"/>
                  </a:srgbClr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else: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rgbClr val="196B24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	print(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“Fail”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rgbClr val="196B24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rgbClr val="196B24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84169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AF3116-E1B3-783A-9CB3-EFED83932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76D35-3071-7549-EE68-31687A38F7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Collection of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37BB0-F5AC-9E62-DFA3-4F2CB42E44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cs typeface="Calibri Light" panose="020F0302020204030204" pitchFamily="34" charset="0"/>
              </a:rPr>
              <a:t>So far, we’ve worked with individual values:</a:t>
            </a:r>
          </a:p>
          <a:p>
            <a:pPr lv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1"/>
                </a:solidFill>
                <a:cs typeface="Calibri Light" panose="020F0302020204030204" pitchFamily="34" charset="0"/>
              </a:rPr>
              <a:t>Integers (int)</a:t>
            </a:r>
          </a:p>
          <a:p>
            <a:pPr lv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1"/>
                </a:solidFill>
                <a:cs typeface="Calibri Light" panose="020F0302020204030204" pitchFamily="34" charset="0"/>
              </a:rPr>
              <a:t>Floating-point numbers (float)</a:t>
            </a:r>
          </a:p>
          <a:p>
            <a:pPr lv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1"/>
                </a:solidFill>
                <a:cs typeface="Calibri Light" panose="020F0302020204030204" pitchFamily="34" charset="0"/>
              </a:rPr>
              <a:t>Strings (str)</a:t>
            </a:r>
          </a:p>
          <a:p>
            <a:pPr lv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1"/>
                </a:solidFill>
                <a:cs typeface="Calibri Light" panose="020F0302020204030204" pitchFamily="34" charset="0"/>
              </a:rPr>
              <a:t>Booleans (bool)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cs typeface="Calibri Light" panose="020F0302020204030204" pitchFamily="34" charset="0"/>
              </a:rPr>
              <a:t>However, in real programs, we often want to work with groups of values at the same time.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n-US" sz="2400" dirty="0">
              <a:solidFill>
                <a:schemeClr val="bg1"/>
              </a:solidFill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34766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05C27F-794E-9A38-80D8-42931D438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EECF9-73F4-0E83-F4E0-54E8BC062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Why do we need collections?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65292-1D64-CBD1-9A88-67566A2389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cs typeface="Calibri Light" panose="020F0302020204030204" pitchFamily="34" charset="0"/>
              </a:rPr>
              <a:t>Collections allow us to:</a:t>
            </a:r>
          </a:p>
          <a:p>
            <a:pPr lv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1"/>
                </a:solidFill>
                <a:cs typeface="Calibri Light" panose="020F0302020204030204" pitchFamily="34" charset="0"/>
              </a:rPr>
              <a:t>Store many values in a single variable</a:t>
            </a:r>
          </a:p>
          <a:p>
            <a:pPr lv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1"/>
                </a:solidFill>
                <a:cs typeface="Calibri Light" panose="020F0302020204030204" pitchFamily="34" charset="0"/>
              </a:rPr>
              <a:t>Organize related data</a:t>
            </a:r>
          </a:p>
          <a:p>
            <a:pPr lv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1"/>
                </a:solidFill>
                <a:cs typeface="Calibri Light" panose="020F0302020204030204" pitchFamily="34" charset="0"/>
              </a:rPr>
              <a:t>Loop over values</a:t>
            </a:r>
          </a:p>
          <a:p>
            <a:pPr lv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1"/>
                </a:solidFill>
                <a:cs typeface="Calibri Light" panose="020F0302020204030204" pitchFamily="34" charset="0"/>
              </a:rPr>
              <a:t>Perform operations on groups of data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cs typeface="Calibri Light" panose="020F0302020204030204" pitchFamily="34" charset="0"/>
              </a:rPr>
              <a:t>Instead of creating many separate variables, we can store values together.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n-US" sz="2400" dirty="0">
              <a:solidFill>
                <a:schemeClr val="bg1"/>
              </a:solidFill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563771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39D634-235E-F9FB-D1E4-00DBC99AC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E9C7B-ED15-5B6F-8C09-7207F476E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Collections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ED6EB4-6F75-6451-B37B-BC4E5FA3AF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cs typeface="Calibri Light" panose="020F0302020204030204" pitchFamily="34" charset="0"/>
              </a:rPr>
              <a:t>Python provides several built-in data types for working with multiple values that we will cover together!</a:t>
            </a:r>
          </a:p>
          <a:p>
            <a:pPr lvl="1"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  <a:cs typeface="Calibri Light" panose="020F0302020204030204" pitchFamily="34" charset="0"/>
              </a:rPr>
              <a:t>Lists</a:t>
            </a:r>
            <a:r>
              <a:rPr lang="en-US" dirty="0">
                <a:solidFill>
                  <a:schemeClr val="bg1"/>
                </a:solidFill>
                <a:cs typeface="Calibri Light" panose="020F0302020204030204" pitchFamily="34" charset="0"/>
              </a:rPr>
              <a:t> → ordered, changeable</a:t>
            </a:r>
          </a:p>
          <a:p>
            <a:pPr lvl="1"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  <a:cs typeface="Calibri Light" panose="020F0302020204030204" pitchFamily="34" charset="0"/>
              </a:rPr>
              <a:t>Tuples</a:t>
            </a:r>
            <a:r>
              <a:rPr lang="en-US" dirty="0">
                <a:solidFill>
                  <a:schemeClr val="bg1"/>
                </a:solidFill>
                <a:cs typeface="Calibri Light" panose="020F0302020204030204" pitchFamily="34" charset="0"/>
              </a:rPr>
              <a:t> → ordered, not changeable</a:t>
            </a:r>
          </a:p>
          <a:p>
            <a:pPr lvl="1"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  <a:cs typeface="Calibri Light" panose="020F0302020204030204" pitchFamily="34" charset="0"/>
              </a:rPr>
              <a:t>Sets</a:t>
            </a:r>
            <a:r>
              <a:rPr lang="en-US" dirty="0">
                <a:solidFill>
                  <a:schemeClr val="bg1"/>
                </a:solidFill>
                <a:cs typeface="Calibri Light" panose="020F0302020204030204" pitchFamily="34" charset="0"/>
              </a:rPr>
              <a:t> → unordered, no duplicates</a:t>
            </a:r>
          </a:p>
          <a:p>
            <a:pPr lvl="1">
              <a:lnSpc>
                <a:spcPct val="150000"/>
              </a:lnSpc>
            </a:pPr>
            <a:r>
              <a:rPr lang="en-US" b="1" dirty="0">
                <a:solidFill>
                  <a:schemeClr val="bg1"/>
                </a:solidFill>
                <a:cs typeface="Calibri Light" panose="020F0302020204030204" pitchFamily="34" charset="0"/>
              </a:rPr>
              <a:t>Dictionaries</a:t>
            </a:r>
            <a:r>
              <a:rPr lang="en-US" dirty="0">
                <a:solidFill>
                  <a:schemeClr val="bg1"/>
                </a:solidFill>
                <a:cs typeface="Calibri Light" panose="020F0302020204030204" pitchFamily="34" charset="0"/>
              </a:rPr>
              <a:t> → key–value pairs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dirty="0">
              <a:solidFill>
                <a:schemeClr val="bg1"/>
              </a:solidFill>
              <a:cs typeface="Calibri Light" panose="020F0302020204030204" pitchFamily="34" charset="0"/>
            </a:endParaRP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n-US" sz="2400" dirty="0">
              <a:solidFill>
                <a:schemeClr val="bg1"/>
              </a:solidFill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747017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6521A7-E56C-6D11-1833-3BC38BE04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13587-8895-E565-EDEE-8FE5DD505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69DDC1-DE57-D9C8-A37D-326EF760F7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r>
              <a:rPr lang="en-CA" sz="2400" dirty="0">
                <a:solidFill>
                  <a:schemeClr val="bg1"/>
                </a:solidFill>
              </a:rPr>
              <a:t>A </a:t>
            </a:r>
            <a:r>
              <a:rPr lang="en-CA" sz="2400" b="1" dirty="0">
                <a:solidFill>
                  <a:schemeClr val="bg1"/>
                </a:solidFill>
              </a:rPr>
              <a:t>list</a:t>
            </a:r>
            <a:r>
              <a:rPr lang="en-CA" sz="2400" dirty="0">
                <a:solidFill>
                  <a:schemeClr val="bg1"/>
                </a:solidFill>
              </a:rPr>
              <a:t> stores multiple values in a single variable</a:t>
            </a:r>
          </a:p>
          <a:p>
            <a:r>
              <a:rPr lang="en-CA" sz="2400" dirty="0">
                <a:solidFill>
                  <a:schemeClr val="bg1"/>
                </a:solidFill>
              </a:rPr>
              <a:t>Lists are created using </a:t>
            </a:r>
            <a:r>
              <a:rPr lang="en-CA" sz="2400" b="1" dirty="0">
                <a:solidFill>
                  <a:schemeClr val="bg1"/>
                </a:solidFill>
              </a:rPr>
              <a:t>square brackets</a:t>
            </a:r>
            <a:r>
              <a:rPr lang="en-CA" sz="2400" dirty="0">
                <a:solidFill>
                  <a:schemeClr val="bg1"/>
                </a:solidFill>
              </a:rPr>
              <a:t> []</a:t>
            </a:r>
          </a:p>
          <a:p>
            <a:endParaRPr lang="en-CA" sz="2400" dirty="0">
              <a:solidFill>
                <a:schemeClr val="bg1"/>
              </a:solidFill>
            </a:endParaRPr>
          </a:p>
          <a:p>
            <a:endParaRPr lang="en-CA" sz="2400" dirty="0">
              <a:solidFill>
                <a:schemeClr val="bg1"/>
              </a:solidFill>
            </a:endParaRPr>
          </a:p>
          <a:p>
            <a:endParaRPr lang="en-CA" sz="2400" dirty="0">
              <a:solidFill>
                <a:schemeClr val="bg1"/>
              </a:solidFill>
            </a:endParaRPr>
          </a:p>
          <a:p>
            <a:r>
              <a:rPr lang="en-CA" sz="2400" dirty="0">
                <a:solidFill>
                  <a:schemeClr val="bg1"/>
                </a:solidFill>
              </a:rPr>
              <a:t>We can also create an empty list by using the [ ] with nothing in them!</a:t>
            </a:r>
          </a:p>
          <a:p>
            <a:pPr marL="0" indent="0">
              <a:lnSpc>
                <a:spcPct val="150000"/>
              </a:lnSpc>
              <a:buNone/>
            </a:pPr>
            <a:endParaRPr lang="en-US" sz="2400" dirty="0">
              <a:solidFill>
                <a:schemeClr val="bg1"/>
              </a:solidFill>
              <a:cs typeface="Calibri Light" panose="020F0302020204030204" pitchFamily="34" charset="0"/>
            </a:endParaRP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n-US" sz="2400" dirty="0">
              <a:solidFill>
                <a:schemeClr val="bg1"/>
              </a:solidFill>
              <a:cs typeface="Calibri Light" panose="020F03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A3ED6A-080C-0D97-CADB-C73C510F59CE}"/>
              </a:ext>
            </a:extLst>
          </p:cNvPr>
          <p:cNvSpPr txBox="1"/>
          <p:nvPr/>
        </p:nvSpPr>
        <p:spPr>
          <a:xfrm>
            <a:off x="1124833" y="2598003"/>
            <a:ext cx="9598233" cy="830997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schemeClr val="accent1"/>
                </a:solidFill>
                <a:latin typeface="Courier New" panose="02070309020205020404" pitchFamily="49" charset="0"/>
              </a:rPr>
              <a:t># Example of a list</a:t>
            </a:r>
          </a:p>
          <a:p>
            <a:pPr>
              <a:defRPr/>
            </a:pP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vowels =[</a:t>
            </a:r>
            <a:r>
              <a:rPr lang="en-CA" sz="2400" dirty="0">
                <a:solidFill>
                  <a:schemeClr val="accent6"/>
                </a:solidFill>
                <a:latin typeface="Courier New" panose="02070309020205020404" pitchFamily="49" charset="0"/>
              </a:rPr>
              <a:t>'a', 'e', 'i', 'o', 'u'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]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E3417D-8A1E-F2CB-A149-FF37975FF2F4}"/>
              </a:ext>
            </a:extLst>
          </p:cNvPr>
          <p:cNvSpPr txBox="1"/>
          <p:nvPr/>
        </p:nvSpPr>
        <p:spPr>
          <a:xfrm>
            <a:off x="1124832" y="4336315"/>
            <a:ext cx="9598233" cy="830997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schemeClr val="accent1"/>
                </a:solidFill>
                <a:latin typeface="Courier New" panose="02070309020205020404" pitchFamily="49" charset="0"/>
              </a:rPr>
              <a:t># Example of an empty list</a:t>
            </a:r>
          </a:p>
          <a:p>
            <a:pPr>
              <a:defRPr/>
            </a:pPr>
            <a:r>
              <a:rPr lang="en-CA" sz="2400" dirty="0" err="1">
                <a:solidFill>
                  <a:schemeClr val="bg1"/>
                </a:solidFill>
                <a:latin typeface="Courier New" panose="02070309020205020404" pitchFamily="49" charset="0"/>
              </a:rPr>
              <a:t>empty_list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 =[]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835951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C692FF-C95A-10B6-AD64-8464A9CAB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0F9BB-2E18-7EBD-CFC3-5BC28D57C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33C23-8CB2-3E5C-BE88-251949D9B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65228"/>
            <a:ext cx="10787743" cy="4351338"/>
          </a:xfrm>
        </p:spPr>
        <p:txBody>
          <a:bodyPr>
            <a:noAutofit/>
          </a:bodyPr>
          <a:lstStyle/>
          <a:p>
            <a:r>
              <a:rPr lang="en-CA" sz="2400" dirty="0">
                <a:solidFill>
                  <a:schemeClr val="bg1"/>
                </a:solidFill>
              </a:rPr>
              <a:t>Lists can contain: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CA" dirty="0">
                <a:solidFill>
                  <a:schemeClr val="bg1"/>
                </a:solidFill>
              </a:rPr>
              <a:t>Numbers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CA" dirty="0">
                <a:solidFill>
                  <a:schemeClr val="bg1"/>
                </a:solidFill>
              </a:rPr>
              <a:t>Strings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CA" dirty="0">
                <a:solidFill>
                  <a:schemeClr val="bg1"/>
                </a:solidFill>
              </a:rPr>
              <a:t>Booleans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CA" dirty="0">
                <a:solidFill>
                  <a:schemeClr val="bg1"/>
                </a:solidFill>
              </a:rPr>
              <a:t>a mix of types</a:t>
            </a:r>
          </a:p>
          <a:p>
            <a:r>
              <a:rPr lang="en-CA" sz="2400" dirty="0">
                <a:solidFill>
                  <a:schemeClr val="bg1"/>
                </a:solidFill>
              </a:rPr>
              <a:t>We can even store lists within lists!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n-US" sz="2400" dirty="0">
              <a:solidFill>
                <a:schemeClr val="bg1"/>
              </a:solidFill>
              <a:cs typeface="Calibri Light" panose="020F03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D7D447-0BBC-1001-02E3-8500F6847E82}"/>
              </a:ext>
            </a:extLst>
          </p:cNvPr>
          <p:cNvSpPr txBox="1"/>
          <p:nvPr/>
        </p:nvSpPr>
        <p:spPr>
          <a:xfrm>
            <a:off x="1281570" y="3920725"/>
            <a:ext cx="9901000" cy="2677656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Examples</a:t>
            </a:r>
          </a:p>
          <a:p>
            <a:pPr>
              <a:defRPr/>
            </a:pP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scores = [90, 80, 82, 91, 80]</a:t>
            </a:r>
          </a:p>
          <a:p>
            <a:pPr>
              <a:defRPr/>
            </a:pP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grades =[</a:t>
            </a:r>
            <a:r>
              <a:rPr lang="en-CA" sz="2400" dirty="0">
                <a:solidFill>
                  <a:schemeClr val="accent6"/>
                </a:solidFill>
                <a:latin typeface="Courier New" panose="02070309020205020404" pitchFamily="49" charset="0"/>
              </a:rPr>
              <a:t>‘K’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,</a:t>
            </a:r>
            <a:r>
              <a:rPr lang="en-CA" sz="2400" dirty="0">
                <a:solidFill>
                  <a:schemeClr val="accent6"/>
                </a:solidFill>
                <a:latin typeface="Courier New" panose="02070309020205020404" pitchFamily="49" charset="0"/>
              </a:rPr>
              <a:t> 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1, 2, 3, 4, 5, 6, 7, 8, 9, 10, 11, 12]</a:t>
            </a:r>
          </a:p>
          <a:p>
            <a:pPr>
              <a:defRPr/>
            </a:pP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foods = [</a:t>
            </a:r>
          </a:p>
          <a:p>
            <a:pPr>
              <a:defRPr/>
            </a:pP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    [</a:t>
            </a:r>
            <a:r>
              <a:rPr lang="en-CA" sz="2400" dirty="0">
                <a:solidFill>
                  <a:schemeClr val="accent6"/>
                </a:solidFill>
                <a:latin typeface="Courier New" panose="02070309020205020404" pitchFamily="49" charset="0"/>
              </a:rPr>
              <a:t>"apple", "banana", "orange"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],      </a:t>
            </a:r>
            <a:r>
              <a:rPr lang="en-CA" sz="2400" dirty="0">
                <a:solidFill>
                  <a:schemeClr val="accent1"/>
                </a:solidFill>
                <a:latin typeface="Courier New" panose="02070309020205020404" pitchFamily="49" charset="0"/>
              </a:rPr>
              <a:t># fruits</a:t>
            </a:r>
          </a:p>
          <a:p>
            <a:pPr>
              <a:defRPr/>
            </a:pP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    [</a:t>
            </a:r>
            <a:r>
              <a:rPr lang="en-CA" sz="2400" dirty="0">
                <a:solidFill>
                  <a:schemeClr val="accent6"/>
                </a:solidFill>
                <a:latin typeface="Courier New" panose="02070309020205020404" pitchFamily="49" charset="0"/>
              </a:rPr>
              <a:t>"carrot", "broccoli", "spinach"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]    </a:t>
            </a:r>
            <a:r>
              <a:rPr lang="en-CA" sz="2400" dirty="0">
                <a:solidFill>
                  <a:schemeClr val="accent1"/>
                </a:solidFill>
                <a:latin typeface="Courier New" panose="02070309020205020404" pitchFamily="49" charset="0"/>
              </a:rPr>
              <a:t># vegetables</a:t>
            </a:r>
          </a:p>
          <a:p>
            <a:pPr>
              <a:defRPr/>
            </a:pP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15851215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D2F221-4AC3-B650-AA44-C1E01A07D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40FBA-016D-F72C-6F03-CDEB1F778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Accessing items by index in a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627D5B-3D2E-D01D-1862-59A628596B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r>
              <a:rPr lang="en-CA" sz="2400" dirty="0">
                <a:solidFill>
                  <a:schemeClr val="bg1"/>
                </a:solidFill>
              </a:rPr>
              <a:t>Lists are </a:t>
            </a:r>
            <a:r>
              <a:rPr lang="en-CA" sz="2400" b="1" dirty="0">
                <a:solidFill>
                  <a:schemeClr val="bg1"/>
                </a:solidFill>
              </a:rPr>
              <a:t>ordered</a:t>
            </a:r>
            <a:r>
              <a:rPr lang="en-CA" sz="2400" dirty="0">
                <a:solidFill>
                  <a:schemeClr val="bg1"/>
                </a:solidFill>
              </a:rPr>
              <a:t>, meaning each item has a </a:t>
            </a:r>
            <a:r>
              <a:rPr lang="en-CA" sz="2400" b="1" dirty="0">
                <a:solidFill>
                  <a:schemeClr val="bg1"/>
                </a:solidFill>
              </a:rPr>
              <a:t>position</a:t>
            </a:r>
            <a:r>
              <a:rPr lang="en-CA" sz="2400" dirty="0">
                <a:solidFill>
                  <a:schemeClr val="bg1"/>
                </a:solidFill>
              </a:rPr>
              <a:t> (index)</a:t>
            </a:r>
          </a:p>
          <a:p>
            <a:r>
              <a:rPr lang="en-CA" sz="2400" dirty="0">
                <a:solidFill>
                  <a:schemeClr val="bg1"/>
                </a:solidFill>
              </a:rPr>
              <a:t>Indexing allows you to </a:t>
            </a:r>
            <a:r>
              <a:rPr lang="en-CA" sz="2400" b="1" dirty="0">
                <a:solidFill>
                  <a:schemeClr val="bg1"/>
                </a:solidFill>
              </a:rPr>
              <a:t>retrieve specific items</a:t>
            </a:r>
            <a:endParaRPr lang="en-CA" sz="2400" dirty="0">
              <a:solidFill>
                <a:schemeClr val="bg1"/>
              </a:solidFill>
            </a:endParaRPr>
          </a:p>
          <a:p>
            <a:r>
              <a:rPr lang="en-CA" sz="2400" dirty="0">
                <a:solidFill>
                  <a:schemeClr val="bg1"/>
                </a:solidFill>
              </a:rPr>
              <a:t>Similar to strings: 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string[0] </a:t>
            </a:r>
            <a:r>
              <a:rPr lang="en-CA" sz="2400" dirty="0">
                <a:solidFill>
                  <a:schemeClr val="bg1"/>
                </a:solidFill>
              </a:rPr>
              <a:t>gets the first character</a:t>
            </a:r>
          </a:p>
          <a:p>
            <a:r>
              <a:rPr lang="en-CA" sz="2400" b="1" dirty="0">
                <a:solidFill>
                  <a:schemeClr val="bg1"/>
                </a:solidFill>
              </a:rPr>
              <a:t>Slicing extracts multiple items at once</a:t>
            </a:r>
          </a:p>
          <a:p>
            <a:pPr lvl="1"/>
            <a:r>
              <a:rPr lang="en-CA" dirty="0">
                <a:solidFill>
                  <a:schemeClr val="bg1"/>
                </a:solidFill>
              </a:rPr>
              <a:t>Syntax: list[</a:t>
            </a:r>
            <a:r>
              <a:rPr lang="en-CA" dirty="0" err="1">
                <a:solidFill>
                  <a:schemeClr val="bg1"/>
                </a:solidFill>
              </a:rPr>
              <a:t>start:end</a:t>
            </a:r>
            <a:r>
              <a:rPr lang="en-CA" dirty="0">
                <a:solidFill>
                  <a:schemeClr val="bg1"/>
                </a:solidFill>
              </a:rPr>
              <a:t>] (includes start, excludes end)</a:t>
            </a:r>
          </a:p>
          <a:p>
            <a:endParaRPr lang="en-CA" sz="2400" dirty="0">
              <a:solidFill>
                <a:schemeClr val="bg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400" dirty="0">
              <a:solidFill>
                <a:schemeClr val="bg1"/>
              </a:solidFill>
              <a:cs typeface="Calibri Light" panose="020F0302020204030204" pitchFamily="34" charset="0"/>
            </a:endParaRP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n-US" sz="2400" dirty="0">
              <a:solidFill>
                <a:schemeClr val="bg1"/>
              </a:solidFill>
              <a:cs typeface="Calibri Light" panose="020F03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6F1D6E-B395-917A-1D4B-935E7A9C5CF8}"/>
              </a:ext>
            </a:extLst>
          </p:cNvPr>
          <p:cNvSpPr txBox="1"/>
          <p:nvPr/>
        </p:nvSpPr>
        <p:spPr>
          <a:xfrm>
            <a:off x="1152967" y="3988590"/>
            <a:ext cx="9598233" cy="1569660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Accessing items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fruits = [</a:t>
            </a:r>
            <a:r>
              <a:rPr lang="en-CA" sz="2400" dirty="0">
                <a:solidFill>
                  <a:schemeClr val="accent6"/>
                </a:solidFill>
                <a:latin typeface="Courier New" panose="02070309020205020404" pitchFamily="49" charset="0"/>
              </a:rPr>
              <a:t>"apple", "banana", "orange"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f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ruits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[0]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#apple</a:t>
            </a:r>
          </a:p>
          <a:p>
            <a:pPr>
              <a:defRPr/>
            </a:pP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f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ruits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[0:2]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#apple, banana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432291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08FDAB-BFE6-28CA-D7AC-3A92806D1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4A556-DA62-E465-6AF5-922B59C25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List membership and basic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D02542-6A19-F53D-5146-0574E928A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r>
              <a:rPr lang="en-CA" sz="2400" dirty="0">
                <a:solidFill>
                  <a:schemeClr val="bg1"/>
                </a:solidFill>
              </a:rPr>
              <a:t>We can check if a value is in a list with the </a:t>
            </a:r>
            <a:r>
              <a:rPr lang="en-CA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  <a:r>
              <a:rPr lang="en-CA" sz="2400" dirty="0">
                <a:solidFill>
                  <a:schemeClr val="bg1"/>
                </a:solidFill>
              </a:rPr>
              <a:t> operator</a:t>
            </a:r>
          </a:p>
          <a:p>
            <a:endParaRPr lang="en-CA" sz="2400" dirty="0">
              <a:solidFill>
                <a:schemeClr val="bg1"/>
              </a:solidFill>
            </a:endParaRPr>
          </a:p>
          <a:p>
            <a:endParaRPr lang="en-CA" sz="2400" dirty="0">
              <a:solidFill>
                <a:schemeClr val="bg1"/>
              </a:solidFill>
            </a:endParaRPr>
          </a:p>
          <a:p>
            <a:endParaRPr lang="en-CA" sz="2400" dirty="0">
              <a:solidFill>
                <a:schemeClr val="bg1"/>
              </a:solidFill>
            </a:endParaRPr>
          </a:p>
          <a:p>
            <a:r>
              <a:rPr lang="en-CA" sz="2400" dirty="0">
                <a:solidFill>
                  <a:schemeClr val="bg1"/>
                </a:solidFill>
              </a:rPr>
              <a:t>We can check the length of a list</a:t>
            </a:r>
          </a:p>
          <a:p>
            <a:endParaRPr lang="en-CA" sz="2400" dirty="0">
              <a:solidFill>
                <a:schemeClr val="bg1"/>
              </a:solidFill>
            </a:endParaRPr>
          </a:p>
          <a:p>
            <a:endParaRPr lang="en-CA" sz="2400" dirty="0">
              <a:solidFill>
                <a:schemeClr val="bg1"/>
              </a:solidFill>
            </a:endParaRPr>
          </a:p>
          <a:p>
            <a:r>
              <a:rPr lang="en-CA" sz="2400" dirty="0">
                <a:solidFill>
                  <a:schemeClr val="bg1"/>
                </a:solidFill>
              </a:rPr>
              <a:t>The 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CA" sz="2400" dirty="0">
                <a:solidFill>
                  <a:schemeClr val="bg1"/>
                </a:solidFill>
              </a:rPr>
              <a:t>and 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CA" sz="2400" dirty="0">
                <a:solidFill>
                  <a:schemeClr val="bg1"/>
                </a:solidFill>
              </a:rPr>
              <a:t> operators also work on lists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CA" dirty="0">
                <a:solidFill>
                  <a:schemeClr val="bg1"/>
                </a:solidFill>
              </a:rPr>
              <a:t>+ concatenates two lists, * repeats the list x amount of times</a:t>
            </a:r>
            <a:endParaRPr lang="en-CA" sz="2800" dirty="0">
              <a:solidFill>
                <a:schemeClr val="bg1"/>
              </a:solidFill>
            </a:endParaRPr>
          </a:p>
          <a:p>
            <a:endParaRPr lang="en-CA" sz="2400" dirty="0">
              <a:solidFill>
                <a:schemeClr val="bg1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400" dirty="0">
              <a:solidFill>
                <a:schemeClr val="bg1"/>
              </a:solidFill>
              <a:cs typeface="Calibri Light" panose="020F0302020204030204" pitchFamily="34" charset="0"/>
            </a:endParaRP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n-US" sz="2400" dirty="0">
              <a:solidFill>
                <a:schemeClr val="bg1"/>
              </a:solidFill>
              <a:cs typeface="Calibri Light" panose="020F03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DC05BF-DBB5-72EE-C675-FFD5EE6A7B89}"/>
              </a:ext>
            </a:extLst>
          </p:cNvPr>
          <p:cNvSpPr txBox="1"/>
          <p:nvPr/>
        </p:nvSpPr>
        <p:spPr>
          <a:xfrm>
            <a:off x="1012290" y="2182253"/>
            <a:ext cx="9598233" cy="830997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>
              <a:defRPr/>
            </a:pP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vowels =[</a:t>
            </a:r>
            <a:r>
              <a:rPr lang="en-CA" sz="2400" dirty="0">
                <a:solidFill>
                  <a:schemeClr val="accent6"/>
                </a:solidFill>
                <a:latin typeface="Courier New" panose="02070309020205020404" pitchFamily="49" charset="0"/>
              </a:rPr>
              <a:t>'a', 'e', 'i', 'o', 'u’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]</a:t>
            </a:r>
          </a:p>
          <a:p>
            <a:pPr>
              <a:defRPr/>
            </a:pPr>
            <a:r>
              <a:rPr lang="en-CA" sz="2400" dirty="0">
                <a:solidFill>
                  <a:schemeClr val="accent6"/>
                </a:solidFill>
                <a:latin typeface="Courier New" panose="02070309020205020404" pitchFamily="49" charset="0"/>
              </a:rPr>
              <a:t>'e' </a:t>
            </a:r>
            <a:r>
              <a:rPr lang="en-CA" sz="2400" dirty="0">
                <a:solidFill>
                  <a:schemeClr val="accent3"/>
                </a:solidFill>
                <a:latin typeface="Courier New" panose="02070309020205020404" pitchFamily="49" charset="0"/>
              </a:rPr>
              <a:t>in</a:t>
            </a:r>
            <a:r>
              <a:rPr lang="en-CA" sz="2400" dirty="0">
                <a:solidFill>
                  <a:schemeClr val="accent6"/>
                </a:solidFill>
                <a:latin typeface="Courier New" panose="02070309020205020404" pitchFamily="49" charset="0"/>
              </a:rPr>
              <a:t> 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vowels </a:t>
            </a:r>
            <a:r>
              <a:rPr lang="en-CA" sz="2400" dirty="0">
                <a:solidFill>
                  <a:schemeClr val="accent1"/>
                </a:solidFill>
                <a:latin typeface="Courier New" panose="02070309020205020404" pitchFamily="49" charset="0"/>
              </a:rPr>
              <a:t>#check if e is in the vowels list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2AE3F6-B1BB-8206-0F68-8B25890FAF8B}"/>
              </a:ext>
            </a:extLst>
          </p:cNvPr>
          <p:cNvSpPr txBox="1"/>
          <p:nvPr/>
        </p:nvSpPr>
        <p:spPr>
          <a:xfrm>
            <a:off x="1012289" y="3844751"/>
            <a:ext cx="9598233" cy="46166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>
              <a:defRPr/>
            </a:pPr>
            <a:r>
              <a:rPr lang="en-CA" sz="2400" dirty="0" err="1">
                <a:solidFill>
                  <a:schemeClr val="bg1"/>
                </a:solidFill>
                <a:latin typeface="Courier New" panose="02070309020205020404" pitchFamily="49" charset="0"/>
              </a:rPr>
              <a:t>len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(vowels) </a:t>
            </a:r>
            <a:r>
              <a:rPr lang="en-CA" sz="2400" dirty="0">
                <a:solidFill>
                  <a:schemeClr val="accent1"/>
                </a:solidFill>
                <a:latin typeface="Courier New" panose="02070309020205020404" pitchFamily="49" charset="0"/>
              </a:rPr>
              <a:t>#5 items in the list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505885-9666-4A54-02EC-B7CA1DD3A920}"/>
              </a:ext>
            </a:extLst>
          </p:cNvPr>
          <p:cNvSpPr txBox="1"/>
          <p:nvPr/>
        </p:nvSpPr>
        <p:spPr>
          <a:xfrm>
            <a:off x="1164689" y="5650835"/>
            <a:ext cx="9598233" cy="830997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>
              <a:defRPr/>
            </a:pP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2 * vowels </a:t>
            </a:r>
          </a:p>
          <a:p>
            <a:pPr>
              <a:defRPr/>
            </a:pPr>
            <a:r>
              <a:rPr lang="en-CA" sz="2400" dirty="0">
                <a:solidFill>
                  <a:schemeClr val="accent1"/>
                </a:solidFill>
                <a:latin typeface="Courier New" panose="02070309020205020404" pitchFamily="49" charset="0"/>
              </a:rPr>
              <a:t>#['a', 'e', 'i', 'o', 'u', 'a', 'e', 'i', 'o', 'u']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311874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71D5E9-9980-F49A-01FB-69597093B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C1D80-D279-8E71-4CF7-7840352A6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Mutating 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FF0BE-B525-E42F-70C6-0E1955D230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r>
              <a:rPr lang="en-CA" sz="2400" dirty="0">
                <a:solidFill>
                  <a:schemeClr val="bg1"/>
                </a:solidFill>
              </a:rPr>
              <a:t>Lists are </a:t>
            </a:r>
            <a:r>
              <a:rPr lang="en-CA" sz="2400" b="1" dirty="0">
                <a:solidFill>
                  <a:schemeClr val="bg1"/>
                </a:solidFill>
              </a:rPr>
              <a:t>mutable</a:t>
            </a:r>
            <a:r>
              <a:rPr lang="en-CA" sz="2400" dirty="0">
                <a:solidFill>
                  <a:schemeClr val="bg1"/>
                </a:solidFill>
              </a:rPr>
              <a:t>, meaning they can be modified.</a:t>
            </a:r>
          </a:p>
          <a:p>
            <a:r>
              <a:rPr lang="en-CA" sz="2400" dirty="0">
                <a:solidFill>
                  <a:schemeClr val="bg1"/>
                </a:solidFill>
              </a:rPr>
              <a:t>To mutate or change a value in a list, we access its index and assign the new value</a:t>
            </a:r>
          </a:p>
          <a:p>
            <a:endParaRPr lang="en-CA" sz="2400" dirty="0">
              <a:solidFill>
                <a:schemeClr val="bg1"/>
              </a:solidFill>
            </a:endParaRPr>
          </a:p>
          <a:p>
            <a:endParaRPr lang="en-CA" sz="2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n-US" sz="2400" dirty="0">
              <a:solidFill>
                <a:schemeClr val="bg1"/>
              </a:solidFill>
              <a:cs typeface="Calibri Light" panose="020F03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94ED5C-D226-0E0B-0C3D-ECC30117F6C2}"/>
              </a:ext>
            </a:extLst>
          </p:cNvPr>
          <p:cNvSpPr txBox="1"/>
          <p:nvPr/>
        </p:nvSpPr>
        <p:spPr>
          <a:xfrm>
            <a:off x="1096696" y="2901807"/>
            <a:ext cx="9598233" cy="2677656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A list can be changed in place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fruits = [</a:t>
            </a:r>
            <a:r>
              <a:rPr lang="en-CA" sz="2400" dirty="0">
                <a:solidFill>
                  <a:schemeClr val="accent6"/>
                </a:solidFill>
                <a:latin typeface="Courier New" panose="02070309020205020404" pitchFamily="49" charset="0"/>
              </a:rPr>
              <a:t>"apple", "banana", "orange"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rgbClr val="196B24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Change the second item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fruits[1] =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"kiwi”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sz="2400" dirty="0">
              <a:solidFill>
                <a:schemeClr val="accent6"/>
              </a:solidFill>
              <a:latin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Now list is apple, kiwi, orange</a:t>
            </a:r>
          </a:p>
        </p:txBody>
      </p:sp>
    </p:spTree>
    <p:extLst>
      <p:ext uri="{BB962C8B-B14F-4D97-AF65-F5344CB8AC3E}">
        <p14:creationId xmlns:p14="http://schemas.microsoft.com/office/powerpoint/2010/main" val="346865433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76D18B-E7C9-7CB5-0A90-4F40EC3A5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FE15-7AD5-65F9-2534-75C4BF5E6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List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22C503-C279-DDBB-EBB7-6A5A6DA03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r>
              <a:rPr lang="en-CA" sz="2400" dirty="0">
                <a:solidFill>
                  <a:schemeClr val="bg1"/>
                </a:solidFill>
              </a:rPr>
              <a:t>Like strings, lists have their own methods.</a:t>
            </a:r>
          </a:p>
          <a:p>
            <a:r>
              <a:rPr lang="en-CA" sz="2400" dirty="0">
                <a:solidFill>
                  <a:schemeClr val="bg1"/>
                </a:solidFill>
              </a:rPr>
              <a:t>Almost all list methods allow us to mutate them</a:t>
            </a:r>
          </a:p>
          <a:p>
            <a:endParaRPr lang="en-CA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CA" sz="2400" b="1" dirty="0">
                <a:solidFill>
                  <a:schemeClr val="bg1"/>
                </a:solidFill>
              </a:rPr>
              <a:t>1. Adding items to the end of a list using the </a:t>
            </a:r>
            <a:r>
              <a:rPr lang="en-CA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append</a:t>
            </a:r>
            <a:r>
              <a:rPr lang="en-CA" sz="2400" b="1" dirty="0">
                <a:solidFill>
                  <a:schemeClr val="bg1"/>
                </a:solidFill>
              </a:rPr>
              <a:t> method</a:t>
            </a:r>
          </a:p>
          <a:p>
            <a:endParaRPr lang="en-CA" sz="2400" dirty="0">
              <a:solidFill>
                <a:schemeClr val="bg1"/>
              </a:solidFill>
            </a:endParaRPr>
          </a:p>
          <a:p>
            <a:endParaRPr lang="en-CA" sz="2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n-US" sz="2400" dirty="0">
              <a:solidFill>
                <a:schemeClr val="bg1"/>
              </a:solidFill>
              <a:cs typeface="Calibri Light" panose="020F03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DBBA9C-2143-9F51-1DB1-C8657BD3F56C}"/>
              </a:ext>
            </a:extLst>
          </p:cNvPr>
          <p:cNvSpPr txBox="1"/>
          <p:nvPr/>
        </p:nvSpPr>
        <p:spPr>
          <a:xfrm>
            <a:off x="1012290" y="3532752"/>
            <a:ext cx="9598233" cy="2677656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>
              <a:defRPr/>
            </a:pP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rainbow = [</a:t>
            </a:r>
            <a:r>
              <a:rPr lang="en-CA" sz="2400" dirty="0">
                <a:solidFill>
                  <a:schemeClr val="accent6"/>
                </a:solidFill>
                <a:latin typeface="Courier New" panose="02070309020205020404" pitchFamily="49" charset="0"/>
              </a:rPr>
              <a:t>'red', 'orange', 'yellow', 'green', 'light blue', 'blue', 'violet’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]</a:t>
            </a:r>
          </a:p>
          <a:p>
            <a:pPr>
              <a:defRPr/>
            </a:pPr>
            <a:endParaRPr lang="en-CA" sz="2400" dirty="0">
              <a:solidFill>
                <a:schemeClr val="bg1"/>
              </a:solidFill>
              <a:latin typeface="Courier New" panose="02070309020205020404" pitchFamily="49" charset="0"/>
            </a:endParaRPr>
          </a:p>
          <a:p>
            <a:pPr>
              <a:defRPr/>
            </a:pPr>
            <a:r>
              <a:rPr lang="en-CA" sz="2400" dirty="0" err="1">
                <a:solidFill>
                  <a:schemeClr val="bg1"/>
                </a:solidFill>
                <a:latin typeface="Courier New" panose="02070309020205020404" pitchFamily="49" charset="0"/>
              </a:rPr>
              <a:t>rainbow.</a:t>
            </a:r>
            <a:r>
              <a:rPr lang="en-CA" sz="2400" dirty="0" err="1">
                <a:solidFill>
                  <a:schemeClr val="accent3"/>
                </a:solidFill>
                <a:latin typeface="Courier New" panose="02070309020205020404" pitchFamily="49" charset="0"/>
              </a:rPr>
              <a:t>append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(</a:t>
            </a:r>
            <a:r>
              <a:rPr lang="en-CA" sz="2400" dirty="0">
                <a:solidFill>
                  <a:schemeClr val="accent6"/>
                </a:solidFill>
                <a:latin typeface="Courier New" panose="02070309020205020404" pitchFamily="49" charset="0"/>
              </a:rPr>
              <a:t>'purple’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#now rainbow is: </a:t>
            </a:r>
            <a:r>
              <a:rPr lang="en-CA" sz="2400" dirty="0">
                <a:solidFill>
                  <a:schemeClr val="accent1"/>
                </a:solidFill>
                <a:latin typeface="Courier New" panose="02070309020205020404" pitchFamily="49" charset="0"/>
              </a:rPr>
              <a:t>'red', 'orange', 'yellow', 'green', 'light blue', 'blue', 'violet’, 'purple'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069825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3DD569-2DAD-F576-A6D9-5AE4B336C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4A7C5-16FD-F47F-AF11-A9241A846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List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B9165C-9916-B7E2-A98E-28AA470EB7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r>
              <a:rPr lang="en-CA" sz="2400" dirty="0">
                <a:solidFill>
                  <a:schemeClr val="bg1"/>
                </a:solidFill>
              </a:rPr>
              <a:t>Like strings, lists have their own methods.</a:t>
            </a:r>
          </a:p>
          <a:p>
            <a:r>
              <a:rPr lang="en-CA" sz="2400" dirty="0">
                <a:solidFill>
                  <a:schemeClr val="bg1"/>
                </a:solidFill>
              </a:rPr>
              <a:t>Almost all list methods allow us to mutate them</a:t>
            </a:r>
          </a:p>
          <a:p>
            <a:endParaRPr lang="en-CA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CA" sz="2400" b="1" dirty="0">
                <a:solidFill>
                  <a:schemeClr val="bg1"/>
                </a:solidFill>
              </a:rPr>
              <a:t>2. </a:t>
            </a:r>
            <a:r>
              <a:rPr lang="en-CA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Extend</a:t>
            </a:r>
            <a:r>
              <a:rPr lang="en-CA" sz="2400" b="1" dirty="0">
                <a:solidFill>
                  <a:schemeClr val="bg1"/>
                </a:solidFill>
              </a:rPr>
              <a:t> method takes each item from the other list and adds it to the original list one by one.</a:t>
            </a:r>
          </a:p>
          <a:p>
            <a:endParaRPr lang="en-CA" sz="2400" dirty="0">
              <a:solidFill>
                <a:schemeClr val="bg1"/>
              </a:solidFill>
            </a:endParaRPr>
          </a:p>
          <a:p>
            <a:endParaRPr lang="en-CA" sz="2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n-US" sz="2400" dirty="0">
              <a:solidFill>
                <a:schemeClr val="bg1"/>
              </a:solidFill>
              <a:cs typeface="Calibri Light" panose="020F03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74F23C-F664-EB27-91C3-1A6E6B73E8B7}"/>
              </a:ext>
            </a:extLst>
          </p:cNvPr>
          <p:cNvSpPr txBox="1"/>
          <p:nvPr/>
        </p:nvSpPr>
        <p:spPr>
          <a:xfrm>
            <a:off x="998222" y="3741364"/>
            <a:ext cx="10185593" cy="2677656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rainbow = [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'red', 'orange', 'yellow', 'green', 'light blue', 'blue', 'violet’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rainbow.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extend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([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'magenta', 'pink'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]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rgbClr val="196B24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#now rainbow is: 'red', 'orange', 'yellow', 'green', 'light blue', 'blue', 'violet’, 'magenta’, ‘pink'</a:t>
            </a:r>
          </a:p>
        </p:txBody>
      </p:sp>
    </p:spTree>
    <p:extLst>
      <p:ext uri="{BB962C8B-B14F-4D97-AF65-F5344CB8AC3E}">
        <p14:creationId xmlns:p14="http://schemas.microsoft.com/office/powerpoint/2010/main" val="296312522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1BD10B-0E50-01BC-1BE6-223449BFE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19089-5D9D-CA20-D977-EFD9F5BBF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List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12BDF-7B8B-104E-681F-E4EE3EF96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r>
              <a:rPr lang="en-CA" sz="2400" dirty="0">
                <a:solidFill>
                  <a:schemeClr val="bg1"/>
                </a:solidFill>
              </a:rPr>
              <a:t>Like strings, lists have their own methods.</a:t>
            </a:r>
          </a:p>
          <a:p>
            <a:r>
              <a:rPr lang="en-CA" sz="2400" dirty="0">
                <a:solidFill>
                  <a:schemeClr val="bg1"/>
                </a:solidFill>
              </a:rPr>
              <a:t>Almost all list methods allow us to mutate them</a:t>
            </a:r>
          </a:p>
          <a:p>
            <a:endParaRPr lang="en-CA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CA" sz="2400" b="1" dirty="0">
                <a:solidFill>
                  <a:schemeClr val="bg1"/>
                </a:solidFill>
              </a:rPr>
              <a:t>2. </a:t>
            </a:r>
            <a:r>
              <a:rPr lang="en-CA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Extend</a:t>
            </a:r>
            <a:r>
              <a:rPr lang="en-CA" sz="2400" b="1" dirty="0">
                <a:solidFill>
                  <a:schemeClr val="bg1"/>
                </a:solidFill>
              </a:rPr>
              <a:t> method takes each item from the other list and adds it to the original list one by one. </a:t>
            </a:r>
            <a:r>
              <a:rPr lang="en-CA" sz="2400" b="1" dirty="0">
                <a:solidFill>
                  <a:schemeClr val="accent3"/>
                </a:solidFill>
              </a:rPr>
              <a:t>Note, passing in a string breaks it up into single characters</a:t>
            </a:r>
          </a:p>
          <a:p>
            <a:endParaRPr lang="en-CA" sz="2400" dirty="0">
              <a:solidFill>
                <a:schemeClr val="bg1"/>
              </a:solidFill>
            </a:endParaRPr>
          </a:p>
          <a:p>
            <a:endParaRPr lang="en-CA" sz="2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n-US" sz="2400" dirty="0">
              <a:solidFill>
                <a:schemeClr val="bg1"/>
              </a:solidFill>
              <a:cs typeface="Calibri Light" panose="020F03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5E4C4E-8A82-0179-401D-65EBDFC56CC4}"/>
              </a:ext>
            </a:extLst>
          </p:cNvPr>
          <p:cNvSpPr txBox="1"/>
          <p:nvPr/>
        </p:nvSpPr>
        <p:spPr>
          <a:xfrm>
            <a:off x="880404" y="4040301"/>
            <a:ext cx="10185593" cy="2677656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rainbow = [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'red', 'orange', 'yellow', 'green', 'light blue', 'blue', 'violet’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rainbow.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extend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'pink'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rgbClr val="196B24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#now rainbow is: 'red', 'orange', 'yellow', 'green', 'light blue', 'blue', 'violet’, ‘p’, ‘i’, ‘n’, ‘k'</a:t>
            </a:r>
          </a:p>
        </p:txBody>
      </p:sp>
    </p:spTree>
    <p:extLst>
      <p:ext uri="{BB962C8B-B14F-4D97-AF65-F5344CB8AC3E}">
        <p14:creationId xmlns:p14="http://schemas.microsoft.com/office/powerpoint/2010/main" val="213746657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6A5BDA-951F-5C5D-AE63-B09A4D4A9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28628-BE24-2CF8-596E-71561ECD7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List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F74AFD-2691-A682-71FB-3C2D004D07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r>
              <a:rPr lang="en-CA" sz="2400" dirty="0">
                <a:solidFill>
                  <a:schemeClr val="bg1"/>
                </a:solidFill>
              </a:rPr>
              <a:t>Like strings, lists have their own methods.</a:t>
            </a:r>
          </a:p>
          <a:p>
            <a:r>
              <a:rPr lang="en-CA" sz="2400" dirty="0">
                <a:solidFill>
                  <a:schemeClr val="bg1"/>
                </a:solidFill>
              </a:rPr>
              <a:t>Almost all list methods allow us to mutate them</a:t>
            </a:r>
          </a:p>
          <a:p>
            <a:endParaRPr lang="en-CA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CA" sz="2400" b="1" dirty="0">
                <a:solidFill>
                  <a:schemeClr val="bg1"/>
                </a:solidFill>
              </a:rPr>
              <a:t>3. Adding items somewhere else into a list using the </a:t>
            </a:r>
            <a:r>
              <a:rPr lang="en-CA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insert</a:t>
            </a:r>
            <a:r>
              <a:rPr lang="en-CA" sz="2400" b="1" dirty="0">
                <a:solidFill>
                  <a:schemeClr val="bg1"/>
                </a:solidFill>
              </a:rPr>
              <a:t> method and specifying the index to insert data into</a:t>
            </a:r>
          </a:p>
          <a:p>
            <a:endParaRPr lang="en-CA" sz="2400" dirty="0">
              <a:solidFill>
                <a:schemeClr val="bg1"/>
              </a:solidFill>
            </a:endParaRPr>
          </a:p>
          <a:p>
            <a:endParaRPr lang="en-CA" sz="2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n-US" sz="2400" dirty="0">
              <a:solidFill>
                <a:schemeClr val="bg1"/>
              </a:solidFill>
              <a:cs typeface="Calibri Light" panose="020F03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501B47-2930-D5DF-A60A-3DD460C8E4AC}"/>
              </a:ext>
            </a:extLst>
          </p:cNvPr>
          <p:cNvSpPr txBox="1"/>
          <p:nvPr/>
        </p:nvSpPr>
        <p:spPr>
          <a:xfrm>
            <a:off x="1012290" y="3815219"/>
            <a:ext cx="9598233" cy="2677656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rainbow = [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'red', 'orange', 'yellow', 'green', 'light blue', 'blue', 'violet’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rainbow.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insert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(6,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’indigo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’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#add at position 6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rgbClr val="196B24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#now rainbow is: 'red', 'orange', 'yellow', 'green', 'light blue', 'blue’, 'indigo', 'violet’, </a:t>
            </a:r>
          </a:p>
        </p:txBody>
      </p:sp>
    </p:spTree>
    <p:extLst>
      <p:ext uri="{BB962C8B-B14F-4D97-AF65-F5344CB8AC3E}">
        <p14:creationId xmlns:p14="http://schemas.microsoft.com/office/powerpoint/2010/main" val="123823296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A74E17-5142-875E-C41D-7DF836E56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ABA9B-F9A1-8003-021C-33CA8DF68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List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E8DA03-00A0-2875-08A6-278119EDF9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r>
              <a:rPr lang="en-CA" sz="2400" dirty="0">
                <a:solidFill>
                  <a:schemeClr val="bg1"/>
                </a:solidFill>
              </a:rPr>
              <a:t>Like strings, lists have their own methods.</a:t>
            </a:r>
          </a:p>
          <a:p>
            <a:r>
              <a:rPr lang="en-CA" sz="2400" dirty="0">
                <a:solidFill>
                  <a:schemeClr val="bg1"/>
                </a:solidFill>
              </a:rPr>
              <a:t>Almost all list methods allow us to mutate them</a:t>
            </a:r>
          </a:p>
          <a:p>
            <a:endParaRPr lang="en-CA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CA" sz="2400" b="1" dirty="0">
                <a:solidFill>
                  <a:schemeClr val="bg1"/>
                </a:solidFill>
              </a:rPr>
              <a:t>3. Remove items using the </a:t>
            </a:r>
            <a:r>
              <a:rPr lang="en-CA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remove</a:t>
            </a:r>
            <a:r>
              <a:rPr lang="en-CA" sz="2400" b="1" dirty="0">
                <a:solidFill>
                  <a:schemeClr val="bg1"/>
                </a:solidFill>
              </a:rPr>
              <a:t> method. Note this only gets rid of the first match</a:t>
            </a:r>
          </a:p>
          <a:p>
            <a:endParaRPr lang="en-CA" sz="2400" dirty="0">
              <a:solidFill>
                <a:schemeClr val="bg1"/>
              </a:solidFill>
            </a:endParaRPr>
          </a:p>
          <a:p>
            <a:endParaRPr lang="en-CA" sz="2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n-US" sz="2400" dirty="0">
              <a:solidFill>
                <a:schemeClr val="bg1"/>
              </a:solidFill>
              <a:cs typeface="Calibri Light" panose="020F03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BE9EC8-F611-A804-9726-A7623FE61056}"/>
              </a:ext>
            </a:extLst>
          </p:cNvPr>
          <p:cNvSpPr txBox="1"/>
          <p:nvPr/>
        </p:nvSpPr>
        <p:spPr>
          <a:xfrm>
            <a:off x="1012290" y="3815219"/>
            <a:ext cx="9598233" cy="2677656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rainbow = [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'red', 'orange', 'yellow’, 'yellow', 'green', 'light blue', 'blue', 'violet’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rainbow.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remove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‘yellow’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#remove the first yellow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rgbClr val="196B24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#now rainbow is: 'red', 'orange', 'yellow', 'green', 'light blue', 'blue’, 'violet’, </a:t>
            </a:r>
          </a:p>
        </p:txBody>
      </p:sp>
    </p:spTree>
    <p:extLst>
      <p:ext uri="{BB962C8B-B14F-4D97-AF65-F5344CB8AC3E}">
        <p14:creationId xmlns:p14="http://schemas.microsoft.com/office/powerpoint/2010/main" val="128169214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F99635-5893-9828-43CE-0FEAC87B4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CD341-C93A-3120-411A-EE7274509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List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1F97B-E9AB-5272-9395-CBDE7092C5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r>
              <a:rPr lang="en-CA" sz="2400" dirty="0">
                <a:solidFill>
                  <a:schemeClr val="bg1"/>
                </a:solidFill>
              </a:rPr>
              <a:t>Like strings, lists have their own methods.</a:t>
            </a:r>
          </a:p>
          <a:p>
            <a:r>
              <a:rPr lang="en-CA" sz="2400" dirty="0">
                <a:solidFill>
                  <a:schemeClr val="bg1"/>
                </a:solidFill>
              </a:rPr>
              <a:t>Almost all list methods allow us to mutate them</a:t>
            </a:r>
          </a:p>
          <a:p>
            <a:endParaRPr lang="en-CA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CA" sz="2400" b="1" dirty="0">
                <a:solidFill>
                  <a:schemeClr val="bg1"/>
                </a:solidFill>
              </a:rPr>
              <a:t>3. Remove items using the </a:t>
            </a:r>
            <a:r>
              <a:rPr lang="en-CA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remove</a:t>
            </a:r>
            <a:r>
              <a:rPr lang="en-CA" sz="2400" b="1" dirty="0">
                <a:solidFill>
                  <a:schemeClr val="bg1"/>
                </a:solidFill>
              </a:rPr>
              <a:t> method. Note this only gets rid of the first match. </a:t>
            </a:r>
            <a:r>
              <a:rPr lang="en-CA" sz="2400" b="1" dirty="0">
                <a:solidFill>
                  <a:schemeClr val="accent3"/>
                </a:solidFill>
              </a:rPr>
              <a:t>To remove one or more item by index, we use the </a:t>
            </a:r>
            <a:r>
              <a:rPr lang="en-CA" sz="2400" b="1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del</a:t>
            </a:r>
            <a:r>
              <a:rPr lang="en-CA" sz="2400" b="1" dirty="0">
                <a:solidFill>
                  <a:schemeClr val="accent3"/>
                </a:solidFill>
              </a:rPr>
              <a:t> operator</a:t>
            </a:r>
          </a:p>
          <a:p>
            <a:endParaRPr lang="en-CA" sz="2400" dirty="0">
              <a:solidFill>
                <a:schemeClr val="bg1"/>
              </a:solidFill>
            </a:endParaRPr>
          </a:p>
          <a:p>
            <a:endParaRPr lang="en-CA" sz="2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n-US" sz="2400" dirty="0">
              <a:solidFill>
                <a:schemeClr val="bg1"/>
              </a:solidFill>
              <a:cs typeface="Calibri Light" panose="020F03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E33BE4-8F23-44A3-E4A1-758150C6C050}"/>
              </a:ext>
            </a:extLst>
          </p:cNvPr>
          <p:cNvSpPr txBox="1"/>
          <p:nvPr/>
        </p:nvSpPr>
        <p:spPr>
          <a:xfrm>
            <a:off x="1012290" y="3815219"/>
            <a:ext cx="9598233" cy="2677656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rainbow = [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'red', 'orange', 'yellow’, 'green', 'light blue', 'blue', 'violet’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schemeClr val="accent3"/>
                </a:solidFill>
                <a:latin typeface="Courier New" panose="02070309020205020404" pitchFamily="49" charset="0"/>
              </a:rPr>
              <a:t>d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el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rainbow[0:3]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#remove the first three colors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rgbClr val="196B24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#now rainbow is: 'green', 'light blue', 'blue’, 'violet’, </a:t>
            </a:r>
          </a:p>
        </p:txBody>
      </p:sp>
    </p:spTree>
    <p:extLst>
      <p:ext uri="{BB962C8B-B14F-4D97-AF65-F5344CB8AC3E}">
        <p14:creationId xmlns:p14="http://schemas.microsoft.com/office/powerpoint/2010/main" val="79606087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84225C-4574-AE6A-5AD5-6556132E1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24327-059A-6768-7307-A2033143E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Sorting 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02F3C8-691E-7BBD-0733-7C976D8CC3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r>
              <a:rPr lang="en-CA" sz="2400" dirty="0">
                <a:solidFill>
                  <a:schemeClr val="bg1"/>
                </a:solidFill>
              </a:rPr>
              <a:t>Since lists are ordered, we can sort them. There are two main ways:</a:t>
            </a:r>
          </a:p>
          <a:p>
            <a:pPr marL="0" indent="0">
              <a:buNone/>
            </a:pPr>
            <a:r>
              <a:rPr lang="en-CA" sz="2400" dirty="0">
                <a:solidFill>
                  <a:schemeClr val="bg1"/>
                </a:solidFill>
              </a:rPr>
              <a:t>1. Sort in place (</a:t>
            </a:r>
            <a:r>
              <a:rPr lang="en-CA" sz="2400" b="1" dirty="0">
                <a:solidFill>
                  <a:schemeClr val="bg1"/>
                </a:solidFill>
              </a:rPr>
              <a:t>modifies the original list </a:t>
            </a:r>
            <a:r>
              <a:rPr lang="en-CA" sz="2400" dirty="0">
                <a:solidFill>
                  <a:schemeClr val="bg1"/>
                </a:solidFill>
              </a:rPr>
              <a:t>using the 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sort</a:t>
            </a:r>
            <a:r>
              <a:rPr lang="en-CA" sz="2400" dirty="0">
                <a:solidFill>
                  <a:schemeClr val="bg1"/>
                </a:solidFill>
              </a:rPr>
              <a:t> method)</a:t>
            </a:r>
          </a:p>
          <a:p>
            <a:endParaRPr lang="en-CA" sz="2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n-US" sz="2400" dirty="0">
              <a:solidFill>
                <a:schemeClr val="bg1"/>
              </a:solidFill>
              <a:cs typeface="Calibri Light" panose="020F03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E69AF7-523A-95F9-75A9-99EFFECB7189}"/>
              </a:ext>
            </a:extLst>
          </p:cNvPr>
          <p:cNvSpPr txBox="1"/>
          <p:nvPr/>
        </p:nvSpPr>
        <p:spPr>
          <a:xfrm>
            <a:off x="1012290" y="2828835"/>
            <a:ext cx="9598233" cy="1200329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numbers = [4, 1, 7, 3]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numbers.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sort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()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sorts the list ascending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numbers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[1, 3, 4, 7]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158A8B-0D35-A907-C6FB-CB87A4046E7C}"/>
              </a:ext>
            </a:extLst>
          </p:cNvPr>
          <p:cNvSpPr txBox="1"/>
          <p:nvPr/>
        </p:nvSpPr>
        <p:spPr>
          <a:xfrm>
            <a:off x="1012289" y="4378208"/>
            <a:ext cx="9598233" cy="1200329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r>
              <a:rPr lang="en-CA" sz="2400" b="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fruits = [</a:t>
            </a:r>
            <a:r>
              <a:rPr lang="en-CA" sz="2400" b="0" dirty="0">
                <a:solidFill>
                  <a:schemeClr val="accent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'pineapple', 'apple', 'kiwi', 'banana'</a:t>
            </a:r>
            <a:r>
              <a:rPr lang="en-CA" sz="2400" b="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CA" sz="2400" b="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fruits.</a:t>
            </a:r>
            <a:r>
              <a:rPr lang="en-CA" sz="2400" b="0" dirty="0" err="1">
                <a:solidFill>
                  <a:schemeClr val="accent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sort</a:t>
            </a:r>
            <a:r>
              <a:rPr lang="en-CA" sz="2400" b="0" dirty="0">
                <a:solidFill>
                  <a:schemeClr val="accent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# sorts the list alphabetically</a:t>
            </a:r>
            <a:endParaRPr lang="en-CA" sz="2400" b="0" dirty="0">
              <a:solidFill>
                <a:schemeClr val="accent3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</a:t>
            </a:r>
            <a:r>
              <a:rPr lang="en-CA" sz="2400" b="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ruits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#apple, banana, kiwi, pineapple</a:t>
            </a:r>
            <a:endParaRPr lang="en-CA" sz="2400" b="0" dirty="0">
              <a:solidFill>
                <a:schemeClr val="bg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30526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5DAFA3-9C4A-3C07-063A-45BA9E35E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23156-6828-E0D8-AAA9-5F4ECE76E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Sorting 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D5E96-6FCA-DC7B-DB7E-DFC279B84F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r>
              <a:rPr lang="en-CA" sz="2400" dirty="0">
                <a:solidFill>
                  <a:schemeClr val="bg1"/>
                </a:solidFill>
              </a:rPr>
              <a:t>Since lists are ordered, we can sort them. There are two main ways:</a:t>
            </a:r>
          </a:p>
          <a:p>
            <a:pPr marL="0" indent="0">
              <a:buNone/>
            </a:pPr>
            <a:r>
              <a:rPr lang="en-CA" sz="2400" dirty="0">
                <a:solidFill>
                  <a:schemeClr val="bg1"/>
                </a:solidFill>
              </a:rPr>
              <a:t>2. Create a new sorted list (</a:t>
            </a:r>
            <a:r>
              <a:rPr lang="en-CA" sz="2400" b="1" dirty="0">
                <a:solidFill>
                  <a:schemeClr val="bg1"/>
                </a:solidFill>
              </a:rPr>
              <a:t>leaves the original list unchanged </a:t>
            </a:r>
            <a:r>
              <a:rPr lang="en-CA" sz="2400" dirty="0">
                <a:solidFill>
                  <a:schemeClr val="bg1"/>
                </a:solidFill>
              </a:rPr>
              <a:t>using 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sorted</a:t>
            </a:r>
            <a:r>
              <a:rPr lang="en-CA" sz="2400" dirty="0">
                <a:solidFill>
                  <a:schemeClr val="bg1"/>
                </a:solidFill>
              </a:rPr>
              <a:t>)</a:t>
            </a:r>
          </a:p>
          <a:p>
            <a:endParaRPr lang="en-CA" sz="2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n-US" sz="2400" dirty="0">
              <a:solidFill>
                <a:schemeClr val="bg1"/>
              </a:solidFill>
              <a:cs typeface="Calibri Light" panose="020F03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DC9C72-68E0-8DDB-7AB9-5CCDAF4B2E79}"/>
              </a:ext>
            </a:extLst>
          </p:cNvPr>
          <p:cNvSpPr txBox="1"/>
          <p:nvPr/>
        </p:nvSpPr>
        <p:spPr>
          <a:xfrm>
            <a:off x="1012290" y="2828835"/>
            <a:ext cx="9598233" cy="1569660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numbers = [4, 1, 7, 3]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s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orted_numbers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=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sorted(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numbers</a:t>
            </a:r>
            <a:r>
              <a:rPr lang="en-CA" sz="2400" dirty="0">
                <a:solidFill>
                  <a:srgbClr val="156082"/>
                </a:solidFill>
                <a:latin typeface="Courier New" panose="02070309020205020404" pitchFamily="49" charset="0"/>
              </a:rPr>
              <a:t>)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rgbClr val="196B24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numbers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remain the same [4, 1, 7, 3]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s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orted_numbers</a:t>
            </a:r>
            <a:r>
              <a:rPr lang="en-CA" sz="2400" dirty="0">
                <a:solidFill>
                  <a:srgbClr val="196B24"/>
                </a:solidFill>
                <a:latin typeface="Courier New" panose="02070309020205020404" pitchFamily="49" charset="0"/>
              </a:rPr>
              <a:t>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#new sorted list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191838-B728-F107-AECA-83676B5914C3}"/>
              </a:ext>
            </a:extLst>
          </p:cNvPr>
          <p:cNvSpPr txBox="1"/>
          <p:nvPr/>
        </p:nvSpPr>
        <p:spPr>
          <a:xfrm>
            <a:off x="1012290" y="4778617"/>
            <a:ext cx="9598233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CA" sz="2400" b="1" dirty="0">
                <a:solidFill>
                  <a:schemeClr val="bg1"/>
                </a:solidFill>
              </a:rPr>
              <a:t>Tip: Use sorted()</a:t>
            </a:r>
            <a:r>
              <a:rPr lang="en-CA" sz="2400" dirty="0">
                <a:solidFill>
                  <a:schemeClr val="bg1"/>
                </a:solidFill>
              </a:rPr>
              <a:t> when you want a new list and don’t want to touch the original.</a:t>
            </a:r>
          </a:p>
          <a:p>
            <a:r>
              <a:rPr lang="en-CA" sz="2400" b="1" dirty="0">
                <a:solidFill>
                  <a:schemeClr val="bg1"/>
                </a:solidFill>
              </a:rPr>
              <a:t>Use .sort()</a:t>
            </a:r>
            <a:r>
              <a:rPr lang="en-CA" sz="2400" dirty="0">
                <a:solidFill>
                  <a:schemeClr val="bg1"/>
                </a:solidFill>
              </a:rPr>
              <a:t> when you want to change the list directly.</a:t>
            </a:r>
          </a:p>
        </p:txBody>
      </p:sp>
    </p:spTree>
    <p:extLst>
      <p:ext uri="{BB962C8B-B14F-4D97-AF65-F5344CB8AC3E}">
        <p14:creationId xmlns:p14="http://schemas.microsoft.com/office/powerpoint/2010/main" val="392169644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68FB2D-ADF3-551C-81D3-2D5E15472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E215A-C104-D45D-B769-BC7188A11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Quiz: 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AA9F9-10EF-3AEC-8B79-FE88BDD437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CA" sz="2400" b="1" dirty="0">
                <a:solidFill>
                  <a:schemeClr val="bg1"/>
                </a:solidFill>
              </a:rPr>
              <a:t>Which of the following correctly creates a list?</a:t>
            </a:r>
            <a:endParaRPr lang="en-CA" sz="2400" dirty="0">
              <a:solidFill>
                <a:schemeClr val="bg1"/>
              </a:solidFill>
            </a:endParaRP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Always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Only if the outer 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CA" sz="2400" dirty="0">
                <a:solidFill>
                  <a:schemeClr val="bg1"/>
                </a:solidFill>
              </a:rPr>
              <a:t> condition is true</a:t>
            </a:r>
          </a:p>
          <a:p>
            <a:pPr marL="457200" indent="-457200">
              <a:buFont typeface="Arial" panose="020B0604020202020204" pitchFamily="34" charset="0"/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Only if the outer 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CA" sz="2400" dirty="0">
                <a:solidFill>
                  <a:schemeClr val="bg1"/>
                </a:solidFill>
              </a:rPr>
              <a:t> condition is false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Only if there is no </a:t>
            </a:r>
            <a:r>
              <a:rPr lang="en-CA" sz="2400" dirty="0" err="1">
                <a:solidFill>
                  <a:schemeClr val="bg1"/>
                </a:solidFill>
              </a:rPr>
              <a:t>elif</a:t>
            </a:r>
            <a:endParaRPr lang="en-CA" sz="24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0CD06A-C8AC-B4AE-088B-2D38DF9DA5FC}"/>
              </a:ext>
            </a:extLst>
          </p:cNvPr>
          <p:cNvSpPr txBox="1"/>
          <p:nvPr/>
        </p:nvSpPr>
        <p:spPr>
          <a:xfrm>
            <a:off x="1327147" y="1975560"/>
            <a:ext cx="8739325" cy="46166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n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umbers = (1,2,3)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B60FC9-BD4D-DBA2-37E1-A8D492DB0D1F}"/>
              </a:ext>
            </a:extLst>
          </p:cNvPr>
          <p:cNvSpPr txBox="1"/>
          <p:nvPr/>
        </p:nvSpPr>
        <p:spPr>
          <a:xfrm>
            <a:off x="1327147" y="2491264"/>
            <a:ext cx="8739325" cy="46166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n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umbers = [1,2,3]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E8F461-17F6-7834-D2FC-2F02A360CD6A}"/>
              </a:ext>
            </a:extLst>
          </p:cNvPr>
          <p:cNvSpPr txBox="1"/>
          <p:nvPr/>
        </p:nvSpPr>
        <p:spPr>
          <a:xfrm>
            <a:off x="1327146" y="2982350"/>
            <a:ext cx="8739325" cy="46166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n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umbers = {1,2,3</a:t>
            </a: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}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FD5366-39E8-184E-F658-D46B68DBB108}"/>
              </a:ext>
            </a:extLst>
          </p:cNvPr>
          <p:cNvSpPr txBox="1"/>
          <p:nvPr/>
        </p:nvSpPr>
        <p:spPr>
          <a:xfrm>
            <a:off x="1327146" y="3484802"/>
            <a:ext cx="8739325" cy="46166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n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umbers = “1,2,3”</a:t>
            </a:r>
          </a:p>
        </p:txBody>
      </p:sp>
    </p:spTree>
    <p:extLst>
      <p:ext uri="{BB962C8B-B14F-4D97-AF65-F5344CB8AC3E}">
        <p14:creationId xmlns:p14="http://schemas.microsoft.com/office/powerpoint/2010/main" val="219052604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FE23A0-B2A2-D2DE-05A6-50DDA1C7A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C1256-84E2-B45F-2307-01B6E5004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Quiz: 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D32000-4F1D-5CEE-C12F-EE7A1F52EF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CA" sz="2400" b="1" dirty="0">
                <a:solidFill>
                  <a:schemeClr val="bg1"/>
                </a:solidFill>
              </a:rPr>
              <a:t>2. What is the index of the first element in a Python list?</a:t>
            </a:r>
            <a:endParaRPr lang="en-CA" sz="2400" dirty="0">
              <a:solidFill>
                <a:schemeClr val="bg1"/>
              </a:solidFill>
            </a:endParaRP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0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1</a:t>
            </a:r>
          </a:p>
          <a:p>
            <a:pPr marL="457200" indent="-457200">
              <a:buFont typeface="Arial" panose="020B0604020202020204" pitchFamily="34" charset="0"/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-1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Depends on the list</a:t>
            </a:r>
          </a:p>
        </p:txBody>
      </p:sp>
    </p:spTree>
    <p:extLst>
      <p:ext uri="{BB962C8B-B14F-4D97-AF65-F5344CB8AC3E}">
        <p14:creationId xmlns:p14="http://schemas.microsoft.com/office/powerpoint/2010/main" val="230246321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9CE484-5175-4DDE-0C39-BFFD965DC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1257D0-252B-CD67-F610-B3BA7BE0A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Quiz: 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B012F3-53E5-1438-F0F2-DA18189C1A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CA" sz="2400" b="1" dirty="0">
                <a:solidFill>
                  <a:schemeClr val="bg1"/>
                </a:solidFill>
              </a:rPr>
              <a:t>3. What does </a:t>
            </a:r>
            <a:r>
              <a:rPr lang="en-CA" sz="24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my_list</a:t>
            </a:r>
            <a:r>
              <a:rPr lang="en-CA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[-1] </a:t>
            </a:r>
            <a:r>
              <a:rPr lang="en-CA" sz="2400" b="1" dirty="0">
                <a:solidFill>
                  <a:schemeClr val="bg1"/>
                </a:solidFill>
              </a:rPr>
              <a:t>return?</a:t>
            </a:r>
            <a:endParaRPr lang="en-CA" sz="2400" dirty="0">
              <a:solidFill>
                <a:schemeClr val="bg1"/>
              </a:solidFill>
            </a:endParaRP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The first element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The second element</a:t>
            </a:r>
          </a:p>
          <a:p>
            <a:pPr marL="457200" indent="-457200">
              <a:buFont typeface="Arial" panose="020B0604020202020204" pitchFamily="34" charset="0"/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The last element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An error</a:t>
            </a:r>
          </a:p>
        </p:txBody>
      </p:sp>
    </p:spTree>
    <p:extLst>
      <p:ext uri="{BB962C8B-B14F-4D97-AF65-F5344CB8AC3E}">
        <p14:creationId xmlns:p14="http://schemas.microsoft.com/office/powerpoint/2010/main" val="398930865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533079-4CB1-60ED-1462-E11DEE75C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BE73C-4F98-026C-225E-9B37B864B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Quiz: 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04978-0B55-98F9-13A8-B79E1AB55D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CA" sz="24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CA" sz="24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CA" sz="2400" b="1" dirty="0">
                <a:solidFill>
                  <a:schemeClr val="bg1"/>
                </a:solidFill>
              </a:rPr>
              <a:t>4. What is the output of </a:t>
            </a:r>
            <a:r>
              <a:rPr lang="en-CA" sz="24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nums</a:t>
            </a:r>
            <a:r>
              <a:rPr lang="en-CA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[1:4] </a:t>
            </a:r>
            <a:r>
              <a:rPr lang="en-CA" sz="2400" b="1" dirty="0">
                <a:solidFill>
                  <a:schemeClr val="bg1"/>
                </a:solidFill>
              </a:rPr>
              <a:t>?</a:t>
            </a:r>
          </a:p>
          <a:p>
            <a:pPr marL="0" indent="0">
              <a:buNone/>
            </a:pPr>
            <a:endParaRPr lang="en-CA" sz="24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CA" sz="2400" b="1" dirty="0">
                <a:solidFill>
                  <a:schemeClr val="bg1"/>
                </a:solidFill>
              </a:rPr>
              <a:t>5. What is the output of </a:t>
            </a:r>
            <a:r>
              <a:rPr lang="en-CA" sz="24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nums</a:t>
            </a:r>
            <a:r>
              <a:rPr lang="en-CA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[:3] </a:t>
            </a:r>
            <a:r>
              <a:rPr lang="en-CA" sz="2400" b="1" dirty="0">
                <a:solidFill>
                  <a:schemeClr val="bg1"/>
                </a:solidFill>
              </a:rPr>
              <a:t>?</a:t>
            </a:r>
          </a:p>
          <a:p>
            <a:pPr marL="0" indent="0">
              <a:buNone/>
            </a:pPr>
            <a:endParaRPr lang="en-CA" sz="24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A38D6F-912C-9220-9639-700CC2AA28FA}"/>
              </a:ext>
            </a:extLst>
          </p:cNvPr>
          <p:cNvSpPr txBox="1"/>
          <p:nvPr/>
        </p:nvSpPr>
        <p:spPr>
          <a:xfrm>
            <a:off x="838200" y="1626543"/>
            <a:ext cx="8739325" cy="46166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 err="1">
                <a:solidFill>
                  <a:prstClr val="black"/>
                </a:solidFill>
                <a:latin typeface="Courier New" panose="02070309020205020404" pitchFamily="49" charset="0"/>
              </a:rPr>
              <a:t>nums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= [10, 20, 30, 40, 50]</a:t>
            </a:r>
          </a:p>
        </p:txBody>
      </p:sp>
    </p:spTree>
    <p:extLst>
      <p:ext uri="{BB962C8B-B14F-4D97-AF65-F5344CB8AC3E}">
        <p14:creationId xmlns:p14="http://schemas.microsoft.com/office/powerpoint/2010/main" val="119453133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5A095B-4AD2-692E-5A93-3700B4054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9C317-5D09-5DA5-EB19-5A71EB293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Tuples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63E87F-C372-AF24-685C-144546E90F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r>
              <a:rPr lang="en-CA" sz="2400" dirty="0">
                <a:solidFill>
                  <a:schemeClr val="bg1"/>
                </a:solidFill>
              </a:rPr>
              <a:t>Like lists, </a:t>
            </a:r>
            <a:r>
              <a:rPr lang="en-CA" sz="2400" b="1" dirty="0">
                <a:solidFill>
                  <a:schemeClr val="bg1"/>
                </a:solidFill>
              </a:rPr>
              <a:t>tuples</a:t>
            </a:r>
            <a:r>
              <a:rPr lang="en-CA" sz="2400" dirty="0">
                <a:solidFill>
                  <a:schemeClr val="bg1"/>
                </a:solidFill>
              </a:rPr>
              <a:t> are built-in data types that are ordered collection of values</a:t>
            </a:r>
          </a:p>
          <a:p>
            <a:r>
              <a:rPr lang="en-CA" sz="2400" dirty="0">
                <a:solidFill>
                  <a:schemeClr val="bg1"/>
                </a:solidFill>
              </a:rPr>
              <a:t>We can store multiple values, access them by indexing, slice them etc.</a:t>
            </a:r>
          </a:p>
          <a:p>
            <a:r>
              <a:rPr lang="en-CA" sz="2400" dirty="0">
                <a:solidFill>
                  <a:schemeClr val="bg1"/>
                </a:solidFill>
              </a:rPr>
              <a:t>Key difference: </a:t>
            </a:r>
            <a:r>
              <a:rPr lang="en-CA" sz="2400" b="1" u="sng" dirty="0">
                <a:solidFill>
                  <a:schemeClr val="bg1"/>
                </a:solidFill>
              </a:rPr>
              <a:t>NOT MUTABLE (They cannot be changed once they are created).</a:t>
            </a:r>
          </a:p>
          <a:p>
            <a:pPr lvl="1"/>
            <a:r>
              <a:rPr lang="en-CA" dirty="0">
                <a:solidFill>
                  <a:schemeClr val="bg1"/>
                </a:solidFill>
              </a:rPr>
              <a:t>We cannot update a tuple to add, remove, replace or reorder items</a:t>
            </a:r>
          </a:p>
          <a:p>
            <a:pPr lvl="1">
              <a:lnSpc>
                <a:spcPct val="100000"/>
              </a:lnSpc>
            </a:pPr>
            <a:r>
              <a:rPr lang="en-CA" dirty="0">
                <a:solidFill>
                  <a:schemeClr val="bg1"/>
                </a:solidFill>
              </a:rPr>
              <a:t>Think of them as “read-only”</a:t>
            </a:r>
          </a:p>
          <a:p>
            <a:pPr>
              <a:lnSpc>
                <a:spcPct val="100000"/>
              </a:lnSpc>
            </a:pPr>
            <a:r>
              <a:rPr lang="en-CA" sz="2400" dirty="0">
                <a:solidFill>
                  <a:schemeClr val="bg1"/>
                </a:solidFill>
              </a:rPr>
              <a:t>Tuples are created using </a:t>
            </a:r>
            <a:r>
              <a:rPr lang="en-CA" sz="2400" b="1" dirty="0">
                <a:solidFill>
                  <a:schemeClr val="bg1"/>
                </a:solidFill>
              </a:rPr>
              <a:t>parentheses</a:t>
            </a:r>
            <a:r>
              <a:rPr lang="en-CA" sz="2400" dirty="0">
                <a:solidFill>
                  <a:schemeClr val="bg1"/>
                </a:solidFill>
              </a:rPr>
              <a:t> ()</a:t>
            </a:r>
          </a:p>
          <a:p>
            <a:pPr>
              <a:lnSpc>
                <a:spcPct val="100000"/>
              </a:lnSpc>
            </a:pPr>
            <a:endParaRPr lang="en-CA" sz="2400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</a:pPr>
            <a:endParaRPr lang="en-CA" sz="600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</a:pPr>
            <a:r>
              <a:rPr lang="en-CA" sz="2400" dirty="0">
                <a:solidFill>
                  <a:schemeClr val="bg1"/>
                </a:solidFill>
              </a:rPr>
              <a:t>To create an empty tuple, we use () (Though, we cant add anything to it later)</a:t>
            </a: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n-US" sz="2400" dirty="0">
              <a:solidFill>
                <a:schemeClr val="bg1"/>
              </a:solidFill>
              <a:cs typeface="Calibri Light" panose="020F03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B016A5-1476-FD27-4855-EA2D63EB19FB}"/>
              </a:ext>
            </a:extLst>
          </p:cNvPr>
          <p:cNvSpPr txBox="1"/>
          <p:nvPr/>
        </p:nvSpPr>
        <p:spPr>
          <a:xfrm>
            <a:off x="1110763" y="5799827"/>
            <a:ext cx="9598233" cy="830997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Example of an empty tuple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empty_tuple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= ()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448F35-5875-A22D-B09E-C64D5DCDDD80}"/>
              </a:ext>
            </a:extLst>
          </p:cNvPr>
          <p:cNvSpPr txBox="1"/>
          <p:nvPr/>
        </p:nvSpPr>
        <p:spPr>
          <a:xfrm>
            <a:off x="1110764" y="4521099"/>
            <a:ext cx="9598233" cy="830997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Example of a tuple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coordinates = (43.7, -79.4)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852E26-C173-76C0-084D-173427CD3720}"/>
              </a:ext>
            </a:extLst>
          </p:cNvPr>
          <p:cNvSpPr txBox="1"/>
          <p:nvPr/>
        </p:nvSpPr>
        <p:spPr>
          <a:xfrm>
            <a:off x="6935372" y="227176"/>
            <a:ext cx="3872098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CA" sz="2400" b="1" dirty="0">
                <a:solidFill>
                  <a:schemeClr val="bg1"/>
                </a:solidFill>
              </a:rPr>
              <a:t>Tuples are useful when values should stay the same</a:t>
            </a:r>
            <a:endParaRPr lang="en-CA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363627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ED9393-7458-902E-2FC7-44C3B9510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33AC8-05F7-187C-B83C-B5FB49E4F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Tuples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89C0FC-0390-7180-92B4-26A9A6C5DD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r>
              <a:rPr lang="en-CA" sz="2400" dirty="0">
                <a:solidFill>
                  <a:schemeClr val="bg1"/>
                </a:solidFill>
              </a:rPr>
              <a:t>Functions that work on lists and do not modify them in place also work on tuple</a:t>
            </a:r>
          </a:p>
          <a:p>
            <a:endParaRPr lang="en-CA" sz="2400" dirty="0">
              <a:solidFill>
                <a:schemeClr val="bg1"/>
              </a:solidFill>
            </a:endParaRPr>
          </a:p>
          <a:p>
            <a:pPr lvl="1">
              <a:lnSpc>
                <a:spcPct val="100000"/>
              </a:lnSpc>
            </a:pPr>
            <a:r>
              <a:rPr lang="en-CA" dirty="0">
                <a:solidFill>
                  <a:schemeClr val="bg1"/>
                </a:solidFill>
              </a:rPr>
              <a:t>Example, length of tuple (</a:t>
            </a:r>
            <a:r>
              <a:rPr lang="en-CA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CA" dirty="0">
                <a:solidFill>
                  <a:schemeClr val="bg1"/>
                </a:solidFill>
              </a:rPr>
              <a:t>)</a:t>
            </a:r>
          </a:p>
          <a:p>
            <a:pPr marL="457200" lvl="1" indent="0">
              <a:lnSpc>
                <a:spcPct val="100000"/>
              </a:lnSpc>
              <a:buNone/>
            </a:pPr>
            <a:endParaRPr lang="en-CA" dirty="0">
              <a:solidFill>
                <a:schemeClr val="bg1"/>
              </a:solidFill>
            </a:endParaRPr>
          </a:p>
          <a:p>
            <a:pPr marL="457200" lvl="1" indent="0">
              <a:lnSpc>
                <a:spcPct val="100000"/>
              </a:lnSpc>
              <a:buNone/>
            </a:pPr>
            <a:endParaRPr lang="en-CA" dirty="0">
              <a:solidFill>
                <a:schemeClr val="bg1"/>
              </a:solidFill>
              <a:cs typeface="Calibri Light" panose="020F0302020204030204" pitchFamily="34" charset="0"/>
            </a:endParaRPr>
          </a:p>
          <a:p>
            <a:pPr lvl="1">
              <a:lnSpc>
                <a:spcPct val="100000"/>
              </a:lnSpc>
            </a:pPr>
            <a:endParaRPr lang="en-US" dirty="0">
              <a:solidFill>
                <a:schemeClr val="bg1"/>
              </a:solidFill>
              <a:cs typeface="Calibri Light" panose="020F030202020403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en-US" dirty="0">
                <a:solidFill>
                  <a:schemeClr val="bg1"/>
                </a:solidFill>
                <a:cs typeface="Calibri Light" panose="020F0302020204030204" pitchFamily="34" charset="0"/>
              </a:rPr>
              <a:t>Example, </a:t>
            </a:r>
            <a:r>
              <a:rPr lang="en-US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sorted</a:t>
            </a:r>
            <a:r>
              <a:rPr lang="en-US" dirty="0">
                <a:solidFill>
                  <a:schemeClr val="bg1"/>
                </a:solidFill>
                <a:cs typeface="Calibri Light" panose="020F0302020204030204" pitchFamily="34" charset="0"/>
              </a:rPr>
              <a:t> </a:t>
            </a: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8E7025-11FA-2D30-05D8-374109C88483}"/>
              </a:ext>
            </a:extLst>
          </p:cNvPr>
          <p:cNvSpPr txBox="1"/>
          <p:nvPr/>
        </p:nvSpPr>
        <p:spPr>
          <a:xfrm>
            <a:off x="1432954" y="4824784"/>
            <a:ext cx="9598233" cy="46166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schemeClr val="accent3"/>
                </a:solidFill>
                <a:latin typeface="Courier New" panose="02070309020205020404" pitchFamily="49" charset="0"/>
              </a:rPr>
              <a:t>s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orted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(coordinates)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#[-79.4, 43.7]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30E8ED-62C9-C870-D34A-4B9FF73DED33}"/>
              </a:ext>
            </a:extLst>
          </p:cNvPr>
          <p:cNvSpPr txBox="1"/>
          <p:nvPr/>
        </p:nvSpPr>
        <p:spPr>
          <a:xfrm>
            <a:off x="1432954" y="3013501"/>
            <a:ext cx="9598233" cy="830997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coordinates = (43.7, -79.4)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len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(coordinates)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#2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471177-0C73-B586-40F4-641F05AFBA34}"/>
              </a:ext>
            </a:extLst>
          </p:cNvPr>
          <p:cNvSpPr txBox="1"/>
          <p:nvPr/>
        </p:nvSpPr>
        <p:spPr>
          <a:xfrm>
            <a:off x="6935372" y="227176"/>
            <a:ext cx="3872098" cy="120032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Tuples are useful when values should stay the same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597079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2FA942-8CD5-4323-2868-4B3A358ED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084F4-E11B-446F-8B61-8438C7F0B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Quiz: Tuples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D75BD-CC2D-8A7F-A4BC-73A4E98294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CA" sz="2400" b="1" dirty="0">
                <a:solidFill>
                  <a:schemeClr val="bg1"/>
                </a:solidFill>
              </a:rPr>
              <a:t>Which of the following correctly creates a tuple?</a:t>
            </a:r>
            <a:endParaRPr lang="en-CA" sz="2400" dirty="0">
              <a:solidFill>
                <a:schemeClr val="bg1"/>
              </a:solidFill>
            </a:endParaRP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Always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Only if the outer 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CA" sz="2400" dirty="0">
                <a:solidFill>
                  <a:schemeClr val="bg1"/>
                </a:solidFill>
              </a:rPr>
              <a:t> condition is true</a:t>
            </a:r>
          </a:p>
          <a:p>
            <a:pPr marL="457200" indent="-457200">
              <a:buFont typeface="Arial" panose="020B0604020202020204" pitchFamily="34" charset="0"/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Only if the outer 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CA" sz="2400" dirty="0">
                <a:solidFill>
                  <a:schemeClr val="bg1"/>
                </a:solidFill>
              </a:rPr>
              <a:t> condition is false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Only if there is no </a:t>
            </a:r>
            <a:r>
              <a:rPr lang="en-CA" sz="2400" dirty="0" err="1">
                <a:solidFill>
                  <a:schemeClr val="bg1"/>
                </a:solidFill>
              </a:rPr>
              <a:t>elif</a:t>
            </a:r>
            <a:endParaRPr lang="en-CA" sz="24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DB80EE-7777-27D1-5FA0-8B42E5406692}"/>
              </a:ext>
            </a:extLst>
          </p:cNvPr>
          <p:cNvSpPr txBox="1"/>
          <p:nvPr/>
        </p:nvSpPr>
        <p:spPr>
          <a:xfrm>
            <a:off x="1327147" y="1975560"/>
            <a:ext cx="8739325" cy="46166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numbers = (1,2,3)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E7E10D-9314-748C-F134-2EE6D49BF634}"/>
              </a:ext>
            </a:extLst>
          </p:cNvPr>
          <p:cNvSpPr txBox="1"/>
          <p:nvPr/>
        </p:nvSpPr>
        <p:spPr>
          <a:xfrm>
            <a:off x="1327147" y="2491264"/>
            <a:ext cx="8739325" cy="46166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numbers = [1,2,3]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92D92F-8737-E81A-3ECE-3C3A9484E836}"/>
              </a:ext>
            </a:extLst>
          </p:cNvPr>
          <p:cNvSpPr txBox="1"/>
          <p:nvPr/>
        </p:nvSpPr>
        <p:spPr>
          <a:xfrm>
            <a:off x="1327146" y="2982350"/>
            <a:ext cx="8739325" cy="46166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numbers = {1,2,3}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9BDD54-6870-108E-516F-9ADBF01A0139}"/>
              </a:ext>
            </a:extLst>
          </p:cNvPr>
          <p:cNvSpPr txBox="1"/>
          <p:nvPr/>
        </p:nvSpPr>
        <p:spPr>
          <a:xfrm>
            <a:off x="1327146" y="3498054"/>
            <a:ext cx="8739325" cy="46166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numbers = “1,2,3”</a:t>
            </a:r>
          </a:p>
        </p:txBody>
      </p:sp>
    </p:spTree>
    <p:extLst>
      <p:ext uri="{BB962C8B-B14F-4D97-AF65-F5344CB8AC3E}">
        <p14:creationId xmlns:p14="http://schemas.microsoft.com/office/powerpoint/2010/main" val="198004570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C87BDC-1AC5-1403-59D5-61DA801EA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00033-CD26-658D-0A69-8BB896B40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Quiz: Tuples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5C6B0-90BE-394F-A4AE-9573096C75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CA" sz="2400" b="1" dirty="0">
                <a:solidFill>
                  <a:schemeClr val="bg1"/>
                </a:solidFill>
              </a:rPr>
              <a:t>2. What is the main difference between a list and a tuple?</a:t>
            </a:r>
            <a:endParaRPr lang="en-CA" sz="2400" dirty="0">
              <a:solidFill>
                <a:schemeClr val="bg1"/>
              </a:solidFill>
            </a:endParaRP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Tuples can store only numbers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Tuples are mutable</a:t>
            </a:r>
          </a:p>
          <a:p>
            <a:pPr marL="457200" indent="-457200">
              <a:buFont typeface="Arial" panose="020B0604020202020204" pitchFamily="34" charset="0"/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Tuples are immutable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Tuples use square brackets</a:t>
            </a:r>
          </a:p>
        </p:txBody>
      </p:sp>
    </p:spTree>
    <p:extLst>
      <p:ext uri="{BB962C8B-B14F-4D97-AF65-F5344CB8AC3E}">
        <p14:creationId xmlns:p14="http://schemas.microsoft.com/office/powerpoint/2010/main" val="159651595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AF6126-1DC1-6CF1-0D4D-5AB72EF85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6FD25E-ABC1-5401-D60D-A93EE9B96E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95194"/>
            <a:ext cx="10787743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CA" sz="24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CA" sz="24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CA" sz="2400" b="1" dirty="0">
                <a:solidFill>
                  <a:schemeClr val="bg1"/>
                </a:solidFill>
              </a:rPr>
              <a:t>4. What happens if you try to run this code?</a:t>
            </a:r>
          </a:p>
          <a:p>
            <a:pPr marL="0" indent="0">
              <a:buNone/>
            </a:pPr>
            <a:endParaRPr lang="en-CA" sz="2400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44A959-37F3-0E28-6E96-22A6B5432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Quiz: Tuples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4C4ED5-E6E9-049B-3896-1F70D0509D1E}"/>
              </a:ext>
            </a:extLst>
          </p:cNvPr>
          <p:cNvSpPr txBox="1"/>
          <p:nvPr/>
        </p:nvSpPr>
        <p:spPr>
          <a:xfrm>
            <a:off x="838200" y="2232451"/>
            <a:ext cx="8739325" cy="830997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nums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= (10, 20, 30, 40, 50)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n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ums[0] = 100</a:t>
            </a:r>
          </a:p>
        </p:txBody>
      </p:sp>
    </p:spTree>
    <p:extLst>
      <p:ext uri="{BB962C8B-B14F-4D97-AF65-F5344CB8AC3E}">
        <p14:creationId xmlns:p14="http://schemas.microsoft.com/office/powerpoint/2010/main" val="380156625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6922C7-E3E4-70BC-91DB-BF1C69784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E1A55-17B2-1956-99A6-C0A48E863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E0E78C-BBDD-6501-D820-4D9FEBEF99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r>
              <a:rPr lang="en-CA" sz="2400" dirty="0">
                <a:solidFill>
                  <a:schemeClr val="bg1"/>
                </a:solidFill>
              </a:rPr>
              <a:t>A </a:t>
            </a:r>
            <a:r>
              <a:rPr lang="en-CA" sz="2400" b="1" dirty="0">
                <a:solidFill>
                  <a:schemeClr val="bg1"/>
                </a:solidFill>
              </a:rPr>
              <a:t>set</a:t>
            </a:r>
            <a:r>
              <a:rPr lang="en-CA" sz="2400" dirty="0">
                <a:solidFill>
                  <a:schemeClr val="bg1"/>
                </a:solidFill>
              </a:rPr>
              <a:t> stores unique values</a:t>
            </a:r>
          </a:p>
          <a:p>
            <a:r>
              <a:rPr lang="en-CA" sz="2400" dirty="0">
                <a:solidFill>
                  <a:schemeClr val="bg1"/>
                </a:solidFill>
              </a:rPr>
              <a:t>Sets are </a:t>
            </a:r>
            <a:r>
              <a:rPr lang="en-CA" sz="2400" b="1" dirty="0">
                <a:solidFill>
                  <a:schemeClr val="bg1"/>
                </a:solidFill>
              </a:rPr>
              <a:t>unordered</a:t>
            </a:r>
            <a:r>
              <a:rPr lang="en-CA" sz="2400" dirty="0">
                <a:solidFill>
                  <a:schemeClr val="bg1"/>
                </a:solidFill>
              </a:rPr>
              <a:t> and </a:t>
            </a:r>
            <a:r>
              <a:rPr lang="en-CA" sz="2400" b="1" dirty="0">
                <a:solidFill>
                  <a:schemeClr val="bg1"/>
                </a:solidFill>
              </a:rPr>
              <a:t>do not allow duplicates</a:t>
            </a:r>
          </a:p>
          <a:p>
            <a:pPr lvl="1"/>
            <a:r>
              <a:rPr lang="en-CA" dirty="0">
                <a:solidFill>
                  <a:schemeClr val="bg1"/>
                </a:solidFill>
              </a:rPr>
              <a:t>Because the elements do not maintain any specific order, and the is not guaranteed to be the same as the order in which you inserted them. </a:t>
            </a:r>
            <a:endParaRPr lang="en-CA" sz="2000" b="1" dirty="0">
              <a:solidFill>
                <a:schemeClr val="bg1"/>
              </a:solidFill>
            </a:endParaRPr>
          </a:p>
          <a:p>
            <a:r>
              <a:rPr lang="en-CA" sz="2400" dirty="0">
                <a:solidFill>
                  <a:schemeClr val="bg1"/>
                </a:solidFill>
              </a:rPr>
              <a:t>They are created using curly braces {}</a:t>
            </a:r>
          </a:p>
          <a:p>
            <a:endParaRPr lang="en-CA" sz="2400" dirty="0">
              <a:solidFill>
                <a:schemeClr val="bg1"/>
              </a:solidFill>
            </a:endParaRPr>
          </a:p>
          <a:p>
            <a:endParaRPr lang="en-CA" sz="2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n-US" sz="2400" dirty="0">
              <a:solidFill>
                <a:schemeClr val="bg1"/>
              </a:solidFill>
              <a:cs typeface="Calibri Light" panose="020F03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0A589D-A7F9-4E46-80CE-40C0A8F16A1C}"/>
              </a:ext>
            </a:extLst>
          </p:cNvPr>
          <p:cNvSpPr txBox="1"/>
          <p:nvPr/>
        </p:nvSpPr>
        <p:spPr>
          <a:xfrm>
            <a:off x="1152966" y="3751913"/>
            <a:ext cx="9598233" cy="295465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Examples of a set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unique_numbers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{1, 2, 3, 3, 3}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rgbClr val="196B24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unique_numbers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#result is 1,2,3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sz="600" dirty="0">
              <a:solidFill>
                <a:srgbClr val="196B24"/>
              </a:solidFill>
              <a:latin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sz="600" dirty="0">
              <a:solidFill>
                <a:srgbClr val="196B24"/>
              </a:solidFill>
              <a:latin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sz="600" dirty="0">
              <a:solidFill>
                <a:srgbClr val="196B24"/>
              </a:solidFill>
              <a:latin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things = {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'coat', 'lock', 'box', 'book', 'apple', '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hair','xylophone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', 'lock', 'book’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cs typeface="Courier New" panose="02070309020205020404" pitchFamily="49" charset="0"/>
              </a:rPr>
              <a:t>hings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#result is apple, book, box, coat, hair, lock, xylophone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454512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2F509D-73F5-F134-0EFE-EC2CFA57E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E1A81-F749-53C5-348F-6188931F9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54AB9-3EA2-7EE3-B38B-FAB4253398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r>
              <a:rPr lang="en-CA" sz="2400" dirty="0">
                <a:solidFill>
                  <a:schemeClr val="bg1"/>
                </a:solidFill>
              </a:rPr>
              <a:t>We can turn a list into a set to remove duplicates using the 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set()</a:t>
            </a:r>
            <a:r>
              <a:rPr lang="en-CA" sz="2400" dirty="0">
                <a:solidFill>
                  <a:schemeClr val="bg1"/>
                </a:solidFill>
              </a:rPr>
              <a:t> function</a:t>
            </a:r>
          </a:p>
          <a:p>
            <a:endParaRPr lang="en-CA" sz="2400" dirty="0">
              <a:solidFill>
                <a:schemeClr val="bg1"/>
              </a:solidFill>
            </a:endParaRPr>
          </a:p>
          <a:p>
            <a:endParaRPr lang="en-CA" sz="2400" dirty="0">
              <a:solidFill>
                <a:schemeClr val="bg1"/>
              </a:solidFill>
            </a:endParaRPr>
          </a:p>
          <a:p>
            <a:endParaRPr lang="en-CA" sz="2400" dirty="0">
              <a:solidFill>
                <a:schemeClr val="bg1"/>
              </a:solidFill>
            </a:endParaRPr>
          </a:p>
          <a:p>
            <a:r>
              <a:rPr lang="en-CA" sz="2400" dirty="0">
                <a:solidFill>
                  <a:schemeClr val="bg1"/>
                </a:solidFill>
              </a:rPr>
              <a:t>To create an empty set, we use the 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set() </a:t>
            </a:r>
            <a:r>
              <a:rPr lang="en-CA" sz="2400" dirty="0">
                <a:solidFill>
                  <a:schemeClr val="bg1"/>
                </a:solidFill>
              </a:rPr>
              <a:t>function</a:t>
            </a:r>
          </a:p>
          <a:p>
            <a:endParaRPr lang="en-CA" sz="2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n-US" sz="2400" dirty="0">
              <a:solidFill>
                <a:schemeClr val="bg1"/>
              </a:solidFill>
              <a:cs typeface="Calibri Light" panose="020F03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85D9F3-0C13-DEB7-0147-DB26EF2DE3F9}"/>
              </a:ext>
            </a:extLst>
          </p:cNvPr>
          <p:cNvSpPr txBox="1"/>
          <p:nvPr/>
        </p:nvSpPr>
        <p:spPr>
          <a:xfrm>
            <a:off x="974271" y="2345143"/>
            <a:ext cx="10515600" cy="830997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r>
              <a:rPr lang="en-CA" sz="2400" b="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visitor_post_codes</a:t>
            </a:r>
            <a:r>
              <a:rPr lang="en-CA" sz="2400" b="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-CA" sz="2400" b="0" dirty="0">
                <a:solidFill>
                  <a:schemeClr val="accent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'M5R', 'M5V', 'M1M', 'M1M', 'M1T'</a:t>
            </a:r>
            <a:r>
              <a:rPr lang="en-CA" sz="2400" b="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CA" sz="2400" b="0" dirty="0">
                <a:solidFill>
                  <a:schemeClr val="accent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set</a:t>
            </a:r>
            <a:r>
              <a:rPr lang="en-CA" sz="2400" b="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2400" b="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visitor_post_codes</a:t>
            </a:r>
            <a:r>
              <a:rPr lang="en-CA" sz="2400" b="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CA" sz="2400" b="0" dirty="0">
                <a:solidFill>
                  <a:schemeClr val="accent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#{'M1M', 'M1T', 'M5R', 'M5V'}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A50D2A-35C4-9AFC-2D11-A4806070F08E}"/>
              </a:ext>
            </a:extLst>
          </p:cNvPr>
          <p:cNvSpPr txBox="1"/>
          <p:nvPr/>
        </p:nvSpPr>
        <p:spPr>
          <a:xfrm>
            <a:off x="974271" y="3971760"/>
            <a:ext cx="10515600" cy="830997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Example of an empty set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empty_set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= set()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8DFB2E-5257-659A-7BD2-8CBA1A17778A}"/>
              </a:ext>
            </a:extLst>
          </p:cNvPr>
          <p:cNvSpPr txBox="1"/>
          <p:nvPr/>
        </p:nvSpPr>
        <p:spPr>
          <a:xfrm>
            <a:off x="974271" y="5083981"/>
            <a:ext cx="7030246" cy="8309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Note. </a:t>
            </a:r>
            <a:r>
              <a:rPr lang="en-CA" sz="2400" dirty="0">
                <a:solidFill>
                  <a:prstClr val="black"/>
                </a:solidFill>
                <a:latin typeface="Aptos" panose="02110004020202020204"/>
              </a:rPr>
              <a:t>b</a:t>
            </a:r>
            <a:r>
              <a:rPr kumimoji="0" lang="en-CA" sz="24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ecause</a:t>
            </a:r>
            <a:r>
              <a:rPr kumimoji="0" lang="en-CA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sets are unordered, we cannot slice them or access items by index</a:t>
            </a:r>
          </a:p>
        </p:txBody>
      </p:sp>
    </p:spTree>
    <p:extLst>
      <p:ext uri="{BB962C8B-B14F-4D97-AF65-F5344CB8AC3E}">
        <p14:creationId xmlns:p14="http://schemas.microsoft.com/office/powerpoint/2010/main" val="359210706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7FA098-E61C-C763-6F90-7BAC8226E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384DE-CB41-75B9-A553-201785AAD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126D7-0F85-93AF-0BE4-3DE42FDBF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r>
              <a:rPr lang="en-CA" sz="2400" b="0" dirty="0">
                <a:solidFill>
                  <a:schemeClr val="bg1"/>
                </a:solidFill>
                <a:effectLst/>
              </a:rPr>
              <a:t>Sets are mutable, so we can add and remove items, and the set will be modified in place. </a:t>
            </a:r>
          </a:p>
          <a:p>
            <a:r>
              <a:rPr lang="en-CA" sz="2400" dirty="0">
                <a:solidFill>
                  <a:schemeClr val="bg1"/>
                </a:solidFill>
              </a:rPr>
              <a:t>If an item is already in a set, it won’t be duplicated</a:t>
            </a:r>
          </a:p>
          <a:p>
            <a:endParaRPr lang="en-CA" sz="2400" dirty="0">
              <a:solidFill>
                <a:schemeClr val="bg1"/>
              </a:solidFill>
            </a:endParaRPr>
          </a:p>
          <a:p>
            <a:endParaRPr lang="en-CA" sz="2400" dirty="0">
              <a:solidFill>
                <a:schemeClr val="bg1"/>
              </a:solidFill>
            </a:endParaRPr>
          </a:p>
          <a:p>
            <a:endParaRPr lang="en-CA" sz="2400" dirty="0">
              <a:solidFill>
                <a:schemeClr val="bg1"/>
              </a:solidFill>
            </a:endParaRPr>
          </a:p>
          <a:p>
            <a:endParaRPr lang="en-CA" sz="2400" dirty="0">
              <a:solidFill>
                <a:schemeClr val="bg1"/>
              </a:solidFill>
            </a:endParaRPr>
          </a:p>
          <a:p>
            <a:endParaRPr lang="en-CA" sz="2400" dirty="0">
              <a:solidFill>
                <a:schemeClr val="bg1"/>
              </a:solidFill>
            </a:endParaRPr>
          </a:p>
          <a:p>
            <a:r>
              <a:rPr lang="en-CA" sz="2400" dirty="0">
                <a:solidFill>
                  <a:schemeClr val="bg1"/>
                </a:solidFill>
              </a:rPr>
              <a:t>We can also use remove, check for membership etc.</a:t>
            </a:r>
          </a:p>
          <a:p>
            <a:endParaRPr lang="en-CA" sz="2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n-US" sz="2400" dirty="0">
              <a:solidFill>
                <a:schemeClr val="bg1"/>
              </a:solidFill>
              <a:cs typeface="Calibri Light" panose="020F03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43E732-79FF-808E-A418-AFA8A84ECFFA}"/>
              </a:ext>
            </a:extLst>
          </p:cNvPr>
          <p:cNvSpPr txBox="1"/>
          <p:nvPr/>
        </p:nvSpPr>
        <p:spPr>
          <a:xfrm>
            <a:off x="1138898" y="2978138"/>
            <a:ext cx="9598233" cy="1661993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600" b="0" i="0" u="none" strike="noStrike" kern="1200" cap="none" spc="0" normalizeH="0" baseline="0" noProof="0" dirty="0">
              <a:ln>
                <a:noFill/>
              </a:ln>
              <a:solidFill>
                <a:srgbClr val="196B24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things = {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'coat', 'lock', 'box', 'book', 'apple', '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hair','xylophone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', 'lock', 'book’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}</a:t>
            </a:r>
          </a:p>
          <a:p>
            <a:pPr>
              <a:defRPr/>
            </a:pP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things.add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'lock’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# the set will not update</a:t>
            </a:r>
          </a:p>
          <a:p>
            <a:pPr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30426B-9864-482E-5629-03324B630CD0}"/>
              </a:ext>
            </a:extLst>
          </p:cNvPr>
          <p:cNvSpPr txBox="1"/>
          <p:nvPr/>
        </p:nvSpPr>
        <p:spPr>
          <a:xfrm>
            <a:off x="1138898" y="5647977"/>
            <a:ext cx="9598233" cy="923330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600" b="0" i="0" u="none" strike="noStrike" kern="1200" cap="none" spc="0" normalizeH="0" baseline="0" noProof="0" dirty="0">
              <a:ln>
                <a:noFill/>
              </a:ln>
              <a:solidFill>
                <a:srgbClr val="196B24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>
              <a:defRPr/>
            </a:pP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things.remove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apple’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# result {'book', 'box', 'coat', 'hair', 'lock', 'mirror', 'xylophone'}</a:t>
            </a:r>
          </a:p>
        </p:txBody>
      </p:sp>
    </p:spTree>
    <p:extLst>
      <p:ext uri="{BB962C8B-B14F-4D97-AF65-F5344CB8AC3E}">
        <p14:creationId xmlns:p14="http://schemas.microsoft.com/office/powerpoint/2010/main" val="365731921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B54665-C19F-D6CB-76DD-A36095D07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D84D7-12B7-1A93-5EA2-41F02E487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Set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CA6217-6339-844F-C5CF-D9A749FFF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r>
              <a:rPr lang="en-CA" sz="2400" b="0" dirty="0">
                <a:solidFill>
                  <a:schemeClr val="bg1"/>
                </a:solidFill>
                <a:effectLst/>
              </a:rPr>
              <a:t>Sets support operations that are </a:t>
            </a:r>
            <a:r>
              <a:rPr lang="en-CA" sz="2400" b="1" dirty="0">
                <a:solidFill>
                  <a:schemeClr val="bg1"/>
                </a:solidFill>
                <a:effectLst/>
              </a:rPr>
              <a:t>specific to collections of unique items</a:t>
            </a:r>
            <a:r>
              <a:rPr lang="en-CA" sz="2400" b="0" dirty="0">
                <a:solidFill>
                  <a:schemeClr val="bg1"/>
                </a:solidFill>
                <a:effectLst/>
              </a:rPr>
              <a:t>. These include:</a:t>
            </a:r>
          </a:p>
          <a:p>
            <a:endParaRPr lang="en-CA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CA" sz="2400" dirty="0">
                <a:solidFill>
                  <a:schemeClr val="bg1"/>
                </a:solidFill>
              </a:rPr>
              <a:t>1. </a:t>
            </a:r>
            <a:r>
              <a:rPr lang="en-CA" sz="2400" b="1" dirty="0">
                <a:solidFill>
                  <a:schemeClr val="bg1"/>
                </a:solidFill>
              </a:rPr>
              <a:t>Union</a:t>
            </a:r>
            <a:r>
              <a:rPr lang="en-CA" sz="2400" dirty="0">
                <a:solidFill>
                  <a:schemeClr val="bg1"/>
                </a:solidFill>
              </a:rPr>
              <a:t> </a:t>
            </a:r>
            <a:r>
              <a:rPr lang="en-CA" sz="2400" dirty="0">
                <a:solidFill>
                  <a:schemeClr val="bg1"/>
                </a:solidFill>
                <a:sym typeface="Wingdings" pitchFamily="2" charset="2"/>
              </a:rPr>
              <a:t> combines two sets to include </a:t>
            </a:r>
            <a:r>
              <a:rPr lang="en-CA" sz="2400" u="sng" dirty="0">
                <a:solidFill>
                  <a:schemeClr val="bg1"/>
                </a:solidFill>
                <a:sym typeface="Wingdings" pitchFamily="2" charset="2"/>
              </a:rPr>
              <a:t>all unique values from both</a:t>
            </a:r>
            <a:endParaRPr lang="en-CA" sz="2400" u="sng" dirty="0">
              <a:solidFill>
                <a:schemeClr val="bg1"/>
              </a:solidFill>
            </a:endParaRPr>
          </a:p>
          <a:p>
            <a:endParaRPr lang="en-CA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CA" sz="2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n-US" sz="2400" dirty="0">
              <a:solidFill>
                <a:schemeClr val="bg1"/>
              </a:solidFill>
              <a:cs typeface="Calibri Light" panose="020F03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C966E1-3402-3F21-5CCC-5A5F89846D68}"/>
              </a:ext>
            </a:extLst>
          </p:cNvPr>
          <p:cNvSpPr txBox="1"/>
          <p:nvPr/>
        </p:nvSpPr>
        <p:spPr>
          <a:xfrm>
            <a:off x="1110762" y="3429000"/>
            <a:ext cx="9598233" cy="3046988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rainbow = {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'red', 'orange', 'yellow', 'green', 'blue', 'indigo', 'violet'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olympic_flag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= {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'red', 'green', 'yellow', 'blue', 'black’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CA" sz="2400" dirty="0">
              <a:solidFill>
                <a:schemeClr val="bg1"/>
              </a:solidFill>
              <a:latin typeface="Courier New" panose="02070309020205020404" pitchFamily="49" charset="0"/>
            </a:endParaRPr>
          </a:p>
          <a:p>
            <a:pPr>
              <a:defRPr/>
            </a:pP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r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ainbow.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union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o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lympic_flag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 </a:t>
            </a:r>
          </a:p>
          <a:p>
            <a:pPr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#{'black', 'blue', 'green', 'indigo', 'orange', 'red', 'violet', 'yellow'}</a:t>
            </a:r>
          </a:p>
        </p:txBody>
      </p:sp>
    </p:spTree>
    <p:extLst>
      <p:ext uri="{BB962C8B-B14F-4D97-AF65-F5344CB8AC3E}">
        <p14:creationId xmlns:p14="http://schemas.microsoft.com/office/powerpoint/2010/main" val="171409342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C07C2C-D59A-4DE5-93D8-31CD2CF98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07B3A-3B03-6A9C-4CDC-A1FC0C063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Set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6985C-41E0-5EA6-E591-23206A10FF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r>
              <a:rPr lang="en-CA" sz="2400" b="0" dirty="0">
                <a:solidFill>
                  <a:schemeClr val="bg1"/>
                </a:solidFill>
                <a:effectLst/>
              </a:rPr>
              <a:t>Sets support operations that are </a:t>
            </a:r>
            <a:r>
              <a:rPr lang="en-CA" sz="2400" b="1" dirty="0">
                <a:solidFill>
                  <a:schemeClr val="bg1"/>
                </a:solidFill>
                <a:effectLst/>
              </a:rPr>
              <a:t>specific to collections of unique items</a:t>
            </a:r>
            <a:r>
              <a:rPr lang="en-CA" sz="2400" b="0" dirty="0">
                <a:solidFill>
                  <a:schemeClr val="bg1"/>
                </a:solidFill>
                <a:effectLst/>
              </a:rPr>
              <a:t>. These include:</a:t>
            </a:r>
          </a:p>
          <a:p>
            <a:endParaRPr lang="en-CA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CA" sz="2400" dirty="0">
                <a:solidFill>
                  <a:schemeClr val="bg1"/>
                </a:solidFill>
              </a:rPr>
              <a:t>2. </a:t>
            </a:r>
            <a:r>
              <a:rPr lang="en-CA" sz="2400" b="1" dirty="0">
                <a:solidFill>
                  <a:schemeClr val="bg1"/>
                </a:solidFill>
              </a:rPr>
              <a:t>Intersection</a:t>
            </a:r>
            <a:r>
              <a:rPr lang="en-CA" sz="2400" dirty="0">
                <a:solidFill>
                  <a:schemeClr val="bg1"/>
                </a:solidFill>
              </a:rPr>
              <a:t> </a:t>
            </a:r>
            <a:r>
              <a:rPr lang="en-CA" sz="2400" dirty="0">
                <a:solidFill>
                  <a:schemeClr val="bg1"/>
                </a:solidFill>
                <a:sym typeface="Wingdings" pitchFamily="2" charset="2"/>
              </a:rPr>
              <a:t> finds values </a:t>
            </a:r>
            <a:r>
              <a:rPr lang="en-CA" sz="2400" u="sng" dirty="0">
                <a:solidFill>
                  <a:schemeClr val="bg1"/>
                </a:solidFill>
                <a:sym typeface="Wingdings" pitchFamily="2" charset="2"/>
              </a:rPr>
              <a:t>common to both sets</a:t>
            </a:r>
            <a:endParaRPr lang="en-CA" sz="2400" u="sng" dirty="0">
              <a:solidFill>
                <a:schemeClr val="bg1"/>
              </a:solidFill>
            </a:endParaRPr>
          </a:p>
          <a:p>
            <a:endParaRPr lang="en-CA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CA" sz="2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n-US" sz="2400" dirty="0">
              <a:solidFill>
                <a:schemeClr val="bg1"/>
              </a:solidFill>
              <a:cs typeface="Calibri Light" panose="020F03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4DB105-45F7-65DD-C8BF-61374A0961AC}"/>
              </a:ext>
            </a:extLst>
          </p:cNvPr>
          <p:cNvSpPr txBox="1"/>
          <p:nvPr/>
        </p:nvSpPr>
        <p:spPr>
          <a:xfrm>
            <a:off x="1110762" y="3429000"/>
            <a:ext cx="9598233" cy="2677656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rainbow = {</a:t>
            </a:r>
            <a:r>
              <a:rPr kumimoji="0" lang="en-CA" sz="2400" b="1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'red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', 'orange', </a:t>
            </a:r>
            <a:r>
              <a:rPr kumimoji="0" lang="en-CA" sz="2400" b="1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'yellow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', </a:t>
            </a:r>
            <a:r>
              <a:rPr kumimoji="0" lang="en-CA" sz="2400" b="1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'green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', </a:t>
            </a:r>
            <a:r>
              <a:rPr kumimoji="0" lang="en-CA" sz="2400" b="1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'blue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', 'indigo', 'violet'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olympic_flag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= {</a:t>
            </a:r>
            <a:r>
              <a:rPr kumimoji="0" lang="en-CA" sz="2400" b="1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'red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', </a:t>
            </a:r>
            <a:r>
              <a:rPr kumimoji="0" lang="en-CA" sz="2400" b="1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'green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', </a:t>
            </a:r>
            <a:r>
              <a:rPr kumimoji="0" lang="en-CA" sz="2400" b="1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'yellow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', </a:t>
            </a:r>
            <a:r>
              <a:rPr kumimoji="0" lang="en-CA" sz="2400" b="1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'blue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', 'black’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rainbow.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intersection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olympic_flag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#{'blue', 'green', 'red', 'yellow'}</a:t>
            </a:r>
          </a:p>
        </p:txBody>
      </p:sp>
    </p:spTree>
    <p:extLst>
      <p:ext uri="{BB962C8B-B14F-4D97-AF65-F5344CB8AC3E}">
        <p14:creationId xmlns:p14="http://schemas.microsoft.com/office/powerpoint/2010/main" val="411030226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D86BCB-D2A2-6D31-5DE0-F79E344C1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30234-4B80-2ADF-5CA4-4C331A585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Set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7D145-A62B-F94C-0BC7-67DFB8C4DB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r>
              <a:rPr lang="en-CA" sz="2400" b="0" dirty="0">
                <a:solidFill>
                  <a:schemeClr val="bg1"/>
                </a:solidFill>
                <a:effectLst/>
              </a:rPr>
              <a:t>Sets support operations that are </a:t>
            </a:r>
            <a:r>
              <a:rPr lang="en-CA" sz="2400" b="1" dirty="0">
                <a:solidFill>
                  <a:schemeClr val="bg1"/>
                </a:solidFill>
                <a:effectLst/>
              </a:rPr>
              <a:t>specific to collections of unique items</a:t>
            </a:r>
            <a:r>
              <a:rPr lang="en-CA" sz="2400" b="0" dirty="0">
                <a:solidFill>
                  <a:schemeClr val="bg1"/>
                </a:solidFill>
                <a:effectLst/>
              </a:rPr>
              <a:t>. These include:</a:t>
            </a:r>
          </a:p>
          <a:p>
            <a:endParaRPr lang="en-CA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CA" sz="2400" dirty="0">
                <a:solidFill>
                  <a:schemeClr val="bg1"/>
                </a:solidFill>
              </a:rPr>
              <a:t>3. </a:t>
            </a:r>
            <a:r>
              <a:rPr lang="en-CA" sz="2400" b="1" dirty="0">
                <a:solidFill>
                  <a:schemeClr val="bg1"/>
                </a:solidFill>
              </a:rPr>
              <a:t>Symmetric difference</a:t>
            </a:r>
            <a:r>
              <a:rPr lang="en-CA" sz="2400" dirty="0">
                <a:solidFill>
                  <a:schemeClr val="bg1"/>
                </a:solidFill>
              </a:rPr>
              <a:t> </a:t>
            </a:r>
            <a:r>
              <a:rPr lang="en-CA" sz="2400" dirty="0">
                <a:solidFill>
                  <a:schemeClr val="bg1"/>
                </a:solidFill>
                <a:sym typeface="Wingdings" pitchFamily="2" charset="2"/>
              </a:rPr>
              <a:t> finds values </a:t>
            </a:r>
            <a:r>
              <a:rPr lang="en-CA" sz="2400" u="sng" dirty="0">
                <a:solidFill>
                  <a:schemeClr val="bg1"/>
                </a:solidFill>
                <a:sym typeface="Wingdings" pitchFamily="2" charset="2"/>
              </a:rPr>
              <a:t>in either but </a:t>
            </a:r>
            <a:r>
              <a:rPr lang="en-CA" sz="2400" b="1" u="sng" dirty="0">
                <a:solidFill>
                  <a:schemeClr val="bg1"/>
                </a:solidFill>
                <a:sym typeface="Wingdings" pitchFamily="2" charset="2"/>
              </a:rPr>
              <a:t>not both </a:t>
            </a:r>
            <a:r>
              <a:rPr lang="en-CA" sz="2400" u="sng" dirty="0">
                <a:solidFill>
                  <a:schemeClr val="bg1"/>
                </a:solidFill>
                <a:sym typeface="Wingdings" pitchFamily="2" charset="2"/>
              </a:rPr>
              <a:t>sets</a:t>
            </a:r>
            <a:endParaRPr lang="en-CA" sz="2400" u="sng" dirty="0">
              <a:solidFill>
                <a:schemeClr val="bg1"/>
              </a:solidFill>
            </a:endParaRPr>
          </a:p>
          <a:p>
            <a:endParaRPr lang="en-CA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CA" sz="2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n-US" sz="2400" dirty="0">
              <a:solidFill>
                <a:schemeClr val="bg1"/>
              </a:solidFill>
              <a:cs typeface="Calibri Light" panose="020F03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4B03E-E6C3-FF66-C606-4782862B764E}"/>
              </a:ext>
            </a:extLst>
          </p:cNvPr>
          <p:cNvSpPr txBox="1"/>
          <p:nvPr/>
        </p:nvSpPr>
        <p:spPr>
          <a:xfrm>
            <a:off x="1110762" y="3429000"/>
            <a:ext cx="9598233" cy="2677656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rainbow = {</a:t>
            </a:r>
            <a:r>
              <a:rPr kumimoji="0" lang="en-CA" sz="2400" b="1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'red</a:t>
            </a:r>
            <a:r>
              <a:rPr kumimoji="0" lang="en-CA" sz="240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', 'orange', </a:t>
            </a:r>
            <a:r>
              <a:rPr kumimoji="0" lang="en-CA" sz="2400" b="1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'yellow</a:t>
            </a:r>
            <a:r>
              <a:rPr kumimoji="0" lang="en-CA" sz="240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', </a:t>
            </a:r>
            <a:r>
              <a:rPr kumimoji="0" lang="en-CA" sz="2400" b="1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'green</a:t>
            </a:r>
            <a:r>
              <a:rPr kumimoji="0" lang="en-CA" sz="240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', </a:t>
            </a:r>
            <a:r>
              <a:rPr kumimoji="0" lang="en-CA" sz="2400" b="1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'blue</a:t>
            </a:r>
            <a:r>
              <a:rPr kumimoji="0" lang="en-CA" sz="240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', 'indigo', 'violet'</a:t>
            </a:r>
            <a:r>
              <a:rPr kumimoji="0" lang="en-CA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olympic_flag</a:t>
            </a:r>
            <a:r>
              <a:rPr kumimoji="0" lang="en-CA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= {</a:t>
            </a:r>
            <a:r>
              <a:rPr kumimoji="0" lang="en-CA" sz="2400" b="1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'red</a:t>
            </a:r>
            <a:r>
              <a:rPr kumimoji="0" lang="en-CA" sz="240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', </a:t>
            </a:r>
            <a:r>
              <a:rPr kumimoji="0" lang="en-CA" sz="2400" b="1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'green</a:t>
            </a:r>
            <a:r>
              <a:rPr kumimoji="0" lang="en-CA" sz="240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', </a:t>
            </a:r>
            <a:r>
              <a:rPr kumimoji="0" lang="en-CA" sz="2400" b="1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'yellow</a:t>
            </a:r>
            <a:r>
              <a:rPr kumimoji="0" lang="en-CA" sz="240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', </a:t>
            </a:r>
            <a:r>
              <a:rPr kumimoji="0" lang="en-CA" sz="2400" b="1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'blue</a:t>
            </a:r>
            <a:r>
              <a:rPr kumimoji="0" lang="en-CA" sz="240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', 'black’</a:t>
            </a:r>
            <a:r>
              <a:rPr kumimoji="0" lang="en-CA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>
              <a:defRPr/>
            </a:pP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rainbow.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symmetric_difference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olympic_flag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#{‘black’, ‘indigo’, ‘orange’, ‘violet'}</a:t>
            </a:r>
          </a:p>
        </p:txBody>
      </p:sp>
    </p:spTree>
    <p:extLst>
      <p:ext uri="{BB962C8B-B14F-4D97-AF65-F5344CB8AC3E}">
        <p14:creationId xmlns:p14="http://schemas.microsoft.com/office/powerpoint/2010/main" val="377812850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8FDAE2-3BA1-ABED-B004-5C91A64A4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70409-BE8E-A45C-09A2-2ACDDC6D5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Set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499149-DFFA-BDCB-E708-CAA5CCBE2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r>
              <a:rPr lang="en-CA" sz="2400" b="0" dirty="0">
                <a:solidFill>
                  <a:schemeClr val="bg1"/>
                </a:solidFill>
                <a:effectLst/>
              </a:rPr>
              <a:t>Sets support operations that are </a:t>
            </a:r>
            <a:r>
              <a:rPr lang="en-CA" sz="2400" b="1" dirty="0">
                <a:solidFill>
                  <a:schemeClr val="bg1"/>
                </a:solidFill>
                <a:effectLst/>
              </a:rPr>
              <a:t>specific to collections of unique items</a:t>
            </a:r>
            <a:r>
              <a:rPr lang="en-CA" sz="2400" b="0" dirty="0">
                <a:solidFill>
                  <a:schemeClr val="bg1"/>
                </a:solidFill>
                <a:effectLst/>
              </a:rPr>
              <a:t>. These include:</a:t>
            </a:r>
          </a:p>
          <a:p>
            <a:endParaRPr lang="en-CA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CA" sz="2400" dirty="0">
                <a:solidFill>
                  <a:schemeClr val="bg1"/>
                </a:solidFill>
              </a:rPr>
              <a:t>4. </a:t>
            </a:r>
            <a:r>
              <a:rPr lang="en-CA" sz="2400" b="1" dirty="0">
                <a:solidFill>
                  <a:schemeClr val="bg1"/>
                </a:solidFill>
              </a:rPr>
              <a:t>Difference</a:t>
            </a:r>
            <a:r>
              <a:rPr lang="en-CA" sz="2400" dirty="0">
                <a:solidFill>
                  <a:schemeClr val="bg1"/>
                </a:solidFill>
              </a:rPr>
              <a:t> </a:t>
            </a:r>
            <a:r>
              <a:rPr lang="en-CA" sz="2400" dirty="0">
                <a:solidFill>
                  <a:schemeClr val="bg1"/>
                </a:solidFill>
                <a:sym typeface="Wingdings" pitchFamily="2" charset="2"/>
              </a:rPr>
              <a:t> finds values </a:t>
            </a:r>
            <a:r>
              <a:rPr lang="en-CA" sz="2400" b="1" u="sng" dirty="0">
                <a:solidFill>
                  <a:schemeClr val="bg1"/>
                </a:solidFill>
                <a:sym typeface="Wingdings" pitchFamily="2" charset="2"/>
              </a:rPr>
              <a:t>in the first set </a:t>
            </a:r>
            <a:r>
              <a:rPr lang="en-CA" sz="2400" u="sng" dirty="0">
                <a:solidFill>
                  <a:schemeClr val="bg1"/>
                </a:solidFill>
                <a:sym typeface="Wingdings" pitchFamily="2" charset="2"/>
              </a:rPr>
              <a:t>but </a:t>
            </a:r>
            <a:r>
              <a:rPr lang="en-CA" sz="2400" b="1" u="sng" dirty="0">
                <a:solidFill>
                  <a:schemeClr val="bg1"/>
                </a:solidFill>
                <a:sym typeface="Wingdings" pitchFamily="2" charset="2"/>
              </a:rPr>
              <a:t>not the second </a:t>
            </a:r>
            <a:r>
              <a:rPr lang="en-CA" sz="2400" u="sng" dirty="0">
                <a:solidFill>
                  <a:schemeClr val="bg1"/>
                </a:solidFill>
                <a:sym typeface="Wingdings" pitchFamily="2" charset="2"/>
              </a:rPr>
              <a:t>set</a:t>
            </a:r>
            <a:endParaRPr lang="en-CA" sz="2400" u="sng" dirty="0">
              <a:solidFill>
                <a:schemeClr val="bg1"/>
              </a:solidFill>
            </a:endParaRPr>
          </a:p>
          <a:p>
            <a:endParaRPr lang="en-CA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CA" sz="24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n-US" sz="2400" dirty="0">
              <a:solidFill>
                <a:schemeClr val="bg1"/>
              </a:solidFill>
              <a:cs typeface="Calibri Light" panose="020F03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75A4A9-B93A-8230-8F75-119CF83DCBDF}"/>
              </a:ext>
            </a:extLst>
          </p:cNvPr>
          <p:cNvSpPr txBox="1"/>
          <p:nvPr/>
        </p:nvSpPr>
        <p:spPr>
          <a:xfrm>
            <a:off x="1110762" y="3429000"/>
            <a:ext cx="9598233" cy="3231654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rainbow = {</a:t>
            </a:r>
            <a:r>
              <a:rPr kumimoji="0" lang="en-CA" sz="240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'red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', </a:t>
            </a:r>
            <a:r>
              <a:rPr kumimoji="0" lang="en-CA" sz="2400" b="1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'orange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', </a:t>
            </a:r>
            <a:r>
              <a:rPr kumimoji="0" lang="en-CA" sz="240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'yellow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', </a:t>
            </a:r>
            <a:r>
              <a:rPr kumimoji="0" lang="en-CA" sz="240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'green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', </a:t>
            </a:r>
            <a:r>
              <a:rPr kumimoji="0" lang="en-CA" sz="240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'blue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', </a:t>
            </a:r>
            <a:r>
              <a:rPr kumimoji="0" lang="en-CA" sz="2400" b="1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'indigo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', </a:t>
            </a:r>
            <a:r>
              <a:rPr kumimoji="0" lang="en-CA" sz="2400" b="1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'violet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olympic_flag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= {</a:t>
            </a:r>
            <a:r>
              <a:rPr kumimoji="0" lang="en-CA" sz="240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'red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', </a:t>
            </a:r>
            <a:r>
              <a:rPr kumimoji="0" lang="en-CA" sz="240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'green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', </a:t>
            </a:r>
            <a:r>
              <a:rPr kumimoji="0" lang="en-CA" sz="240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'yellow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', </a:t>
            </a:r>
            <a:r>
              <a:rPr kumimoji="0" lang="en-CA" sz="240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'blue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', 'black’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rainbow.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differnce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olympic_flag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#{‘orange’, ‘indigo’, ‘violet’}</a:t>
            </a:r>
          </a:p>
          <a:p>
            <a:pPr>
              <a:defRPr/>
            </a:pP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o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lympic_flag.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differnce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(rainbow) </a:t>
            </a:r>
          </a:p>
          <a:p>
            <a:pPr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#{‘black’}</a:t>
            </a:r>
          </a:p>
        </p:txBody>
      </p:sp>
    </p:spTree>
    <p:extLst>
      <p:ext uri="{BB962C8B-B14F-4D97-AF65-F5344CB8AC3E}">
        <p14:creationId xmlns:p14="http://schemas.microsoft.com/office/powerpoint/2010/main" val="83302091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7D4BB3-85AB-FDE2-C14B-E76D5E4D2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E83D8-01CE-C00F-2BB1-7844452B2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Quiz: 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0FF02-2241-62A8-8889-218639494E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CA" sz="2400" b="1" dirty="0">
                <a:solidFill>
                  <a:schemeClr val="bg1"/>
                </a:solidFill>
              </a:rPr>
              <a:t>Which of the following correctly creates a set?</a:t>
            </a:r>
            <a:endParaRPr lang="en-CA" sz="2400" dirty="0">
              <a:solidFill>
                <a:schemeClr val="bg1"/>
              </a:solidFill>
            </a:endParaRP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Always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Only if the outer 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CA" sz="2400" dirty="0">
                <a:solidFill>
                  <a:schemeClr val="bg1"/>
                </a:solidFill>
              </a:rPr>
              <a:t> condition is true</a:t>
            </a:r>
          </a:p>
          <a:p>
            <a:pPr marL="457200" indent="-457200">
              <a:buFont typeface="Arial" panose="020B0604020202020204" pitchFamily="34" charset="0"/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Only if the outer 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CA" sz="2400" dirty="0">
                <a:solidFill>
                  <a:schemeClr val="bg1"/>
                </a:solidFill>
              </a:rPr>
              <a:t> condition is false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Only if there is no </a:t>
            </a:r>
            <a:r>
              <a:rPr lang="en-CA" sz="2400" dirty="0" err="1">
                <a:solidFill>
                  <a:schemeClr val="bg1"/>
                </a:solidFill>
              </a:rPr>
              <a:t>elif</a:t>
            </a:r>
            <a:endParaRPr lang="en-CA" sz="24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1D4F7D-2691-0F58-4BA5-7290FEE14BB9}"/>
              </a:ext>
            </a:extLst>
          </p:cNvPr>
          <p:cNvSpPr txBox="1"/>
          <p:nvPr/>
        </p:nvSpPr>
        <p:spPr>
          <a:xfrm>
            <a:off x="1327147" y="1975560"/>
            <a:ext cx="8739325" cy="46166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numbers = (1,2,3)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8B6E38-EFB0-5D71-4986-4F3FC03DA296}"/>
              </a:ext>
            </a:extLst>
          </p:cNvPr>
          <p:cNvSpPr txBox="1"/>
          <p:nvPr/>
        </p:nvSpPr>
        <p:spPr>
          <a:xfrm>
            <a:off x="1327147" y="2491264"/>
            <a:ext cx="8739325" cy="46166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numbers = [1,2,3]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E0794B-ABCC-8301-F69A-140C2761BDDA}"/>
              </a:ext>
            </a:extLst>
          </p:cNvPr>
          <p:cNvSpPr txBox="1"/>
          <p:nvPr/>
        </p:nvSpPr>
        <p:spPr>
          <a:xfrm>
            <a:off x="1327146" y="2982350"/>
            <a:ext cx="8739325" cy="46166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numbers = {1,2,3}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A27D21-C3EF-F0FC-E93B-584EB0E6C972}"/>
              </a:ext>
            </a:extLst>
          </p:cNvPr>
          <p:cNvSpPr txBox="1"/>
          <p:nvPr/>
        </p:nvSpPr>
        <p:spPr>
          <a:xfrm>
            <a:off x="1327146" y="3475194"/>
            <a:ext cx="8739325" cy="46166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numbers = “1,2,3”</a:t>
            </a:r>
          </a:p>
        </p:txBody>
      </p:sp>
    </p:spTree>
    <p:extLst>
      <p:ext uri="{BB962C8B-B14F-4D97-AF65-F5344CB8AC3E}">
        <p14:creationId xmlns:p14="http://schemas.microsoft.com/office/powerpoint/2010/main" val="279826173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85A032-6630-504C-4E54-42D3F2570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E609B-0C93-3C94-66A7-77B232774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Quiz: 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EA3D18-2063-8187-F8DC-52E32BB425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CA" sz="2400" b="1" dirty="0">
                <a:solidFill>
                  <a:schemeClr val="bg1"/>
                </a:solidFill>
              </a:rPr>
              <a:t>2. What is a key property of a set?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Elements are ordered</a:t>
            </a:r>
          </a:p>
          <a:p>
            <a:pPr marL="457200" indent="-457200">
              <a:buFont typeface="Arial" panose="020B0604020202020204" pitchFamily="34" charset="0"/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Elements can be duplicated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Elements can be accessed by indexing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Elements are unique</a:t>
            </a:r>
          </a:p>
        </p:txBody>
      </p:sp>
    </p:spTree>
    <p:extLst>
      <p:ext uri="{BB962C8B-B14F-4D97-AF65-F5344CB8AC3E}">
        <p14:creationId xmlns:p14="http://schemas.microsoft.com/office/powerpoint/2010/main" val="320739482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DECEB4-83CC-40CC-5563-47D44883C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785F6-2365-7DDB-9B04-EFA049B77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Quiz: 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1788EF-20A8-21B8-554E-C2DA9A8F2D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CA" sz="2400" b="1" dirty="0">
                <a:solidFill>
                  <a:schemeClr val="bg1"/>
                </a:solidFill>
              </a:rPr>
              <a:t>3. When is it useful to use a set instead of a list?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When you need to maintain the order of elements.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When you want to store duplicate elements.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When you need unique elements.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When you need to access elements by index.</a:t>
            </a:r>
          </a:p>
        </p:txBody>
      </p:sp>
    </p:spTree>
    <p:extLst>
      <p:ext uri="{BB962C8B-B14F-4D97-AF65-F5344CB8AC3E}">
        <p14:creationId xmlns:p14="http://schemas.microsoft.com/office/powerpoint/2010/main" val="328732199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E1B5FA-0A71-1533-3637-71245E002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E052D-1ABB-2DDB-4CE2-21DE9CE0A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Quiz: 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745A2E-2C3C-8FBF-87DD-E3F9F2F052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CA" sz="24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CA" sz="24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CA" sz="2400" b="1" dirty="0">
                <a:solidFill>
                  <a:schemeClr val="bg1"/>
                </a:solidFill>
              </a:rPr>
              <a:t>4. What is the output of </a:t>
            </a:r>
            <a:r>
              <a:rPr lang="en-CA" sz="24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A.union</a:t>
            </a:r>
            <a:r>
              <a:rPr lang="en-CA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(B)</a:t>
            </a:r>
            <a:r>
              <a:rPr lang="en-CA" sz="2400" b="1" dirty="0">
                <a:solidFill>
                  <a:schemeClr val="bg1"/>
                </a:solidFill>
              </a:rPr>
              <a:t>?</a:t>
            </a:r>
          </a:p>
          <a:p>
            <a:pPr marL="0" indent="0">
              <a:buNone/>
            </a:pPr>
            <a:endParaRPr lang="en-CA" sz="24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CA" sz="2400" b="1" dirty="0">
                <a:solidFill>
                  <a:schemeClr val="bg1"/>
                </a:solidFill>
              </a:rPr>
              <a:t>5. What is the output of </a:t>
            </a:r>
            <a:r>
              <a:rPr lang="en-CA" sz="24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A.intersection</a:t>
            </a:r>
            <a:r>
              <a:rPr lang="en-CA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(B)</a:t>
            </a:r>
            <a:r>
              <a:rPr lang="en-CA" sz="2400" b="1" dirty="0">
                <a:solidFill>
                  <a:schemeClr val="bg1"/>
                </a:solidFill>
              </a:rPr>
              <a:t>?</a:t>
            </a:r>
          </a:p>
          <a:p>
            <a:pPr marL="0" indent="0">
              <a:buNone/>
            </a:pPr>
            <a:endParaRPr lang="en-CA" sz="24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CA" sz="2400" b="1" dirty="0">
                <a:solidFill>
                  <a:schemeClr val="bg1"/>
                </a:solidFill>
              </a:rPr>
              <a:t>6. What is the output of </a:t>
            </a:r>
            <a:r>
              <a:rPr lang="en-CA" sz="24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A.difference</a:t>
            </a:r>
            <a:r>
              <a:rPr lang="en-CA" sz="24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(B)</a:t>
            </a:r>
            <a:r>
              <a:rPr lang="en-CA" sz="2400" b="1" dirty="0">
                <a:solidFill>
                  <a:schemeClr val="bg1"/>
                </a:solidFill>
              </a:rPr>
              <a:t>?</a:t>
            </a:r>
          </a:p>
          <a:p>
            <a:pPr marL="0" indent="0">
              <a:buNone/>
            </a:pPr>
            <a:endParaRPr lang="en-CA" sz="24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168D05-B2AB-85CE-0B59-AF469AEF54A7}"/>
              </a:ext>
            </a:extLst>
          </p:cNvPr>
          <p:cNvSpPr txBox="1"/>
          <p:nvPr/>
        </p:nvSpPr>
        <p:spPr>
          <a:xfrm>
            <a:off x="838200" y="1576244"/>
            <a:ext cx="8739325" cy="830997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A = {1,2,3}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B = {3,4,5}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818491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A9080B-F506-1C6A-67C4-663F8F3D9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8EC81-44D5-7347-FE8B-E803E3DE2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Dictionaries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530011-7DCF-B7DA-F93C-B445DAD0D7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r>
              <a:rPr lang="en-CA" sz="2400" dirty="0">
                <a:solidFill>
                  <a:schemeClr val="bg1"/>
                </a:solidFill>
              </a:rPr>
              <a:t>Store data in </a:t>
            </a:r>
            <a:r>
              <a:rPr lang="en-CA" sz="2400" b="1" dirty="0" err="1">
                <a:solidFill>
                  <a:schemeClr val="bg1"/>
                </a:solidFill>
              </a:rPr>
              <a:t>key:value</a:t>
            </a:r>
            <a:r>
              <a:rPr lang="en-CA" sz="2400" b="1" dirty="0">
                <a:solidFill>
                  <a:schemeClr val="bg1"/>
                </a:solidFill>
              </a:rPr>
              <a:t> </a:t>
            </a:r>
            <a:r>
              <a:rPr lang="en-CA" sz="2400" dirty="0">
                <a:solidFill>
                  <a:schemeClr val="bg1"/>
                </a:solidFill>
              </a:rPr>
              <a:t>pairs and let us look up values by keys</a:t>
            </a:r>
          </a:p>
          <a:p>
            <a:r>
              <a:rPr lang="en-CA" sz="2400" dirty="0">
                <a:solidFill>
                  <a:schemeClr val="bg1"/>
                </a:solidFill>
              </a:rPr>
              <a:t>Ordered and mutable</a:t>
            </a:r>
          </a:p>
          <a:p>
            <a:r>
              <a:rPr lang="en-CA" sz="2400" dirty="0">
                <a:solidFill>
                  <a:schemeClr val="bg1"/>
                </a:solidFill>
              </a:rPr>
              <a:t>Every key in a dictionary is unique</a:t>
            </a:r>
          </a:p>
          <a:p>
            <a:r>
              <a:rPr lang="en-CA" sz="2400" dirty="0">
                <a:solidFill>
                  <a:schemeClr val="bg1"/>
                </a:solidFill>
              </a:rPr>
              <a:t>To make a dictionary, we use curly braces {} around the key value pair </a:t>
            </a:r>
          </a:p>
          <a:p>
            <a:r>
              <a:rPr lang="en-CA" sz="2400" b="1" dirty="0">
                <a:solidFill>
                  <a:schemeClr val="bg1"/>
                </a:solidFill>
              </a:rPr>
              <a:t>Keys are immutable </a:t>
            </a:r>
            <a:r>
              <a:rPr lang="en-CA" sz="2400" dirty="0">
                <a:solidFill>
                  <a:schemeClr val="bg1"/>
                </a:solidFill>
              </a:rPr>
              <a:t>data types (strings, numbers, Booleans or tuples)</a:t>
            </a:r>
            <a:endParaRPr lang="en-US" sz="2400" dirty="0">
              <a:solidFill>
                <a:schemeClr val="bg1"/>
              </a:solidFill>
              <a:cs typeface="Calibri Light" panose="020F0302020204030204" pitchFamily="34" charset="0"/>
            </a:endParaRP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n-US" sz="2400" dirty="0">
              <a:solidFill>
                <a:schemeClr val="bg1"/>
              </a:solidFill>
              <a:cs typeface="Calibri Light" panose="020F0302020204030204" pitchFamily="34" charset="0"/>
            </a:endParaRP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n-US" sz="2400" dirty="0">
              <a:solidFill>
                <a:schemeClr val="bg1"/>
              </a:solidFill>
              <a:cs typeface="Calibri Light" panose="020F0302020204030204" pitchFamily="34" charset="0"/>
            </a:endParaRPr>
          </a:p>
          <a:p>
            <a:pPr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chemeClr val="bg1"/>
                </a:solidFill>
                <a:cs typeface="Calibri Light" panose="020F0302020204030204" pitchFamily="34" charset="0"/>
              </a:rPr>
              <a:t>To create an empty dictionary, we use curly braces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F7E828-AD26-A03E-6DE5-0675A9BBB583}"/>
              </a:ext>
            </a:extLst>
          </p:cNvPr>
          <p:cNvSpPr txBox="1"/>
          <p:nvPr/>
        </p:nvSpPr>
        <p:spPr>
          <a:xfrm>
            <a:off x="1040425" y="3751913"/>
            <a:ext cx="9598233" cy="1569660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Examples of a dictionary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capitals = {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'Canada': 'Ottawa',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'United States': 'Washington, D.C.',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'Mexico': 'Mexico City'}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08C479-8379-D6EB-1AD8-4DB9461BCA21}"/>
              </a:ext>
            </a:extLst>
          </p:cNvPr>
          <p:cNvSpPr txBox="1"/>
          <p:nvPr/>
        </p:nvSpPr>
        <p:spPr>
          <a:xfrm>
            <a:off x="1040425" y="5905866"/>
            <a:ext cx="9598233" cy="830997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schemeClr val="accent1"/>
                </a:solidFill>
                <a:latin typeface="Courier New" panose="02070309020205020404" pitchFamily="49" charset="0"/>
              </a:rPr>
              <a:t># Example of an empty dictionary</a:t>
            </a:r>
          </a:p>
          <a:p>
            <a:pPr>
              <a:defRPr/>
            </a:pPr>
            <a:r>
              <a:rPr lang="en-CA" sz="2400" dirty="0" err="1">
                <a:solidFill>
                  <a:schemeClr val="bg1"/>
                </a:solidFill>
                <a:latin typeface="Courier New" panose="02070309020205020404" pitchFamily="49" charset="0"/>
              </a:rPr>
              <a:t>empty_dictionary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</a:rPr>
              <a:t> = {}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7925283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00C3E4-B732-9CE9-A1E4-156F1A6F2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2BAD4-547C-B00E-A4F5-0E58D3B11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Accessing, adding and updating dictionaries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7DAB6-A492-4AF4-D74A-CBF4208574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r>
              <a:rPr lang="en-CA" sz="2400" dirty="0">
                <a:solidFill>
                  <a:schemeClr val="bg1"/>
                </a:solidFill>
              </a:rPr>
              <a:t>We can access the contents of a dictionary by </a:t>
            </a:r>
            <a:r>
              <a:rPr lang="en-CA" sz="2400" b="1" dirty="0">
                <a:solidFill>
                  <a:schemeClr val="bg1"/>
                </a:solidFill>
              </a:rPr>
              <a:t>looking up the key using [ ]</a:t>
            </a:r>
            <a:endParaRPr lang="en-US" sz="2400" b="1" dirty="0">
              <a:solidFill>
                <a:schemeClr val="bg1"/>
              </a:solidFill>
              <a:cs typeface="Calibri Light" panose="020F030202020403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2400" dirty="0">
              <a:solidFill>
                <a:schemeClr val="bg1"/>
              </a:solidFill>
              <a:cs typeface="Calibri Light" panose="020F030202020403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1200" dirty="0">
              <a:solidFill>
                <a:schemeClr val="bg1"/>
              </a:solidFill>
              <a:cs typeface="Calibri Light" panose="020F03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cs typeface="Calibri Light" panose="020F0302020204030204" pitchFamily="34" charset="0"/>
              </a:rPr>
              <a:t>Trying to access a key that doesn’t exist will result in an error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A735A8-BCB4-3681-56E9-8A3A980C3264}"/>
              </a:ext>
            </a:extLst>
          </p:cNvPr>
          <p:cNvSpPr txBox="1"/>
          <p:nvPr/>
        </p:nvSpPr>
        <p:spPr>
          <a:xfrm>
            <a:off x="1040424" y="2182253"/>
            <a:ext cx="9598233" cy="830997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Example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apitals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‘Canada’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]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#returns ‘Ottawa’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422943-15F5-63DB-DAE9-C09600A8B910}"/>
              </a:ext>
            </a:extLst>
          </p:cNvPr>
          <p:cNvSpPr txBox="1"/>
          <p:nvPr/>
        </p:nvSpPr>
        <p:spPr>
          <a:xfrm>
            <a:off x="1040423" y="4054917"/>
            <a:ext cx="9598233" cy="830997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Example</a:t>
            </a:r>
          </a:p>
          <a:p>
            <a:pPr>
              <a:defRPr/>
            </a:pP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apitals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‘Italy’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]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#returns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KeyError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: 'Italy'</a:t>
            </a:r>
          </a:p>
        </p:txBody>
      </p:sp>
    </p:spTree>
    <p:extLst>
      <p:ext uri="{BB962C8B-B14F-4D97-AF65-F5344CB8AC3E}">
        <p14:creationId xmlns:p14="http://schemas.microsoft.com/office/powerpoint/2010/main" val="106535689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FB5021-93F4-8849-3439-6937B197D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5A989-302F-C68B-A71C-6AEB1A805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Accessing, adding and updating dictionaries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10A2F8-1637-958D-4BAE-C584460219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r>
              <a:rPr lang="en-CA" sz="2400" dirty="0">
                <a:solidFill>
                  <a:schemeClr val="bg1"/>
                </a:solidFill>
              </a:rPr>
              <a:t>The 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get() </a:t>
            </a:r>
            <a:r>
              <a:rPr lang="en-CA" sz="2400" dirty="0">
                <a:solidFill>
                  <a:schemeClr val="bg1"/>
                </a:solidFill>
              </a:rPr>
              <a:t>method provides a safe way to work with dictionary values.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CA" dirty="0">
                <a:solidFill>
                  <a:schemeClr val="bg1"/>
                </a:solidFill>
                <a:cs typeface="Calibri Light" panose="020F0302020204030204" pitchFamily="34" charset="0"/>
              </a:rPr>
              <a:t>Takes the name of the key to look up and returns the corresponding value of the key exists, otherwise a default value without modifying the dictionary</a:t>
            </a:r>
            <a:endParaRPr lang="en-US" dirty="0">
              <a:solidFill>
                <a:schemeClr val="bg1"/>
              </a:solidFill>
              <a:cs typeface="Calibri Light" panose="020F030202020403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1200" dirty="0">
              <a:solidFill>
                <a:schemeClr val="bg1"/>
              </a:solidFill>
              <a:cs typeface="Calibri Light" panose="020F030202020403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1200" dirty="0">
              <a:solidFill>
                <a:schemeClr val="bg1"/>
              </a:solidFill>
              <a:cs typeface="Calibri Light" panose="020F0302020204030204" pitchFamily="34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1400" dirty="0">
              <a:solidFill>
                <a:schemeClr val="bg1"/>
              </a:solidFill>
              <a:cs typeface="Calibri Light" panose="020F03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cs typeface="Calibri Light" panose="020F0302020204030204" pitchFamily="34" charset="0"/>
              </a:rPr>
              <a:t>We can also check to see if a key is in a dictionary with </a:t>
            </a:r>
            <a:r>
              <a:rPr lang="en-US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</a:t>
            </a:r>
          </a:p>
          <a:p>
            <a:pPr>
              <a:lnSpc>
                <a:spcPct val="150000"/>
              </a:lnSpc>
            </a:pPr>
            <a:endParaRPr lang="en-US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dirty="0">
                <a:solidFill>
                  <a:schemeClr val="bg1"/>
                </a:solidFill>
                <a:latin typeface="+mj-lt"/>
                <a:cs typeface="Courier New" panose="02070309020205020404" pitchFamily="49" charset="0"/>
              </a:rPr>
              <a:t>Only looks for keys, not values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DB011B-88B2-C178-5C1D-8F00F9114820}"/>
              </a:ext>
            </a:extLst>
          </p:cNvPr>
          <p:cNvSpPr txBox="1"/>
          <p:nvPr/>
        </p:nvSpPr>
        <p:spPr>
          <a:xfrm>
            <a:off x="1040420" y="2828835"/>
            <a:ext cx="9598233" cy="1200329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Example</a:t>
            </a:r>
          </a:p>
          <a:p>
            <a:pPr>
              <a:defRPr/>
            </a:pP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capitals.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get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'Italy', 'Not Found'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</a:t>
            </a:r>
          </a:p>
          <a:p>
            <a:pPr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#returns ‘Not Found’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83AE5E-D902-4E4D-B34B-AF683E314CF3}"/>
              </a:ext>
            </a:extLst>
          </p:cNvPr>
          <p:cNvSpPr txBox="1"/>
          <p:nvPr/>
        </p:nvSpPr>
        <p:spPr>
          <a:xfrm>
            <a:off x="1040420" y="4614310"/>
            <a:ext cx="9598233" cy="830997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Example</a:t>
            </a:r>
          </a:p>
          <a:p>
            <a:pPr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'United States’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capitals</a:t>
            </a: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sz="24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True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9E32F6-DC74-6DF2-87E7-DEC66EF2623D}"/>
              </a:ext>
            </a:extLst>
          </p:cNvPr>
          <p:cNvSpPr txBox="1"/>
          <p:nvPr/>
        </p:nvSpPr>
        <p:spPr>
          <a:xfrm>
            <a:off x="1040420" y="5943281"/>
            <a:ext cx="9598233" cy="830997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Example</a:t>
            </a:r>
          </a:p>
          <a:p>
            <a:pPr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'Washington, D.C.'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capitals</a:t>
            </a: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sz="24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False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461796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FBD890-1515-687E-F575-40E37D45C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44EA2-07B1-29E7-F7DC-F111B542E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Accessing, adding and updating dictionaries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0ECDC9-B572-FB23-CBA4-58C1B2AD65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r>
              <a:rPr lang="en-CA" sz="2400" dirty="0">
                <a:solidFill>
                  <a:schemeClr val="bg1"/>
                </a:solidFill>
              </a:rPr>
              <a:t>If we assign a value to a key that doesn't exist, the </a:t>
            </a:r>
            <a:r>
              <a:rPr lang="en-CA" sz="2400" b="1" dirty="0" err="1">
                <a:solidFill>
                  <a:schemeClr val="bg1"/>
                </a:solidFill>
              </a:rPr>
              <a:t>key:value</a:t>
            </a:r>
            <a:r>
              <a:rPr lang="en-CA" sz="2400" b="1" dirty="0">
                <a:solidFill>
                  <a:schemeClr val="bg1"/>
                </a:solidFill>
              </a:rPr>
              <a:t> pair will be added </a:t>
            </a:r>
            <a:r>
              <a:rPr lang="en-CA" sz="2400" dirty="0">
                <a:solidFill>
                  <a:schemeClr val="bg1"/>
                </a:solidFill>
              </a:rPr>
              <a:t>to the dictionary. </a:t>
            </a:r>
          </a:p>
          <a:p>
            <a:endParaRPr lang="en-CA" sz="2400" dirty="0">
              <a:solidFill>
                <a:schemeClr val="bg1"/>
              </a:solidFill>
            </a:endParaRPr>
          </a:p>
          <a:p>
            <a:endParaRPr lang="en-CA" sz="2400" dirty="0">
              <a:solidFill>
                <a:schemeClr val="bg1"/>
              </a:solidFill>
            </a:endParaRPr>
          </a:p>
          <a:p>
            <a:endParaRPr lang="en-CA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CA" sz="2400" dirty="0">
              <a:solidFill>
                <a:schemeClr val="bg1"/>
              </a:solidFill>
            </a:endParaRPr>
          </a:p>
          <a:p>
            <a:r>
              <a:rPr lang="en-CA" sz="2400" dirty="0">
                <a:solidFill>
                  <a:schemeClr val="bg1"/>
                </a:solidFill>
              </a:rPr>
              <a:t>If we assign a value to a </a:t>
            </a:r>
            <a:r>
              <a:rPr lang="en-CA" sz="2400" b="1" dirty="0">
                <a:solidFill>
                  <a:schemeClr val="bg1"/>
                </a:solidFill>
              </a:rPr>
              <a:t>key that already exists, the value for that key will be updated.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29616A-D4CE-EDCA-AD76-DA4F30ACAECB}"/>
              </a:ext>
            </a:extLst>
          </p:cNvPr>
          <p:cNvSpPr txBox="1"/>
          <p:nvPr/>
        </p:nvSpPr>
        <p:spPr>
          <a:xfrm>
            <a:off x="1040420" y="2420871"/>
            <a:ext cx="9598233" cy="1569660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apitals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'Italy’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]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=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‘Milan’</a:t>
            </a:r>
          </a:p>
          <a:p>
            <a:pPr>
              <a:defRPr/>
            </a:pP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capitals </a:t>
            </a:r>
            <a:r>
              <a:rPr lang="en-CA" sz="24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{'Canada': 'Ottawa', 'United States': 'Washington, D.C.', 'Mexico': 'Mexico City', 'Italy': ‘Milan'}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2EFDA0-8FE2-3A57-A633-4390C3FDB09C}"/>
              </a:ext>
            </a:extLst>
          </p:cNvPr>
          <p:cNvSpPr txBox="1"/>
          <p:nvPr/>
        </p:nvSpPr>
        <p:spPr>
          <a:xfrm>
            <a:off x="1040420" y="4919008"/>
            <a:ext cx="9598233" cy="1938992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# Oops! </a:t>
            </a:r>
            <a:r>
              <a:rPr lang="en-CA" sz="2400" dirty="0">
                <a:solidFill>
                  <a:srgbClr val="196B24"/>
                </a:solidFill>
                <a:latin typeface="Courier New" panose="02070309020205020404" pitchFamily="49" charset="0"/>
              </a:rPr>
              <a:t>It’s actually Rome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rgbClr val="196B24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apitals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[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'Italy’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]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=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‘Rome’</a:t>
            </a:r>
          </a:p>
          <a:p>
            <a:pPr>
              <a:defRPr/>
            </a:pP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capitals </a:t>
            </a:r>
            <a:r>
              <a:rPr lang="en-CA" sz="2400" dirty="0">
                <a:solidFill>
                  <a:schemeClr val="accent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{'Canada': 'Ottawa', 'United States': 'Washington, D.C.', 'Mexico': 'Mexico City', 'Italy’: ‘Rome'}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3077329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AADDC2-1AF9-F4D5-6A5F-6CFEB0A97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2940F-9362-6E8A-BA0D-2549CEED5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Accessing, adding and updating dictionaries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8C8C0-8181-9E88-DB1B-69CF57CDA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r>
              <a:rPr lang="en-CA" sz="2400" dirty="0">
                <a:solidFill>
                  <a:schemeClr val="bg1"/>
                </a:solidFill>
              </a:rPr>
              <a:t>To remove a </a:t>
            </a:r>
            <a:r>
              <a:rPr lang="en-CA" sz="2400" dirty="0" err="1">
                <a:solidFill>
                  <a:schemeClr val="bg1"/>
                </a:solidFill>
              </a:rPr>
              <a:t>key:value</a:t>
            </a:r>
            <a:r>
              <a:rPr lang="en-CA" sz="2400" dirty="0">
                <a:solidFill>
                  <a:schemeClr val="bg1"/>
                </a:solidFill>
              </a:rPr>
              <a:t> pair from a dictionary, we use the 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del</a:t>
            </a:r>
            <a:r>
              <a:rPr lang="en-CA" sz="2400" dirty="0">
                <a:solidFill>
                  <a:schemeClr val="bg1"/>
                </a:solidFill>
              </a:rPr>
              <a:t> operator</a:t>
            </a:r>
          </a:p>
          <a:p>
            <a:endParaRPr lang="en-CA" sz="2400" dirty="0">
              <a:solidFill>
                <a:schemeClr val="bg1"/>
              </a:solidFill>
            </a:endParaRPr>
          </a:p>
          <a:p>
            <a:endParaRPr lang="en-CA" sz="2400" dirty="0">
              <a:solidFill>
                <a:schemeClr val="bg1"/>
              </a:solidFill>
            </a:endParaRPr>
          </a:p>
          <a:p>
            <a:endParaRPr lang="en-CA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CA" sz="24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60F60B-3A4C-638C-AF55-9B2CB1EC1035}"/>
              </a:ext>
            </a:extLst>
          </p:cNvPr>
          <p:cNvSpPr txBox="1"/>
          <p:nvPr/>
        </p:nvSpPr>
        <p:spPr>
          <a:xfrm>
            <a:off x="1138894" y="2301642"/>
            <a:ext cx="9598233" cy="1200329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el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capitals[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‘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Mexico’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]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capitals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# {'Canada': 'Ottawa', 'United States': 'Washington, D.C.', 'Italy': ‘Milan'} </a:t>
            </a:r>
          </a:p>
        </p:txBody>
      </p:sp>
    </p:spTree>
    <p:extLst>
      <p:ext uri="{BB962C8B-B14F-4D97-AF65-F5344CB8AC3E}">
        <p14:creationId xmlns:p14="http://schemas.microsoft.com/office/powerpoint/2010/main" val="146724645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D37EC1-3FF7-D03D-B1C8-513E16C48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BBD8F-4FB8-466E-58B8-4AB818126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Dictionary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A0FC6C-932E-09BE-39A6-5CCFE9FAB3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r>
              <a:rPr lang="en-CA" sz="2400" dirty="0">
                <a:solidFill>
                  <a:schemeClr val="bg1"/>
                </a:solidFill>
              </a:rPr>
              <a:t>Python dictionaries have methods for getting keys, values, and items (that is, </a:t>
            </a:r>
            <a:r>
              <a:rPr lang="en-CA" sz="2400" dirty="0" err="1">
                <a:solidFill>
                  <a:schemeClr val="bg1"/>
                </a:solidFill>
              </a:rPr>
              <a:t>key:value</a:t>
            </a:r>
            <a:r>
              <a:rPr lang="en-CA" sz="2400" dirty="0">
                <a:solidFill>
                  <a:schemeClr val="bg1"/>
                </a:solidFill>
              </a:rPr>
              <a:t> pairs). </a:t>
            </a:r>
          </a:p>
          <a:p>
            <a:r>
              <a:rPr lang="en-CA" sz="2400" dirty="0">
                <a:solidFill>
                  <a:schemeClr val="bg1"/>
                </a:solidFill>
              </a:rPr>
              <a:t>This is useful for getting checking for values in a dictionary, and working with keys, values, and items one-by-one.</a:t>
            </a:r>
          </a:p>
          <a:p>
            <a:r>
              <a:rPr lang="en-CA" sz="2400" dirty="0">
                <a:solidFill>
                  <a:schemeClr val="bg1"/>
                </a:solidFill>
              </a:rPr>
              <a:t>Example, we get identify all keys in the dictionary</a:t>
            </a:r>
          </a:p>
          <a:p>
            <a:endParaRPr lang="en-CA" sz="2400" dirty="0">
              <a:solidFill>
                <a:schemeClr val="bg1"/>
              </a:solidFill>
            </a:endParaRPr>
          </a:p>
          <a:p>
            <a:endParaRPr lang="en-CA" sz="2400" dirty="0">
              <a:solidFill>
                <a:schemeClr val="bg1"/>
              </a:solidFill>
            </a:endParaRPr>
          </a:p>
          <a:p>
            <a:r>
              <a:rPr lang="en-CA" sz="2400" dirty="0">
                <a:solidFill>
                  <a:schemeClr val="bg1"/>
                </a:solidFill>
              </a:rPr>
              <a:t>We can use conditionals to check if a value exists in a dictionary.</a:t>
            </a:r>
          </a:p>
          <a:p>
            <a:endParaRPr lang="en-CA" sz="2400" dirty="0">
              <a:solidFill>
                <a:schemeClr val="bg1"/>
              </a:solidFill>
            </a:endParaRPr>
          </a:p>
          <a:p>
            <a:endParaRPr lang="en-CA" sz="2400" dirty="0">
              <a:solidFill>
                <a:schemeClr val="bg1"/>
              </a:solidFill>
            </a:endParaRPr>
          </a:p>
          <a:p>
            <a:endParaRPr lang="en-CA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CA" sz="24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C7113A-927B-E6F9-463B-900C5B423091}"/>
              </a:ext>
            </a:extLst>
          </p:cNvPr>
          <p:cNvSpPr txBox="1"/>
          <p:nvPr/>
        </p:nvSpPr>
        <p:spPr>
          <a:xfrm>
            <a:off x="702128" y="3526925"/>
            <a:ext cx="10787743" cy="830997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>
              <a:defRPr/>
            </a:pP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apitals.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keys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() </a:t>
            </a:r>
          </a:p>
          <a:p>
            <a:pPr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#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dict_keys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(['Canada', 'United States', 'Italy'])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8A1236-D244-EEF7-3A4A-6FA91553EEFE}"/>
              </a:ext>
            </a:extLst>
          </p:cNvPr>
          <p:cNvSpPr txBox="1"/>
          <p:nvPr/>
        </p:nvSpPr>
        <p:spPr>
          <a:xfrm>
            <a:off x="702128" y="4923215"/>
            <a:ext cx="10787743" cy="1569660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>
              <a:defRPr/>
            </a:pPr>
            <a:r>
              <a:rPr lang="en-CA" sz="24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sz="24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'Ottawa' </a:t>
            </a: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 </a:t>
            </a:r>
            <a:r>
              <a:rPr lang="en-CA" sz="2400" dirty="0" err="1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capitals.</a:t>
            </a:r>
            <a:r>
              <a:rPr lang="en-CA" sz="2400" dirty="0" err="1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values</a:t>
            </a:r>
            <a:r>
              <a:rPr lang="en-CA" sz="24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>
              <a:defRPr/>
            </a:pPr>
            <a:r>
              <a:rPr lang="en-CA" sz="24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print</a:t>
            </a: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24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'Ottawa is a capital</a:t>
            </a: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')</a:t>
            </a:r>
          </a:p>
          <a:p>
            <a:pPr>
              <a:defRPr/>
            </a:pPr>
            <a:r>
              <a:rPr lang="en-CA" sz="24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>
              <a:defRPr/>
            </a:pPr>
            <a:r>
              <a:rPr lang="en-CA" sz="24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print</a:t>
            </a: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24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‘Ottawa is not a capital'</a:t>
            </a: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CA" sz="2400" dirty="0">
              <a:solidFill>
                <a:schemeClr val="accent6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708322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851295-5FD1-0CC0-2C7D-5E34C27F9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CC9CF-C3C9-C91A-9AF2-D636FEDFD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Quiz: Dictionaries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8C0A2-77B2-8948-916F-5D1D686CBA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CA" sz="2400" b="1" dirty="0">
                <a:solidFill>
                  <a:schemeClr val="bg1"/>
                </a:solidFill>
              </a:rPr>
              <a:t>Given the dictionary: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en-CA" sz="2400" b="1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en-CA" sz="24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CA" sz="2400" b="1" dirty="0">
                <a:solidFill>
                  <a:schemeClr val="bg1"/>
                </a:solidFill>
              </a:rPr>
              <a:t>How would we access Alice’s major?</a:t>
            </a:r>
            <a:endParaRPr lang="en-CA" sz="2400" dirty="0">
              <a:solidFill>
                <a:schemeClr val="bg1"/>
              </a:solidFill>
            </a:endParaRPr>
          </a:p>
          <a:p>
            <a:pPr marL="457200" indent="-457200">
              <a:buAutoNum type="alphaUcPeriod"/>
            </a:pPr>
            <a:r>
              <a:rPr lang="en-CA" sz="2400" dirty="0" err="1">
                <a:solidFill>
                  <a:schemeClr val="bg1"/>
                </a:solidFill>
              </a:rPr>
              <a:t>student.major</a:t>
            </a:r>
            <a:endParaRPr lang="en-CA" sz="2400" dirty="0">
              <a:solidFill>
                <a:schemeClr val="bg1"/>
              </a:solidFill>
            </a:endParaRP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student[“major”]</a:t>
            </a:r>
          </a:p>
          <a:p>
            <a:pPr marL="457200" indent="-457200">
              <a:buAutoNum type="alphaUcPeriod"/>
            </a:pPr>
            <a:r>
              <a:rPr lang="en-CA" sz="2400" dirty="0" err="1">
                <a:solidFill>
                  <a:schemeClr val="bg1"/>
                </a:solidFill>
              </a:rPr>
              <a:t>student.get</a:t>
            </a:r>
            <a:r>
              <a:rPr lang="en-CA" sz="2400" dirty="0">
                <a:solidFill>
                  <a:schemeClr val="bg1"/>
                </a:solidFill>
              </a:rPr>
              <a:t>(“Alice”)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student[0]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12ACF1-A0C9-CD0C-50AA-FF31A1DB9326}"/>
              </a:ext>
            </a:extLst>
          </p:cNvPr>
          <p:cNvSpPr txBox="1"/>
          <p:nvPr/>
        </p:nvSpPr>
        <p:spPr>
          <a:xfrm>
            <a:off x="857250" y="2070810"/>
            <a:ext cx="8739325" cy="830997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student = {"name": "Alice", "age": 20, "major": "Physics"}</a:t>
            </a:r>
          </a:p>
        </p:txBody>
      </p:sp>
    </p:spTree>
    <p:extLst>
      <p:ext uri="{BB962C8B-B14F-4D97-AF65-F5344CB8AC3E}">
        <p14:creationId xmlns:p14="http://schemas.microsoft.com/office/powerpoint/2010/main" val="95872453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79F0242-2B72-CB5B-A2CC-D90A5D521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CEECC-9969-AFD6-7488-6A115ECD4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778" y="365125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Quiz: Dictionaries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3297E-BB36-1C25-3AA8-A49B1E9F6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CA" sz="2400" b="1" dirty="0">
                <a:solidFill>
                  <a:schemeClr val="bg1"/>
                </a:solidFill>
              </a:rPr>
              <a:t>2. What would this code do: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en-CA" sz="2400" b="1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en-CA" sz="2400" b="1" dirty="0">
              <a:solidFill>
                <a:schemeClr val="bg1"/>
              </a:solidFill>
            </a:endParaRP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Add a new key “age” with value of 21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Update the value of ”age” to 21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Raise an error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A93FD5-9BB2-8A3E-9BAB-7928CDDB1B9F}"/>
              </a:ext>
            </a:extLst>
          </p:cNvPr>
          <p:cNvSpPr txBox="1"/>
          <p:nvPr/>
        </p:nvSpPr>
        <p:spPr>
          <a:xfrm>
            <a:off x="857250" y="2070810"/>
            <a:ext cx="8739325" cy="830997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student = {"name": "Alice", "age": 20}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student[“age”] = 21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096533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C99FB9-328B-5B6A-D627-D9FB1093E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AB1F2-C776-BEAA-EB08-693B93B52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Quiz: Dictionaries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A1ADC5-F5CB-6287-9E1D-18E813113B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CA" sz="2400" b="1" dirty="0">
                <a:solidFill>
                  <a:schemeClr val="bg1"/>
                </a:solidFill>
              </a:rPr>
              <a:t>3. Which of the following would return a list of all keys</a:t>
            </a:r>
            <a:endParaRPr lang="en-CA" sz="2400" dirty="0">
              <a:solidFill>
                <a:schemeClr val="bg1"/>
              </a:solidFill>
            </a:endParaRP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Always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Only if the outer 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CA" sz="2400" dirty="0">
                <a:solidFill>
                  <a:schemeClr val="bg1"/>
                </a:solidFill>
              </a:rPr>
              <a:t> condition is true</a:t>
            </a:r>
          </a:p>
          <a:p>
            <a:pPr marL="457200" indent="-457200">
              <a:buFont typeface="Arial" panose="020B0604020202020204" pitchFamily="34" charset="0"/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Only if the outer 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CA" sz="2400" dirty="0">
                <a:solidFill>
                  <a:schemeClr val="bg1"/>
                </a:solidFill>
              </a:rPr>
              <a:t> condition is false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Only if there is no </a:t>
            </a:r>
            <a:r>
              <a:rPr lang="en-CA" sz="2400" dirty="0" err="1">
                <a:solidFill>
                  <a:schemeClr val="bg1"/>
                </a:solidFill>
              </a:rPr>
              <a:t>elif</a:t>
            </a:r>
            <a:endParaRPr lang="en-CA" sz="24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F24D95-A896-1112-4F2C-5533B6E1D4E8}"/>
              </a:ext>
            </a:extLst>
          </p:cNvPr>
          <p:cNvSpPr txBox="1"/>
          <p:nvPr/>
        </p:nvSpPr>
        <p:spPr>
          <a:xfrm>
            <a:off x="1327147" y="1975560"/>
            <a:ext cx="8739325" cy="46166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d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ict.keys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951F36-9FB4-C41E-4BBE-82A8C39646EB}"/>
              </a:ext>
            </a:extLst>
          </p:cNvPr>
          <p:cNvSpPr txBox="1"/>
          <p:nvPr/>
        </p:nvSpPr>
        <p:spPr>
          <a:xfrm>
            <a:off x="1327147" y="2491264"/>
            <a:ext cx="8739325" cy="46166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d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ict.values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89272E-0054-4730-CED8-2C2D8F19D405}"/>
              </a:ext>
            </a:extLst>
          </p:cNvPr>
          <p:cNvSpPr txBox="1"/>
          <p:nvPr/>
        </p:nvSpPr>
        <p:spPr>
          <a:xfrm>
            <a:off x="1327146" y="2982350"/>
            <a:ext cx="8739325" cy="46166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d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ict.items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E0656E-947A-9431-9610-767411327F36}"/>
              </a:ext>
            </a:extLst>
          </p:cNvPr>
          <p:cNvSpPr txBox="1"/>
          <p:nvPr/>
        </p:nvSpPr>
        <p:spPr>
          <a:xfrm>
            <a:off x="1327146" y="3475194"/>
            <a:ext cx="8739325" cy="46166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d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ict.get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63362442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6A6901-D6C3-85D6-3DCA-BCEBBEED9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A8446-AF8B-B60C-66A3-1848D27B3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Quiz: Dictionaries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D031D8-AFD0-3D88-FFB4-0C56C77AF4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CA" sz="2400" b="1" dirty="0">
                <a:solidFill>
                  <a:schemeClr val="bg1"/>
                </a:solidFill>
              </a:rPr>
              <a:t>4. What happens when we try to access a key that doesn’t exist?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Returns None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Returns a 0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Returns a </a:t>
            </a:r>
            <a:r>
              <a:rPr lang="en-CA" sz="2400" dirty="0" err="1">
                <a:solidFill>
                  <a:schemeClr val="bg1"/>
                </a:solidFill>
              </a:rPr>
              <a:t>KeyError</a:t>
            </a:r>
            <a:endParaRPr lang="en-CA" sz="2400" dirty="0">
              <a:solidFill>
                <a:schemeClr val="bg1"/>
              </a:solidFill>
            </a:endParaRP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Automatically creates the key</a:t>
            </a:r>
          </a:p>
        </p:txBody>
      </p:sp>
    </p:spTree>
    <p:extLst>
      <p:ext uri="{BB962C8B-B14F-4D97-AF65-F5344CB8AC3E}">
        <p14:creationId xmlns:p14="http://schemas.microsoft.com/office/powerpoint/2010/main" val="400091784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173356-A563-496C-004B-335A65F91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9BEF9-5452-2FDB-56D6-A0A9EA285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Quiz: Dictionaries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85C98-CE2D-78D7-D835-488BE6277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CA" sz="2400" b="1" dirty="0">
                <a:solidFill>
                  <a:schemeClr val="bg1"/>
                </a:solidFill>
              </a:rPr>
              <a:t>5. Fill in the blank to add a new key-value pair “grade”: “A” to the dictionary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en-CA" sz="2400" b="1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en-CA" sz="2400" b="1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en-CA" sz="24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CA" sz="2400" b="1" dirty="0">
                <a:solidFill>
                  <a:schemeClr val="bg1"/>
                </a:solidFill>
              </a:rPr>
              <a:t>6. Fill in the blank to get the value of “name” from the dictionary</a:t>
            </a:r>
          </a:p>
          <a:p>
            <a:pPr marL="0" indent="0">
              <a:buNone/>
            </a:pPr>
            <a:endParaRPr lang="en-CA" sz="2400" b="1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en-CA" sz="24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5F318D-7782-FEAA-843C-3F359B7DE899}"/>
              </a:ext>
            </a:extLst>
          </p:cNvPr>
          <p:cNvSpPr txBox="1"/>
          <p:nvPr/>
        </p:nvSpPr>
        <p:spPr>
          <a:xfrm>
            <a:off x="857250" y="2070810"/>
            <a:ext cx="8739325" cy="830997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student = {"name": "Alice", "age": 20}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student[__] = ___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C44D1B-DED2-14A5-16A8-1C9C0571006F}"/>
              </a:ext>
            </a:extLst>
          </p:cNvPr>
          <p:cNvSpPr txBox="1"/>
          <p:nvPr/>
        </p:nvSpPr>
        <p:spPr>
          <a:xfrm>
            <a:off x="857250" y="4112926"/>
            <a:ext cx="8739325" cy="830997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student = {"name": "Alice", "age": 20}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s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tudent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.___(“name”)</a:t>
            </a:r>
          </a:p>
        </p:txBody>
      </p:sp>
    </p:spTree>
    <p:extLst>
      <p:ext uri="{BB962C8B-B14F-4D97-AF65-F5344CB8AC3E}">
        <p14:creationId xmlns:p14="http://schemas.microsoft.com/office/powerpoint/2010/main" val="63512452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E6BDA9-8586-204E-0827-1782D603A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53828-FA95-7600-D731-83240BC67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Summary table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DDB67EF-45C2-4A8F-FD36-CC331EFAC1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2225014"/>
              </p:ext>
            </p:extLst>
          </p:nvPr>
        </p:nvGraphicFramePr>
        <p:xfrm>
          <a:off x="398584" y="1409334"/>
          <a:ext cx="11394832" cy="484632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106659">
                  <a:extLst>
                    <a:ext uri="{9D8B030D-6E8A-4147-A177-3AD203B41FA5}">
                      <a16:colId xmlns:a16="http://schemas.microsoft.com/office/drawing/2014/main" val="2124711436"/>
                    </a:ext>
                  </a:extLst>
                </a:gridCol>
                <a:gridCol w="1364566">
                  <a:extLst>
                    <a:ext uri="{9D8B030D-6E8A-4147-A177-3AD203B41FA5}">
                      <a16:colId xmlns:a16="http://schemas.microsoft.com/office/drawing/2014/main" val="504328110"/>
                    </a:ext>
                  </a:extLst>
                </a:gridCol>
                <a:gridCol w="1491176">
                  <a:extLst>
                    <a:ext uri="{9D8B030D-6E8A-4147-A177-3AD203B41FA5}">
                      <a16:colId xmlns:a16="http://schemas.microsoft.com/office/drawing/2014/main" val="2903622294"/>
                    </a:ext>
                  </a:extLst>
                </a:gridCol>
                <a:gridCol w="7432431">
                  <a:extLst>
                    <a:ext uri="{9D8B030D-6E8A-4147-A177-3AD203B41FA5}">
                      <a16:colId xmlns:a16="http://schemas.microsoft.com/office/drawing/2014/main" val="2012143890"/>
                    </a:ext>
                  </a:extLst>
                </a:gridCol>
              </a:tblGrid>
              <a:tr h="278789">
                <a:tc>
                  <a:txBody>
                    <a:bodyPr/>
                    <a:lstStyle/>
                    <a:p>
                      <a:pPr fontAlgn="ctr"/>
                      <a:r>
                        <a:rPr lang="en-CA" sz="2400" b="1" u="none" dirty="0">
                          <a:effectLst/>
                        </a:rPr>
                        <a:t>Type</a:t>
                      </a:r>
                    </a:p>
                    <a:p>
                      <a:pPr fontAlgn="ctr"/>
                      <a:endParaRPr lang="en-CA" sz="2400" b="1" u="none" dirty="0">
                        <a:effectLst/>
                      </a:endParaRP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2400" b="1" u="none" dirty="0">
                          <a:effectLst/>
                        </a:rPr>
                        <a:t>Mutable</a:t>
                      </a:r>
                    </a:p>
                    <a:p>
                      <a:pPr fontAlgn="ctr"/>
                      <a:endParaRPr lang="en-CA" sz="2400" b="1" u="none" dirty="0">
                        <a:effectLst/>
                      </a:endParaRP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2400" b="1" u="none" dirty="0">
                          <a:effectLst/>
                        </a:rPr>
                        <a:t>Ordered</a:t>
                      </a:r>
                    </a:p>
                    <a:p>
                      <a:pPr fontAlgn="ctr"/>
                      <a:endParaRPr lang="en-CA" sz="2400" b="1" u="none" dirty="0">
                        <a:effectLst/>
                      </a:endParaRP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2400" b="1" u="none" dirty="0">
                          <a:effectLst/>
                        </a:rPr>
                        <a:t>Use when …</a:t>
                      </a:r>
                    </a:p>
                    <a:p>
                      <a:pPr fontAlgn="ctr"/>
                      <a:endParaRPr lang="en-CA" sz="2400" b="1" u="none" dirty="0">
                        <a:effectLst/>
                      </a:endParaRP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5486340"/>
                  </a:ext>
                </a:extLst>
              </a:tr>
              <a:tr h="675755">
                <a:tc>
                  <a:txBody>
                    <a:bodyPr/>
                    <a:lstStyle/>
                    <a:p>
                      <a:pPr fontAlgn="ctr"/>
                      <a:r>
                        <a:rPr lang="en-CA" sz="2400" i="0" dirty="0">
                          <a:effectLst/>
                          <a:latin typeface="+mn-lt"/>
                          <a:cs typeface="Courier New" panose="02070309020205020404" pitchFamily="49" charset="0"/>
                        </a:rPr>
                        <a:t>List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2400" dirty="0">
                          <a:latin typeface="+mn-lt"/>
                          <a:cs typeface="Courier New" panose="02070309020205020404" pitchFamily="49" charset="0"/>
                        </a:rPr>
                        <a:t>Yes</a:t>
                      </a:r>
                      <a:endParaRPr lang="en-CA" sz="2400" dirty="0">
                        <a:effectLst/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2400" dirty="0">
                          <a:effectLst/>
                          <a:latin typeface="+mn-lt"/>
                          <a:cs typeface="Courier New" panose="02070309020205020404" pitchFamily="49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2400" dirty="0"/>
                        <a:t>Use a list when you want to keep track of an </a:t>
                      </a:r>
                      <a:r>
                        <a:rPr lang="en-CA" sz="2400" b="1" dirty="0"/>
                        <a:t>ordered sequence of items</a:t>
                      </a:r>
                      <a:r>
                        <a:rPr lang="en-CA" sz="2400" dirty="0"/>
                        <a:t> and may need to </a:t>
                      </a:r>
                      <a:r>
                        <a:rPr lang="en-CA" sz="2400" b="1" dirty="0"/>
                        <a:t>update, add, or remove elements</a:t>
                      </a:r>
                      <a:r>
                        <a:rPr lang="en-CA" sz="2400" dirty="0"/>
                        <a:t>.</a:t>
                      </a:r>
                      <a:endParaRPr lang="en-CA" sz="24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8790727"/>
                  </a:ext>
                </a:extLst>
              </a:tr>
              <a:tr h="675755">
                <a:tc>
                  <a:txBody>
                    <a:bodyPr/>
                    <a:lstStyle/>
                    <a:p>
                      <a:pPr fontAlgn="ctr"/>
                      <a:r>
                        <a:rPr lang="en-CA" sz="2400" i="0" dirty="0">
                          <a:effectLst/>
                          <a:latin typeface="+mn-lt"/>
                          <a:cs typeface="Courier New" panose="02070309020205020404" pitchFamily="49" charset="0"/>
                        </a:rPr>
                        <a:t>Tuple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2400" dirty="0">
                          <a:effectLst/>
                          <a:latin typeface="+mn-lt"/>
                          <a:cs typeface="Courier New" panose="02070309020205020404" pitchFamily="49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2400" dirty="0">
                          <a:effectLst/>
                          <a:latin typeface="+mn-lt"/>
                          <a:cs typeface="Courier New" panose="02070309020205020404" pitchFamily="49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2400" dirty="0"/>
                        <a:t>Use a tuple when you want an </a:t>
                      </a:r>
                      <a:r>
                        <a:rPr lang="en-CA" sz="2400" b="1" dirty="0"/>
                        <a:t>ordered sequence that should not change</a:t>
                      </a:r>
                      <a:r>
                        <a:rPr lang="en-CA" sz="2400" dirty="0"/>
                        <a:t>.</a:t>
                      </a:r>
                      <a:endParaRPr lang="en-CA" sz="24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9619491"/>
                  </a:ext>
                </a:extLst>
              </a:tr>
              <a:tr h="675755">
                <a:tc>
                  <a:txBody>
                    <a:bodyPr/>
                    <a:lstStyle/>
                    <a:p>
                      <a:pPr fontAlgn="ctr"/>
                      <a:r>
                        <a:rPr lang="en-CA" sz="2400" i="0" dirty="0">
                          <a:effectLst/>
                          <a:latin typeface="+mn-lt"/>
                          <a:cs typeface="Courier New" panose="02070309020205020404" pitchFamily="49" charset="0"/>
                        </a:rPr>
                        <a:t>Set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2400" dirty="0">
                          <a:effectLst/>
                          <a:latin typeface="+mn-lt"/>
                          <a:cs typeface="Courier New" panose="02070309020205020404" pitchFamily="49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2400" dirty="0">
                          <a:effectLst/>
                          <a:latin typeface="+mn-lt"/>
                          <a:cs typeface="Courier New" panose="02070309020205020404" pitchFamily="49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2400" dirty="0"/>
                        <a:t>Use a set when you want to </a:t>
                      </a:r>
                      <a:r>
                        <a:rPr lang="en-CA" sz="2400" b="1" dirty="0"/>
                        <a:t>store unique values</a:t>
                      </a:r>
                      <a:r>
                        <a:rPr lang="en-CA" sz="2400" dirty="0"/>
                        <a:t>, the </a:t>
                      </a:r>
                      <a:r>
                        <a:rPr lang="en-CA" sz="2400" b="1" dirty="0"/>
                        <a:t>order doesn’t matter</a:t>
                      </a:r>
                      <a:r>
                        <a:rPr lang="en-CA" sz="2400" dirty="0"/>
                        <a:t>, and the elements are </a:t>
                      </a:r>
                      <a:r>
                        <a:rPr lang="en-CA" sz="2400" b="1" dirty="0"/>
                        <a:t>immutable</a:t>
                      </a:r>
                      <a:r>
                        <a:rPr lang="en-CA" sz="2400" dirty="0"/>
                        <a:t>.</a:t>
                      </a:r>
                      <a:endParaRPr lang="en-CA" sz="24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6209938"/>
                  </a:ext>
                </a:extLst>
              </a:tr>
              <a:tr h="675755">
                <a:tc>
                  <a:txBody>
                    <a:bodyPr/>
                    <a:lstStyle/>
                    <a:p>
                      <a:pPr fontAlgn="ctr"/>
                      <a:r>
                        <a:rPr lang="en-CA" sz="2400" i="0" dirty="0" err="1">
                          <a:effectLst/>
                          <a:latin typeface="+mn-lt"/>
                          <a:cs typeface="Courier New" panose="02070309020205020404" pitchFamily="49" charset="0"/>
                        </a:rPr>
                        <a:t>Dict</a:t>
                      </a:r>
                      <a:endParaRPr lang="en-CA" sz="2400" i="0" dirty="0">
                        <a:effectLst/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2400" dirty="0">
                          <a:effectLst/>
                          <a:latin typeface="+mn-lt"/>
                          <a:cs typeface="Courier New" panose="02070309020205020404" pitchFamily="49" charset="0"/>
                        </a:rPr>
                        <a:t>Yes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2400" dirty="0">
                          <a:effectLst/>
                          <a:latin typeface="+mn-lt"/>
                          <a:cs typeface="Courier New" panose="02070309020205020404" pitchFamily="49" charset="0"/>
                        </a:rPr>
                        <a:t>No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CA" sz="2400" dirty="0"/>
                        <a:t>Use a dictionary to </a:t>
                      </a:r>
                      <a:r>
                        <a:rPr lang="en-CA" sz="2400" b="1" dirty="0"/>
                        <a:t>map keys to values</a:t>
                      </a:r>
                      <a:r>
                        <a:rPr lang="en-CA" sz="2400" dirty="0"/>
                        <a:t>. Keys must be </a:t>
                      </a:r>
                      <a:r>
                        <a:rPr lang="en-CA" sz="2400" b="1" dirty="0"/>
                        <a:t>immutable</a:t>
                      </a:r>
                      <a:r>
                        <a:rPr lang="en-CA" sz="2400" dirty="0"/>
                        <a:t>, while values can be any type</a:t>
                      </a:r>
                      <a:endParaRPr lang="en-CA" sz="24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01171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781545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B87AC0-C648-61ED-A3CF-8CE4D1A2F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C12AF-65E8-0078-2741-1E6759991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What are iteration and loops?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F25851-D0B4-9BE8-44E7-A9A8593091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r>
              <a:rPr lang="en-CA" sz="2400" dirty="0">
                <a:solidFill>
                  <a:schemeClr val="bg1"/>
                </a:solidFill>
              </a:rPr>
              <a:t>Sometimes we need to </a:t>
            </a:r>
            <a:r>
              <a:rPr lang="en-CA" sz="2400" b="1" dirty="0">
                <a:solidFill>
                  <a:schemeClr val="bg1"/>
                </a:solidFill>
              </a:rPr>
              <a:t>repeat code</a:t>
            </a:r>
            <a:r>
              <a:rPr lang="en-CA" sz="2400" dirty="0">
                <a:solidFill>
                  <a:schemeClr val="bg1"/>
                </a:solidFill>
              </a:rPr>
              <a:t> multiple times or process </a:t>
            </a:r>
            <a:r>
              <a:rPr lang="en-CA" sz="2400" b="1" dirty="0">
                <a:solidFill>
                  <a:schemeClr val="bg1"/>
                </a:solidFill>
              </a:rPr>
              <a:t>each item in a collection</a:t>
            </a:r>
            <a:r>
              <a:rPr lang="en-CA" sz="2400" dirty="0">
                <a:solidFill>
                  <a:schemeClr val="bg1"/>
                </a:solidFill>
              </a:rPr>
              <a:t>.</a:t>
            </a:r>
          </a:p>
          <a:p>
            <a:endParaRPr lang="en-CA" sz="2400" dirty="0">
              <a:solidFill>
                <a:schemeClr val="bg1"/>
              </a:solidFill>
            </a:endParaRPr>
          </a:p>
          <a:p>
            <a:r>
              <a:rPr lang="en-CA" sz="2400" dirty="0">
                <a:solidFill>
                  <a:schemeClr val="bg1"/>
                </a:solidFill>
              </a:rPr>
              <a:t>Copy/pasting is inefficient and error-prone → use </a:t>
            </a:r>
            <a:r>
              <a:rPr lang="en-CA" sz="2400" b="1" dirty="0">
                <a:solidFill>
                  <a:schemeClr val="bg1"/>
                </a:solidFill>
              </a:rPr>
              <a:t>loops</a:t>
            </a:r>
            <a:r>
              <a:rPr lang="en-CA" sz="2400" dirty="0">
                <a:solidFill>
                  <a:schemeClr val="bg1"/>
                </a:solidFill>
              </a:rPr>
              <a:t>.</a:t>
            </a:r>
          </a:p>
          <a:p>
            <a:endParaRPr lang="en-CA" sz="2400" dirty="0">
              <a:solidFill>
                <a:schemeClr val="bg1"/>
              </a:solidFill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n-CA" sz="2400" dirty="0">
                <a:solidFill>
                  <a:schemeClr val="bg1"/>
                </a:solidFill>
              </a:rPr>
              <a:t>Python Loops</a:t>
            </a:r>
          </a:p>
          <a:p>
            <a:pPr marL="457200" lvl="1" indent="0">
              <a:buNone/>
            </a:pPr>
            <a:r>
              <a:rPr lang="en-CA" dirty="0">
                <a:solidFill>
                  <a:schemeClr val="bg1"/>
                </a:solidFill>
              </a:rPr>
              <a:t>1. </a:t>
            </a:r>
            <a:r>
              <a:rPr lang="en-CA" b="1" dirty="0">
                <a:solidFill>
                  <a:schemeClr val="bg1"/>
                </a:solidFill>
              </a:rPr>
              <a:t>for loops </a:t>
            </a:r>
            <a:r>
              <a:rPr lang="en-CA" dirty="0">
                <a:solidFill>
                  <a:schemeClr val="bg1"/>
                </a:solidFill>
              </a:rPr>
              <a:t>– repeat code for each item in an </a:t>
            </a:r>
            <a:r>
              <a:rPr lang="en-CA" dirty="0" err="1">
                <a:solidFill>
                  <a:schemeClr val="bg1"/>
                </a:solidFill>
              </a:rPr>
              <a:t>iterable</a:t>
            </a:r>
            <a:r>
              <a:rPr lang="en-CA" dirty="0">
                <a:solidFill>
                  <a:schemeClr val="bg1"/>
                </a:solidFill>
              </a:rPr>
              <a:t> (list, tuple, set, dictionary, string, etc.).</a:t>
            </a:r>
          </a:p>
          <a:p>
            <a:pPr marL="457200" lvl="1" indent="0">
              <a:buNone/>
            </a:pPr>
            <a:r>
              <a:rPr lang="en-CA" dirty="0">
                <a:solidFill>
                  <a:schemeClr val="bg1"/>
                </a:solidFill>
              </a:rPr>
              <a:t>2. </a:t>
            </a:r>
            <a:r>
              <a:rPr lang="en-CA" b="1" dirty="0">
                <a:solidFill>
                  <a:schemeClr val="bg1"/>
                </a:solidFill>
              </a:rPr>
              <a:t>while loops </a:t>
            </a:r>
            <a:r>
              <a:rPr lang="en-CA" dirty="0">
                <a:solidFill>
                  <a:schemeClr val="bg1"/>
                </a:solidFill>
              </a:rPr>
              <a:t>– repeat code while a condition is True.</a:t>
            </a:r>
          </a:p>
          <a:p>
            <a:pPr>
              <a:buFont typeface="Courier New" panose="02070309020205020404" pitchFamily="49" charset="0"/>
              <a:buChar char="o"/>
            </a:pPr>
            <a:endParaRPr lang="en-CA" dirty="0">
              <a:solidFill>
                <a:schemeClr val="bg1"/>
              </a:solidFill>
            </a:endParaRPr>
          </a:p>
        </p:txBody>
      </p:sp>
      <p:pic>
        <p:nvPicPr>
          <p:cNvPr id="5" name="Graphic 4" descr="Repeat with solid fill">
            <a:extLst>
              <a:ext uri="{FF2B5EF4-FFF2-40B4-BE49-F238E27FC236}">
                <a16:creationId xmlns:a16="http://schemas.microsoft.com/office/drawing/2014/main" id="{8D6152EA-E6C9-4453-8B03-D26765EA7D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29526" y="1842866"/>
            <a:ext cx="2396417" cy="2396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65000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D83877-A919-16FD-D583-71A26F02F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25BF1-02A6-D043-FF4A-E34268C72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For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10739F-6F9E-B6C9-2281-C391BEA0D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CA" sz="2400" dirty="0">
                <a:solidFill>
                  <a:schemeClr val="bg1"/>
                </a:solidFill>
              </a:rPr>
              <a:t>A for loop </a:t>
            </a:r>
            <a:r>
              <a:rPr lang="en-CA" sz="2400" b="1" dirty="0">
                <a:solidFill>
                  <a:schemeClr val="bg1"/>
                </a:solidFill>
              </a:rPr>
              <a:t>repeats a block of code</a:t>
            </a:r>
            <a:r>
              <a:rPr lang="en-CA" sz="2400" dirty="0">
                <a:solidFill>
                  <a:schemeClr val="bg1"/>
                </a:solidFill>
              </a:rPr>
              <a:t> for every item in a collection (called an </a:t>
            </a:r>
            <a:r>
              <a:rPr lang="en-CA" sz="2400" b="1" dirty="0" err="1">
                <a:solidFill>
                  <a:schemeClr val="bg1"/>
                </a:solidFill>
              </a:rPr>
              <a:t>iterable</a:t>
            </a:r>
            <a:r>
              <a:rPr lang="en-CA" sz="2400" dirty="0">
                <a:solidFill>
                  <a:schemeClr val="bg1"/>
                </a:solidFill>
              </a:rPr>
              <a:t>).</a:t>
            </a:r>
            <a:br>
              <a:rPr lang="en-CA" sz="2400" dirty="0">
                <a:solidFill>
                  <a:schemeClr val="bg1"/>
                </a:solidFill>
              </a:rPr>
            </a:br>
            <a:r>
              <a:rPr lang="en-CA" sz="2400" dirty="0">
                <a:solidFill>
                  <a:schemeClr val="bg1"/>
                </a:solidFill>
              </a:rPr>
              <a:t>You need a </a:t>
            </a:r>
            <a:r>
              <a:rPr lang="en-CA" sz="2400" b="1" dirty="0">
                <a:solidFill>
                  <a:schemeClr val="bg1"/>
                </a:solidFill>
              </a:rPr>
              <a:t>variable name</a:t>
            </a:r>
            <a:r>
              <a:rPr lang="en-CA" sz="2400" dirty="0">
                <a:solidFill>
                  <a:schemeClr val="bg1"/>
                </a:solidFill>
              </a:rPr>
              <a:t> to refer to each item while looping.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CA" dirty="0">
                <a:solidFill>
                  <a:schemeClr val="bg1"/>
                </a:solidFill>
              </a:rPr>
              <a:t>Use a name that </a:t>
            </a:r>
            <a:r>
              <a:rPr lang="en-CA" b="1" dirty="0">
                <a:solidFill>
                  <a:schemeClr val="bg1"/>
                </a:solidFill>
              </a:rPr>
              <a:t>makes sense</a:t>
            </a:r>
            <a:r>
              <a:rPr lang="en-CA" dirty="0">
                <a:solidFill>
                  <a:schemeClr val="bg1"/>
                </a:solidFill>
              </a:rPr>
              <a:t> (fruit, number, word)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CA" dirty="0">
                <a:solidFill>
                  <a:schemeClr val="bg1"/>
                </a:solidFill>
              </a:rPr>
              <a:t>If unsure, i is a common choice.</a:t>
            </a:r>
          </a:p>
          <a:p>
            <a:pPr>
              <a:buFont typeface="Courier New" panose="02070309020205020404" pitchFamily="49" charset="0"/>
              <a:buChar char="o"/>
            </a:pP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15795C-0B68-4495-D223-A12E47737679}"/>
              </a:ext>
            </a:extLst>
          </p:cNvPr>
          <p:cNvSpPr txBox="1"/>
          <p:nvPr/>
        </p:nvSpPr>
        <p:spPr>
          <a:xfrm>
            <a:off x="1025685" y="3924407"/>
            <a:ext cx="10787743" cy="2893100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vowels =[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'a', 'e', 'i', 'o', 'u’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]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rgbClr val="156082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for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vowel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vowels: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	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print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(vowel)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2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</a:t>
            </a:r>
            <a:endParaRPr kumimoji="0" lang="en-CA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2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</a:t>
            </a:r>
            <a:endParaRPr kumimoji="0" lang="en-CA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6" name="5-Point Star 5">
            <a:extLst>
              <a:ext uri="{FF2B5EF4-FFF2-40B4-BE49-F238E27FC236}">
                <a16:creationId xmlns:a16="http://schemas.microsoft.com/office/drawing/2014/main" id="{D40CD851-8D2C-DEAE-2E01-AAEC9B5C7A8D}"/>
              </a:ext>
            </a:extLst>
          </p:cNvPr>
          <p:cNvSpPr/>
          <p:nvPr/>
        </p:nvSpPr>
        <p:spPr>
          <a:xfrm>
            <a:off x="2841674" y="3530989"/>
            <a:ext cx="450166" cy="449689"/>
          </a:xfrm>
          <a:prstGeom prst="star5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36976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883B1E-2567-E7A7-6DE4-7D0E05FAF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4426D-C495-3B92-10A0-69468545B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For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A5C7F-2DD4-8AA6-D099-D2DD580760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CA" sz="2400" dirty="0">
                <a:solidFill>
                  <a:schemeClr val="bg1"/>
                </a:solidFill>
              </a:rPr>
              <a:t>A for loop </a:t>
            </a:r>
            <a:r>
              <a:rPr lang="en-CA" sz="2400" b="1" dirty="0">
                <a:solidFill>
                  <a:schemeClr val="bg1"/>
                </a:solidFill>
              </a:rPr>
              <a:t>repeats a block of code</a:t>
            </a:r>
            <a:r>
              <a:rPr lang="en-CA" sz="2400" dirty="0">
                <a:solidFill>
                  <a:schemeClr val="bg1"/>
                </a:solidFill>
              </a:rPr>
              <a:t> for every item in a collection (called an </a:t>
            </a:r>
            <a:r>
              <a:rPr lang="en-CA" sz="2400" b="1" dirty="0" err="1">
                <a:solidFill>
                  <a:schemeClr val="bg1"/>
                </a:solidFill>
              </a:rPr>
              <a:t>iterable</a:t>
            </a:r>
            <a:r>
              <a:rPr lang="en-CA" sz="2400" dirty="0">
                <a:solidFill>
                  <a:schemeClr val="bg1"/>
                </a:solidFill>
              </a:rPr>
              <a:t>).</a:t>
            </a:r>
            <a:br>
              <a:rPr lang="en-CA" sz="2400" dirty="0">
                <a:solidFill>
                  <a:schemeClr val="bg1"/>
                </a:solidFill>
              </a:rPr>
            </a:br>
            <a:r>
              <a:rPr lang="en-CA" sz="2400" dirty="0">
                <a:solidFill>
                  <a:schemeClr val="bg1"/>
                </a:solidFill>
              </a:rPr>
              <a:t>You need a </a:t>
            </a:r>
            <a:r>
              <a:rPr lang="en-CA" sz="2400" b="1" dirty="0">
                <a:solidFill>
                  <a:schemeClr val="bg1"/>
                </a:solidFill>
              </a:rPr>
              <a:t>variable name</a:t>
            </a:r>
            <a:r>
              <a:rPr lang="en-CA" sz="2400" dirty="0">
                <a:solidFill>
                  <a:schemeClr val="bg1"/>
                </a:solidFill>
              </a:rPr>
              <a:t> to refer to each item while looping.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CA" dirty="0">
                <a:solidFill>
                  <a:schemeClr val="bg1"/>
                </a:solidFill>
              </a:rPr>
              <a:t>Use a name that </a:t>
            </a:r>
            <a:r>
              <a:rPr lang="en-CA" b="1" dirty="0">
                <a:solidFill>
                  <a:schemeClr val="bg1"/>
                </a:solidFill>
              </a:rPr>
              <a:t>makes sense</a:t>
            </a:r>
            <a:r>
              <a:rPr lang="en-CA" dirty="0">
                <a:solidFill>
                  <a:schemeClr val="bg1"/>
                </a:solidFill>
              </a:rPr>
              <a:t> (fruit, number, word)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CA" dirty="0">
                <a:solidFill>
                  <a:schemeClr val="bg1"/>
                </a:solidFill>
              </a:rPr>
              <a:t>If unsure, i is a common choice.</a:t>
            </a:r>
          </a:p>
          <a:p>
            <a:pPr>
              <a:buFont typeface="Courier New" panose="02070309020205020404" pitchFamily="49" charset="0"/>
              <a:buChar char="o"/>
            </a:pP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867D39-0090-4C21-ACC0-B8F8440A3A89}"/>
              </a:ext>
            </a:extLst>
          </p:cNvPr>
          <p:cNvSpPr txBox="1"/>
          <p:nvPr/>
        </p:nvSpPr>
        <p:spPr>
          <a:xfrm>
            <a:off x="1025685" y="3924407"/>
            <a:ext cx="10787743" cy="2893100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vowels =[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'a', 'e', 'i', 'o', 'u’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]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rgbClr val="156082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for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vowel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vowels: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	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print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(vowel)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2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</a:t>
            </a:r>
            <a:endParaRPr kumimoji="0" lang="en-CA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2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</a:t>
            </a:r>
            <a:endParaRPr kumimoji="0" lang="en-CA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6" name="5-Point Star 5">
            <a:extLst>
              <a:ext uri="{FF2B5EF4-FFF2-40B4-BE49-F238E27FC236}">
                <a16:creationId xmlns:a16="http://schemas.microsoft.com/office/drawing/2014/main" id="{C5E6A9FB-D4CB-7F5A-D7FB-EF9B43702B18}"/>
              </a:ext>
            </a:extLst>
          </p:cNvPr>
          <p:cNvSpPr/>
          <p:nvPr/>
        </p:nvSpPr>
        <p:spPr>
          <a:xfrm>
            <a:off x="3756074" y="3530989"/>
            <a:ext cx="450166" cy="449689"/>
          </a:xfrm>
          <a:prstGeom prst="star5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999274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FDF28F-BCD2-666C-7B5B-0C323B74C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F4F78-989E-F0D2-638D-351AF20E9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For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96D5D9-C816-AA1D-13D2-8445A4977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CA" sz="2400" dirty="0">
                <a:solidFill>
                  <a:schemeClr val="bg1"/>
                </a:solidFill>
              </a:rPr>
              <a:t>A for loop </a:t>
            </a:r>
            <a:r>
              <a:rPr lang="en-CA" sz="2400" b="1" dirty="0">
                <a:solidFill>
                  <a:schemeClr val="bg1"/>
                </a:solidFill>
              </a:rPr>
              <a:t>repeats a block of code</a:t>
            </a:r>
            <a:r>
              <a:rPr lang="en-CA" sz="2400" dirty="0">
                <a:solidFill>
                  <a:schemeClr val="bg1"/>
                </a:solidFill>
              </a:rPr>
              <a:t> for every item in a collection (called an </a:t>
            </a:r>
            <a:r>
              <a:rPr lang="en-CA" sz="2400" b="1" dirty="0" err="1">
                <a:solidFill>
                  <a:schemeClr val="bg1"/>
                </a:solidFill>
              </a:rPr>
              <a:t>iterable</a:t>
            </a:r>
            <a:r>
              <a:rPr lang="en-CA" sz="2400" dirty="0">
                <a:solidFill>
                  <a:schemeClr val="bg1"/>
                </a:solidFill>
              </a:rPr>
              <a:t>).</a:t>
            </a:r>
            <a:br>
              <a:rPr lang="en-CA" sz="2400" dirty="0">
                <a:solidFill>
                  <a:schemeClr val="bg1"/>
                </a:solidFill>
              </a:rPr>
            </a:br>
            <a:r>
              <a:rPr lang="en-CA" sz="2400" dirty="0">
                <a:solidFill>
                  <a:schemeClr val="bg1"/>
                </a:solidFill>
              </a:rPr>
              <a:t>You need a </a:t>
            </a:r>
            <a:r>
              <a:rPr lang="en-CA" sz="2400" b="1" dirty="0">
                <a:solidFill>
                  <a:schemeClr val="bg1"/>
                </a:solidFill>
              </a:rPr>
              <a:t>variable name</a:t>
            </a:r>
            <a:r>
              <a:rPr lang="en-CA" sz="2400" dirty="0">
                <a:solidFill>
                  <a:schemeClr val="bg1"/>
                </a:solidFill>
              </a:rPr>
              <a:t> to refer to each item while looping.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CA" dirty="0">
                <a:solidFill>
                  <a:schemeClr val="bg1"/>
                </a:solidFill>
              </a:rPr>
              <a:t>Use a name that </a:t>
            </a:r>
            <a:r>
              <a:rPr lang="en-CA" b="1" dirty="0">
                <a:solidFill>
                  <a:schemeClr val="bg1"/>
                </a:solidFill>
              </a:rPr>
              <a:t>makes sense</a:t>
            </a:r>
            <a:r>
              <a:rPr lang="en-CA" dirty="0">
                <a:solidFill>
                  <a:schemeClr val="bg1"/>
                </a:solidFill>
              </a:rPr>
              <a:t> (fruit, number, word)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CA" dirty="0">
                <a:solidFill>
                  <a:schemeClr val="bg1"/>
                </a:solidFill>
              </a:rPr>
              <a:t>If unsure, i is a common choice.</a:t>
            </a:r>
          </a:p>
          <a:p>
            <a:pPr>
              <a:buFont typeface="Courier New" panose="02070309020205020404" pitchFamily="49" charset="0"/>
              <a:buChar char="o"/>
            </a:pP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E0E2FA-BC49-BB05-E878-466FB8679424}"/>
              </a:ext>
            </a:extLst>
          </p:cNvPr>
          <p:cNvSpPr txBox="1"/>
          <p:nvPr/>
        </p:nvSpPr>
        <p:spPr>
          <a:xfrm>
            <a:off x="1025685" y="3924407"/>
            <a:ext cx="10787743" cy="2893100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vowels =[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'a', 'e', 'i', 'o', 'u’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]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rgbClr val="156082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for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vowel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vowels: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	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print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(vowel)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2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</a:t>
            </a:r>
            <a:endParaRPr kumimoji="0" lang="en-CA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2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</a:t>
            </a:r>
            <a:endParaRPr kumimoji="0" lang="en-CA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6" name="5-Point Star 5">
            <a:extLst>
              <a:ext uri="{FF2B5EF4-FFF2-40B4-BE49-F238E27FC236}">
                <a16:creationId xmlns:a16="http://schemas.microsoft.com/office/drawing/2014/main" id="{D8810EFF-0ACB-1FF9-DBE2-199E6B26531B}"/>
              </a:ext>
            </a:extLst>
          </p:cNvPr>
          <p:cNvSpPr/>
          <p:nvPr/>
        </p:nvSpPr>
        <p:spPr>
          <a:xfrm>
            <a:off x="4628271" y="3488787"/>
            <a:ext cx="450166" cy="449689"/>
          </a:xfrm>
          <a:prstGeom prst="star5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189205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766F17-A056-5F8E-86C3-C8B7C7E05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B3226-D437-F103-AFF8-FD9687DA5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For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2058F-87DD-50C8-8EF2-EA5F5AD714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CA" sz="2400" dirty="0">
                <a:solidFill>
                  <a:schemeClr val="bg1"/>
                </a:solidFill>
              </a:rPr>
              <a:t>A for loop </a:t>
            </a:r>
            <a:r>
              <a:rPr lang="en-CA" sz="2400" b="1" dirty="0">
                <a:solidFill>
                  <a:schemeClr val="bg1"/>
                </a:solidFill>
              </a:rPr>
              <a:t>repeats a block of code</a:t>
            </a:r>
            <a:r>
              <a:rPr lang="en-CA" sz="2400" dirty="0">
                <a:solidFill>
                  <a:schemeClr val="bg1"/>
                </a:solidFill>
              </a:rPr>
              <a:t> for every item in a collection (called an </a:t>
            </a:r>
            <a:r>
              <a:rPr lang="en-CA" sz="2400" b="1" dirty="0" err="1">
                <a:solidFill>
                  <a:schemeClr val="bg1"/>
                </a:solidFill>
              </a:rPr>
              <a:t>iterable</a:t>
            </a:r>
            <a:r>
              <a:rPr lang="en-CA" sz="2400" dirty="0">
                <a:solidFill>
                  <a:schemeClr val="bg1"/>
                </a:solidFill>
              </a:rPr>
              <a:t>).</a:t>
            </a:r>
            <a:br>
              <a:rPr lang="en-CA" sz="2400" dirty="0">
                <a:solidFill>
                  <a:schemeClr val="bg1"/>
                </a:solidFill>
              </a:rPr>
            </a:br>
            <a:r>
              <a:rPr lang="en-CA" sz="2400" dirty="0">
                <a:solidFill>
                  <a:schemeClr val="bg1"/>
                </a:solidFill>
              </a:rPr>
              <a:t>You need a </a:t>
            </a:r>
            <a:r>
              <a:rPr lang="en-CA" sz="2400" b="1" dirty="0">
                <a:solidFill>
                  <a:schemeClr val="bg1"/>
                </a:solidFill>
              </a:rPr>
              <a:t>variable name</a:t>
            </a:r>
            <a:r>
              <a:rPr lang="en-CA" sz="2400" dirty="0">
                <a:solidFill>
                  <a:schemeClr val="bg1"/>
                </a:solidFill>
              </a:rPr>
              <a:t> to refer to each item while looping.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CA" dirty="0">
                <a:solidFill>
                  <a:schemeClr val="bg1"/>
                </a:solidFill>
              </a:rPr>
              <a:t>Use a name that </a:t>
            </a:r>
            <a:r>
              <a:rPr lang="en-CA" b="1" dirty="0">
                <a:solidFill>
                  <a:schemeClr val="bg1"/>
                </a:solidFill>
              </a:rPr>
              <a:t>makes sense</a:t>
            </a:r>
            <a:r>
              <a:rPr lang="en-CA" dirty="0">
                <a:solidFill>
                  <a:schemeClr val="bg1"/>
                </a:solidFill>
              </a:rPr>
              <a:t> (fruit, number, word)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CA" dirty="0">
                <a:solidFill>
                  <a:schemeClr val="bg1"/>
                </a:solidFill>
              </a:rPr>
              <a:t>If unsure, i is a common choice.</a:t>
            </a:r>
          </a:p>
          <a:p>
            <a:pPr>
              <a:buFont typeface="Courier New" panose="02070309020205020404" pitchFamily="49" charset="0"/>
              <a:buChar char="o"/>
            </a:pP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7F1D9F-2FA8-BAB5-7EA2-9C3CD1185749}"/>
              </a:ext>
            </a:extLst>
          </p:cNvPr>
          <p:cNvSpPr txBox="1"/>
          <p:nvPr/>
        </p:nvSpPr>
        <p:spPr>
          <a:xfrm>
            <a:off x="1025685" y="3924407"/>
            <a:ext cx="10787743" cy="2893100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vowels =[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'a', 'e', 'i', 'o', 'u’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]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rgbClr val="156082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for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vowel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vowels: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	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print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(vowel)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2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</a:t>
            </a:r>
            <a:endParaRPr kumimoji="0" lang="en-CA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2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</a:t>
            </a:r>
            <a:endParaRPr kumimoji="0" lang="en-CA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6" name="5-Point Star 5">
            <a:extLst>
              <a:ext uri="{FF2B5EF4-FFF2-40B4-BE49-F238E27FC236}">
                <a16:creationId xmlns:a16="http://schemas.microsoft.com/office/drawing/2014/main" id="{830AF6CA-B55E-0827-54C8-AFED939CBC4A}"/>
              </a:ext>
            </a:extLst>
          </p:cNvPr>
          <p:cNvSpPr/>
          <p:nvPr/>
        </p:nvSpPr>
        <p:spPr>
          <a:xfrm>
            <a:off x="5542670" y="3516922"/>
            <a:ext cx="450166" cy="449689"/>
          </a:xfrm>
          <a:prstGeom prst="star5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271587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DEF881-62A2-B66F-A466-6C3A6CE02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CFD27-EEC1-B32D-5092-493680874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For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E6A4C-8D3D-4DA0-E7A6-8E5993FD4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CA" sz="2400" dirty="0">
                <a:solidFill>
                  <a:schemeClr val="bg1"/>
                </a:solidFill>
              </a:rPr>
              <a:t>A for loop </a:t>
            </a:r>
            <a:r>
              <a:rPr lang="en-CA" sz="2400" b="1" dirty="0">
                <a:solidFill>
                  <a:schemeClr val="bg1"/>
                </a:solidFill>
              </a:rPr>
              <a:t>repeats a block of code</a:t>
            </a:r>
            <a:r>
              <a:rPr lang="en-CA" sz="2400" dirty="0">
                <a:solidFill>
                  <a:schemeClr val="bg1"/>
                </a:solidFill>
              </a:rPr>
              <a:t> for every item in a collection (called an </a:t>
            </a:r>
            <a:r>
              <a:rPr lang="en-CA" sz="2400" b="1" dirty="0" err="1">
                <a:solidFill>
                  <a:schemeClr val="bg1"/>
                </a:solidFill>
              </a:rPr>
              <a:t>iterable</a:t>
            </a:r>
            <a:r>
              <a:rPr lang="en-CA" sz="2400" dirty="0">
                <a:solidFill>
                  <a:schemeClr val="bg1"/>
                </a:solidFill>
              </a:rPr>
              <a:t>).</a:t>
            </a:r>
            <a:br>
              <a:rPr lang="en-CA" sz="2400" dirty="0">
                <a:solidFill>
                  <a:schemeClr val="bg1"/>
                </a:solidFill>
              </a:rPr>
            </a:br>
            <a:r>
              <a:rPr lang="en-CA" sz="2400" dirty="0">
                <a:solidFill>
                  <a:schemeClr val="bg1"/>
                </a:solidFill>
              </a:rPr>
              <a:t>You need a </a:t>
            </a:r>
            <a:r>
              <a:rPr lang="en-CA" sz="2400" b="1" dirty="0">
                <a:solidFill>
                  <a:schemeClr val="bg1"/>
                </a:solidFill>
              </a:rPr>
              <a:t>variable name</a:t>
            </a:r>
            <a:r>
              <a:rPr lang="en-CA" sz="2400" dirty="0">
                <a:solidFill>
                  <a:schemeClr val="bg1"/>
                </a:solidFill>
              </a:rPr>
              <a:t> to refer to each item while looping.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CA" dirty="0">
                <a:solidFill>
                  <a:schemeClr val="bg1"/>
                </a:solidFill>
              </a:rPr>
              <a:t>Use a name that </a:t>
            </a:r>
            <a:r>
              <a:rPr lang="en-CA" b="1" dirty="0">
                <a:solidFill>
                  <a:schemeClr val="bg1"/>
                </a:solidFill>
              </a:rPr>
              <a:t>makes sense</a:t>
            </a:r>
            <a:r>
              <a:rPr lang="en-CA" dirty="0">
                <a:solidFill>
                  <a:schemeClr val="bg1"/>
                </a:solidFill>
              </a:rPr>
              <a:t> (fruit, number, word)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CA" dirty="0">
                <a:solidFill>
                  <a:schemeClr val="bg1"/>
                </a:solidFill>
              </a:rPr>
              <a:t>If unsure, i is a common choice.</a:t>
            </a:r>
          </a:p>
          <a:p>
            <a:pPr>
              <a:buFont typeface="Courier New" panose="02070309020205020404" pitchFamily="49" charset="0"/>
              <a:buChar char="o"/>
            </a:pP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0FB01D-B679-B478-74E8-CCC2727BF8F2}"/>
              </a:ext>
            </a:extLst>
          </p:cNvPr>
          <p:cNvSpPr txBox="1"/>
          <p:nvPr/>
        </p:nvSpPr>
        <p:spPr>
          <a:xfrm>
            <a:off x="1025685" y="3924407"/>
            <a:ext cx="10787743" cy="2893100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vowels =[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'a', 'e', 'i', 'o', 'u’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]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rgbClr val="156082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for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vowel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vowels: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	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print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(vowel)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2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</a:t>
            </a:r>
            <a:endParaRPr kumimoji="0" lang="en-CA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2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</a:t>
            </a:r>
            <a:endParaRPr kumimoji="0" lang="en-CA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6" name="5-Point Star 5">
            <a:extLst>
              <a:ext uri="{FF2B5EF4-FFF2-40B4-BE49-F238E27FC236}">
                <a16:creationId xmlns:a16="http://schemas.microsoft.com/office/drawing/2014/main" id="{5C77A50B-DB31-4C25-256F-932D7BDF4D7B}"/>
              </a:ext>
            </a:extLst>
          </p:cNvPr>
          <p:cNvSpPr/>
          <p:nvPr/>
        </p:nvSpPr>
        <p:spPr>
          <a:xfrm>
            <a:off x="6475828" y="3474718"/>
            <a:ext cx="450166" cy="449689"/>
          </a:xfrm>
          <a:prstGeom prst="star5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709755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7A4A26-8568-44E2-63B0-BEAD27894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7AE83-E094-8C80-A73C-491F54860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For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D2F9BF-AFD9-F15D-CE5C-6684CE95EA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CA" sz="2400" dirty="0">
                <a:solidFill>
                  <a:schemeClr val="bg1"/>
                </a:solidFill>
              </a:rPr>
              <a:t>If we wanted to simply run a block of code n number of times, we use the 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range() </a:t>
            </a:r>
            <a:r>
              <a:rPr lang="en-CA" sz="2400" dirty="0">
                <a:solidFill>
                  <a:schemeClr val="bg1"/>
                </a:solidFill>
              </a:rPr>
              <a:t>function to create an </a:t>
            </a:r>
            <a:r>
              <a:rPr lang="en-CA" sz="2400" dirty="0" err="1">
                <a:solidFill>
                  <a:schemeClr val="bg1"/>
                </a:solidFill>
              </a:rPr>
              <a:t>iterable</a:t>
            </a:r>
            <a:r>
              <a:rPr lang="en-CA" sz="2400" dirty="0">
                <a:solidFill>
                  <a:schemeClr val="bg1"/>
                </a:solidFill>
              </a:rPr>
              <a:t> to loop over</a:t>
            </a:r>
            <a:endParaRPr lang="en-CA" dirty="0">
              <a:solidFill>
                <a:schemeClr val="bg1"/>
              </a:solidFill>
            </a:endParaRPr>
          </a:p>
          <a:p>
            <a:pPr>
              <a:buFont typeface="Courier New" panose="02070309020205020404" pitchFamily="49" charset="0"/>
              <a:buChar char="o"/>
            </a:pP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DCBB17-7C04-0858-9719-48D6DCE527CC}"/>
              </a:ext>
            </a:extLst>
          </p:cNvPr>
          <p:cNvSpPr txBox="1"/>
          <p:nvPr/>
        </p:nvSpPr>
        <p:spPr>
          <a:xfrm>
            <a:off x="1025685" y="2901807"/>
            <a:ext cx="10787743" cy="2523768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for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i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range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(5):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	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print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(i, i*2)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0 0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2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1 2</a:t>
            </a:r>
            <a:endParaRPr kumimoji="0" lang="en-CA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2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2 4</a:t>
            </a:r>
            <a:endParaRPr kumimoji="0" lang="en-CA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2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3 6</a:t>
            </a:r>
            <a:endParaRPr kumimoji="0" lang="en-CA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2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4 8</a:t>
            </a:r>
            <a:endParaRPr kumimoji="0" lang="en-CA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F2F336-D3EB-E563-0138-73E96EA3D6CC}"/>
              </a:ext>
            </a:extLst>
          </p:cNvPr>
          <p:cNvSpPr txBox="1"/>
          <p:nvPr/>
        </p:nvSpPr>
        <p:spPr>
          <a:xfrm>
            <a:off x="7753845" y="4271413"/>
            <a:ext cx="3872098" cy="193899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kumimoji="0" lang="en-CA" sz="240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Recall</a:t>
            </a:r>
            <a:r>
              <a:rPr kumimoji="0" lang="en-CA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: The range() function generates a sequence of numbers. </a:t>
            </a:r>
            <a:r>
              <a:rPr lang="en-CA" sz="2400" dirty="0">
                <a:solidFill>
                  <a:prstClr val="black"/>
                </a:solidFill>
                <a:latin typeface="Aptos" panose="02110004020202020204"/>
              </a:rPr>
              <a:t>T</a:t>
            </a:r>
            <a:r>
              <a:rPr kumimoji="0" lang="en-CA" sz="24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he stop number is not included.</a:t>
            </a:r>
          </a:p>
          <a:p>
            <a:endParaRPr kumimoji="0" lang="en-CA" sz="2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995840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2485D4-5AF7-BC10-4C48-1D3BDEC3E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53367-513B-BAA5-5BA2-5D8168CBE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For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0FF2D-367C-1C74-E2FF-2D4FC42E0E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CA" sz="2400" dirty="0">
                <a:solidFill>
                  <a:schemeClr val="bg1"/>
                </a:solidFill>
              </a:rPr>
              <a:t>We can loop through lists and create new modified ones!</a:t>
            </a:r>
            <a:endParaRPr lang="en-CA" dirty="0">
              <a:solidFill>
                <a:schemeClr val="bg1"/>
              </a:solidFill>
            </a:endParaRPr>
          </a:p>
          <a:p>
            <a:pPr>
              <a:buFont typeface="Courier New" panose="02070309020205020404" pitchFamily="49" charset="0"/>
              <a:buChar char="o"/>
            </a:pP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65FB6E-F489-7FEF-59EE-1B74C911A511}"/>
              </a:ext>
            </a:extLst>
          </p:cNvPr>
          <p:cNvSpPr txBox="1"/>
          <p:nvPr/>
        </p:nvSpPr>
        <p:spPr>
          <a:xfrm>
            <a:off x="247063" y="2112808"/>
            <a:ext cx="11697873" cy="452431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input_files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= [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'data_01.csv', 'data_02.csv', 'data_03.csv', 'data_04.csv’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]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chemeClr val="accent6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output_files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= []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</a:b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for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i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input_files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:</a:t>
            </a:r>
          </a:p>
          <a:p>
            <a:pPr lvl="1">
              <a:defRPr/>
            </a:pP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output_file_name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=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'processed_'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+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i.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replace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'.csv', '.xlsx'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</a:t>
            </a:r>
          </a:p>
          <a:p>
            <a:pPr lvl="1">
              <a:defRPr/>
            </a:pP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output_files.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append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output_file_name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)</a:t>
            </a:r>
          </a:p>
          <a:p>
            <a:pPr>
              <a:defRPr/>
            </a:pPr>
            <a:b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</a:b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output_files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# ['processed_data_01.xlsx', 'processed_data_02.xlsx’, </a:t>
            </a:r>
          </a:p>
          <a:p>
            <a:pPr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'processed_data_03.xlsx’, </a:t>
            </a:r>
          </a:p>
          <a:p>
            <a:pPr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'processed_data_04.xlsx']</a:t>
            </a:r>
          </a:p>
        </p:txBody>
      </p:sp>
    </p:spTree>
    <p:extLst>
      <p:ext uri="{BB962C8B-B14F-4D97-AF65-F5344CB8AC3E}">
        <p14:creationId xmlns:p14="http://schemas.microsoft.com/office/powerpoint/2010/main" val="992414764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5140C8-4C1F-E448-F19C-CBCC74CCD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ECE11-A7A6-7108-2CF3-A107F7267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Quiz: For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79D641-C99D-6A8E-0A9A-93212DE887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 marL="457200" indent="-457200">
              <a:buFont typeface="Arial" panose="020B0604020202020204" pitchFamily="34" charset="0"/>
              <a:buAutoNum type="arabicPeriod"/>
            </a:pPr>
            <a:r>
              <a:rPr lang="en-CA" sz="2400" b="1" dirty="0">
                <a:solidFill>
                  <a:schemeClr val="bg1"/>
                </a:solidFill>
              </a:rPr>
              <a:t>What does the following code print?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en-CA" sz="2400" b="1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en-CA" sz="24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CA" sz="2400" b="1" dirty="0">
                <a:solidFill>
                  <a:schemeClr val="bg1"/>
                </a:solidFill>
              </a:rPr>
              <a:t>How would we access Alice’s major?</a:t>
            </a:r>
            <a:endParaRPr lang="en-CA" sz="2400" dirty="0">
              <a:solidFill>
                <a:schemeClr val="bg1"/>
              </a:solidFill>
            </a:endParaRP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fruits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[“apple”, ”banana” ,”cherry”]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apple banana cherry each a new line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Error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811CF9-3539-BC08-ED7B-26444B8AA198}"/>
              </a:ext>
            </a:extLst>
          </p:cNvPr>
          <p:cNvSpPr txBox="1"/>
          <p:nvPr/>
        </p:nvSpPr>
        <p:spPr>
          <a:xfrm>
            <a:off x="857250" y="2070810"/>
            <a:ext cx="8739325" cy="1200329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</a:rPr>
              <a:t>fruits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 =[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‘apple', ‘banana', ‘cherry'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]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rgbClr val="156082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for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fruit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fruits: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	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print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(fruit)</a:t>
            </a:r>
          </a:p>
        </p:txBody>
      </p:sp>
    </p:spTree>
    <p:extLst>
      <p:ext uri="{BB962C8B-B14F-4D97-AF65-F5344CB8AC3E}">
        <p14:creationId xmlns:p14="http://schemas.microsoft.com/office/powerpoint/2010/main" val="1528248418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2E4421-FB39-D076-716F-AC5D37A9C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19C27-96B1-4A99-AEA5-1178AF2CF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Quiz: For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942BB-0B5F-D2C1-B30D-A248BB45A0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CA" sz="2400" b="1" dirty="0">
                <a:solidFill>
                  <a:schemeClr val="bg1"/>
                </a:solidFill>
              </a:rPr>
              <a:t>2. What does the following code print?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en-CA" sz="2400" b="1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en-CA" sz="2400" b="1" dirty="0">
              <a:solidFill>
                <a:schemeClr val="bg1"/>
              </a:solidFill>
            </a:endParaRP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1 2 3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0 1 2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0 1 2 3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Error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B2A31A-9391-AE0A-3820-4CFB299CFAAE}"/>
              </a:ext>
            </a:extLst>
          </p:cNvPr>
          <p:cNvSpPr txBox="1"/>
          <p:nvPr/>
        </p:nvSpPr>
        <p:spPr>
          <a:xfrm>
            <a:off x="857250" y="2070810"/>
            <a:ext cx="8739325" cy="830997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for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i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range(3):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	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print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(i)</a:t>
            </a:r>
          </a:p>
        </p:txBody>
      </p:sp>
    </p:spTree>
    <p:extLst>
      <p:ext uri="{BB962C8B-B14F-4D97-AF65-F5344CB8AC3E}">
        <p14:creationId xmlns:p14="http://schemas.microsoft.com/office/powerpoint/2010/main" val="342937600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0C921E-D103-692F-246E-44F7CDFE8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4381C-78F1-80F3-DCAD-C06BA52C5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Quiz: For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7CADA-1257-C022-52CB-F3CF24A3FC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CA" sz="2400" b="1" dirty="0">
                <a:solidFill>
                  <a:schemeClr val="bg1"/>
                </a:solidFill>
              </a:rPr>
              <a:t>3. What does the following code print?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en-CA" sz="2400" b="1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en-CA" sz="2400" b="1" dirty="0">
              <a:solidFill>
                <a:schemeClr val="bg1"/>
              </a:solidFill>
            </a:endParaRP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2 4 6 8 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1 2 3 4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1 3 5 7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Error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3E0C94-BBD4-EA12-B266-7EDA0E805F3B}"/>
              </a:ext>
            </a:extLst>
          </p:cNvPr>
          <p:cNvSpPr txBox="1"/>
          <p:nvPr/>
        </p:nvSpPr>
        <p:spPr>
          <a:xfrm>
            <a:off x="857250" y="2070810"/>
            <a:ext cx="8739325" cy="830997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for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i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range(1,5):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	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print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(i*2)</a:t>
            </a:r>
          </a:p>
        </p:txBody>
      </p:sp>
    </p:spTree>
    <p:extLst>
      <p:ext uri="{BB962C8B-B14F-4D97-AF65-F5344CB8AC3E}">
        <p14:creationId xmlns:p14="http://schemas.microsoft.com/office/powerpoint/2010/main" val="1839780805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BD84C1-1403-E549-C9C0-D3DBA308F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279B4-A566-A0C9-F43A-7D07D5D42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Quiz: For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17A0EA-9176-ED45-888A-629C779753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CA" sz="2400" b="1" dirty="0">
                <a:solidFill>
                  <a:schemeClr val="bg1"/>
                </a:solidFill>
              </a:rPr>
              <a:t>4. Fill in the blank to iterate through this list</a:t>
            </a:r>
          </a:p>
          <a:p>
            <a:pPr marL="0" indent="0">
              <a:buNone/>
            </a:pPr>
            <a:endParaRPr lang="en-CA" sz="24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CA" sz="2400" b="1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en-CA" sz="2400" b="1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en-CA" sz="24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CA" sz="2400" b="1" dirty="0">
                <a:solidFill>
                  <a:schemeClr val="bg1"/>
                </a:solidFill>
              </a:rPr>
              <a:t>5. Fill in the blank to print numbers from 1 to 5</a:t>
            </a:r>
            <a:endParaRPr lang="en-CA" sz="24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B59F2E-001F-2F71-8894-3EE5EA461036}"/>
              </a:ext>
            </a:extLst>
          </p:cNvPr>
          <p:cNvSpPr txBox="1"/>
          <p:nvPr/>
        </p:nvSpPr>
        <p:spPr>
          <a:xfrm>
            <a:off x="857250" y="2070810"/>
            <a:ext cx="8739325" cy="1200329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numbers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=[10, 20, 30]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for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__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numbers: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	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print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(num)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CA9722-0F49-EEBA-B4B6-1C5E6F97890B}"/>
              </a:ext>
            </a:extLst>
          </p:cNvPr>
          <p:cNvSpPr txBox="1"/>
          <p:nvPr/>
        </p:nvSpPr>
        <p:spPr>
          <a:xfrm>
            <a:off x="857250" y="4242510"/>
            <a:ext cx="8739325" cy="830997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for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i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____: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	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print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(i)</a:t>
            </a:r>
          </a:p>
        </p:txBody>
      </p:sp>
    </p:spTree>
    <p:extLst>
      <p:ext uri="{BB962C8B-B14F-4D97-AF65-F5344CB8AC3E}">
        <p14:creationId xmlns:p14="http://schemas.microsoft.com/office/powerpoint/2010/main" val="700528711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26B516-7E37-A83C-DEBB-762E80286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4D7E9-2671-0A24-55A5-EAF79420B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Looping with multiple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B6142D-73F8-B3A5-C16F-0CEFBB2555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r>
              <a:rPr lang="en-CA" sz="2400" dirty="0">
                <a:solidFill>
                  <a:schemeClr val="bg1"/>
                </a:solidFill>
              </a:rPr>
              <a:t>Sometimes, we want to </a:t>
            </a:r>
            <a:r>
              <a:rPr lang="en-CA" sz="2400" b="1" dirty="0">
                <a:solidFill>
                  <a:schemeClr val="bg1"/>
                </a:solidFill>
              </a:rPr>
              <a:t>loop over more than one value at a time</a:t>
            </a:r>
            <a:r>
              <a:rPr lang="en-CA" sz="2400" dirty="0">
                <a:solidFill>
                  <a:schemeClr val="bg1"/>
                </a:solidFill>
              </a:rPr>
              <a:t>.</a:t>
            </a:r>
          </a:p>
          <a:p>
            <a:r>
              <a:rPr lang="en-CA" sz="2400" dirty="0">
                <a:solidFill>
                  <a:schemeClr val="bg1"/>
                </a:solidFill>
              </a:rPr>
              <a:t>This happens with: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CA" dirty="0">
                <a:solidFill>
                  <a:schemeClr val="bg1"/>
                </a:solidFill>
              </a:rPr>
              <a:t>enumerate() → gives </a:t>
            </a:r>
            <a:r>
              <a:rPr lang="en-CA" b="1" dirty="0">
                <a:solidFill>
                  <a:schemeClr val="bg1"/>
                </a:solidFill>
              </a:rPr>
              <a:t>index and value</a:t>
            </a:r>
            <a:endParaRPr lang="en-CA" dirty="0">
              <a:solidFill>
                <a:schemeClr val="bg1"/>
              </a:solidFill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CA" dirty="0" err="1">
                <a:solidFill>
                  <a:schemeClr val="bg1"/>
                </a:solidFill>
              </a:rPr>
              <a:t>dict.items</a:t>
            </a:r>
            <a:r>
              <a:rPr lang="en-CA" dirty="0">
                <a:solidFill>
                  <a:schemeClr val="bg1"/>
                </a:solidFill>
              </a:rPr>
              <a:t>() → gives </a:t>
            </a:r>
            <a:r>
              <a:rPr lang="en-CA" b="1" dirty="0">
                <a:solidFill>
                  <a:schemeClr val="bg1"/>
                </a:solidFill>
              </a:rPr>
              <a:t>key and value</a:t>
            </a:r>
            <a:endParaRPr lang="en-CA" dirty="0">
              <a:solidFill>
                <a:schemeClr val="bg1"/>
              </a:solidFill>
            </a:endParaRPr>
          </a:p>
          <a:p>
            <a:r>
              <a:rPr lang="en-CA" sz="2400" dirty="0">
                <a:solidFill>
                  <a:schemeClr val="bg1"/>
                </a:solidFill>
              </a:rPr>
              <a:t>Since these methods return pairs of values, we use two variables in the loop.</a:t>
            </a:r>
          </a:p>
          <a:p>
            <a:r>
              <a:rPr lang="en-CA" sz="2400" dirty="0">
                <a:solidFill>
                  <a:schemeClr val="bg1"/>
                </a:solidFill>
              </a:rPr>
              <a:t>Python “unpacks” the pair into the two variables automatically.</a:t>
            </a:r>
          </a:p>
          <a:p>
            <a:pPr>
              <a:buFont typeface="Courier New" panose="02070309020205020404" pitchFamily="49" charset="0"/>
              <a:buChar char="o"/>
            </a:pPr>
            <a:endParaRPr lang="en-C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2969517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BD924B-BFA6-DD63-A28F-99419C539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47647-1622-82C3-80FD-3CDEBCF6D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Looping with multiple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6A4C36-60D6-2D32-C633-678653B645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CA" sz="2400" dirty="0">
                <a:solidFill>
                  <a:schemeClr val="bg1"/>
                </a:solidFill>
              </a:rPr>
              <a:t>1. using 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enumerate()</a:t>
            </a:r>
          </a:p>
          <a:p>
            <a:pPr>
              <a:buFont typeface="Courier New" panose="02070309020205020404" pitchFamily="49" charset="0"/>
              <a:buChar char="o"/>
            </a:pP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CD2DEB-CC2E-8D90-0E81-E3C3D695ED1D}"/>
              </a:ext>
            </a:extLst>
          </p:cNvPr>
          <p:cNvSpPr txBox="1"/>
          <p:nvPr/>
        </p:nvSpPr>
        <p:spPr>
          <a:xfrm>
            <a:off x="247063" y="2112808"/>
            <a:ext cx="11697873" cy="4154984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r>
              <a:rPr lang="en-CA" sz="2400" b="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stops = [</a:t>
            </a:r>
            <a:r>
              <a:rPr lang="en-CA" sz="2400" b="0" dirty="0">
                <a:solidFill>
                  <a:schemeClr val="accent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'Sheppard-Yonge', 'Bayview', '</a:t>
            </a:r>
            <a:r>
              <a:rPr lang="en-CA" sz="2400" b="0" dirty="0" err="1">
                <a:solidFill>
                  <a:schemeClr val="accent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Bessarion</a:t>
            </a:r>
            <a:r>
              <a:rPr lang="en-CA" sz="2400" b="0" dirty="0">
                <a:solidFill>
                  <a:schemeClr val="accent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', 'Leslie', 'Don Mills’</a:t>
            </a:r>
            <a:r>
              <a:rPr lang="en-CA" sz="2400" b="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endParaRPr lang="en-CA" sz="2400" b="0" dirty="0">
              <a:solidFill>
                <a:schemeClr val="bg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2400" b="0" dirty="0">
                <a:solidFill>
                  <a:schemeClr val="accent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CA" sz="2400" b="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sz="24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idx</a:t>
            </a:r>
            <a:r>
              <a:rPr lang="en-CA" sz="24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stop </a:t>
            </a:r>
            <a:r>
              <a:rPr lang="en-CA" sz="2400" b="0" dirty="0">
                <a:solidFill>
                  <a:schemeClr val="accent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 enumerate</a:t>
            </a:r>
            <a:r>
              <a:rPr lang="en-CA" sz="2400" b="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(stops):</a:t>
            </a:r>
          </a:p>
          <a:p>
            <a:r>
              <a:rPr lang="en-CA" sz="2400" b="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CA" sz="2400" b="0" dirty="0">
                <a:solidFill>
                  <a:schemeClr val="accent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CA" sz="2400" b="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CA" sz="2400" b="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f'Stop</a:t>
            </a:r>
            <a:r>
              <a:rPr lang="en-CA" sz="2400" b="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  <a:r>
              <a:rPr lang="en-CA" sz="2400" b="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idx</a:t>
            </a:r>
            <a:r>
              <a:rPr lang="en-CA" sz="2400" b="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+ 1} is {stop}.’)</a:t>
            </a:r>
          </a:p>
          <a:p>
            <a:endParaRPr lang="en-CA" sz="2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CA" sz="2400" b="0" i="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Stop 1 is Sheppard-Yonge. </a:t>
            </a:r>
          </a:p>
          <a:p>
            <a:r>
              <a:rPr lang="en-CA" sz="2400" b="0" i="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Stop 2 is Bayview. </a:t>
            </a:r>
          </a:p>
          <a:p>
            <a:r>
              <a:rPr lang="en-CA" sz="2400" b="0" i="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Stop 3 is </a:t>
            </a:r>
            <a:r>
              <a:rPr lang="en-CA" sz="2400" b="0" i="0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Bessarion</a:t>
            </a:r>
            <a:r>
              <a:rPr lang="en-CA" sz="2400" b="0" i="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 </a:t>
            </a:r>
          </a:p>
          <a:p>
            <a:r>
              <a:rPr lang="en-CA" sz="2400" b="0" i="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Stop 4 is Leslie. </a:t>
            </a:r>
          </a:p>
          <a:p>
            <a:r>
              <a:rPr lang="en-CA" sz="2400" b="0" i="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Stop 5 is Don Mills.</a:t>
            </a:r>
            <a:endParaRPr lang="en-CA" sz="2400" b="0" dirty="0">
              <a:solidFill>
                <a:schemeClr val="bg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E920CD-3EE6-37DF-8499-64DFD4278FC5}"/>
              </a:ext>
            </a:extLst>
          </p:cNvPr>
          <p:cNvSpPr txBox="1"/>
          <p:nvPr/>
        </p:nvSpPr>
        <p:spPr>
          <a:xfrm>
            <a:off x="7913342" y="3420031"/>
            <a:ext cx="3872098" cy="26776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CA" sz="2400" dirty="0">
                <a:solidFill>
                  <a:prstClr val="black"/>
                </a:solidFill>
                <a:latin typeface="Aptos" panose="02110004020202020204"/>
              </a:rPr>
              <a:t>enumerate() gives two values for each item: the index and the value itself. Python automatically “unpacks” these into the variables you provide in the loop.</a:t>
            </a:r>
            <a:endParaRPr kumimoji="0" lang="en-CA" sz="24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9870245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75798A-9737-9048-B2A9-2EF8ABE28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D7F1C-377A-1BB0-ABD0-8FB1C92A3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Looping with multiple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D4DE9-5CFE-032B-2C2A-735A2BE262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CA" sz="2400" dirty="0">
                <a:solidFill>
                  <a:schemeClr val="bg1"/>
                </a:solidFill>
              </a:rPr>
              <a:t>1. using 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enumerate()</a:t>
            </a:r>
          </a:p>
          <a:p>
            <a:pPr>
              <a:buFont typeface="Courier New" panose="02070309020205020404" pitchFamily="49" charset="0"/>
              <a:buChar char="o"/>
            </a:pPr>
            <a:endParaRPr lang="en-CA" dirty="0">
              <a:solidFill>
                <a:schemeClr val="bg1"/>
              </a:solidFill>
            </a:endParaRPr>
          </a:p>
        </p:txBody>
      </p:sp>
      <p:pic>
        <p:nvPicPr>
          <p:cNvPr id="55298" name="Picture 2" descr="Bus Stop PNG Transparent Images Free Download | Vector Files | Pngtree">
            <a:extLst>
              <a:ext uri="{FF2B5EF4-FFF2-40B4-BE49-F238E27FC236}">
                <a16:creationId xmlns:a16="http://schemas.microsoft.com/office/drawing/2014/main" id="{E9005BAB-9841-94EF-87F9-FBE38F14DE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55110" y="2295137"/>
            <a:ext cx="2986619" cy="2986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E730B9D-2947-B84A-64C5-9BCCC820BD23}"/>
              </a:ext>
            </a:extLst>
          </p:cNvPr>
          <p:cNvSpPr txBox="1"/>
          <p:nvPr/>
        </p:nvSpPr>
        <p:spPr>
          <a:xfrm>
            <a:off x="1464337" y="2295137"/>
            <a:ext cx="2870338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bus stops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0.    Sheppard-Young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bg1"/>
                </a:solidFill>
              </a:rPr>
              <a:t>Bayview</a:t>
            </a:r>
          </a:p>
          <a:p>
            <a:pPr marL="457200" indent="-457200">
              <a:buAutoNum type="arabicPeriod"/>
            </a:pPr>
            <a:r>
              <a:rPr lang="en-US" sz="2400" dirty="0" err="1">
                <a:solidFill>
                  <a:schemeClr val="bg1"/>
                </a:solidFill>
              </a:rPr>
              <a:t>Bessarion</a:t>
            </a:r>
            <a:endParaRPr lang="en-US" sz="2400" dirty="0">
              <a:solidFill>
                <a:schemeClr val="bg1"/>
              </a:solidFill>
            </a:endParaRP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bg1"/>
                </a:solidFill>
              </a:rPr>
              <a:t>Leslie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bg1"/>
                </a:solidFill>
              </a:rPr>
              <a:t>Don Mills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FE1CDF-F296-5D40-E159-D6C22AC25E40}"/>
              </a:ext>
            </a:extLst>
          </p:cNvPr>
          <p:cNvSpPr txBox="1"/>
          <p:nvPr/>
        </p:nvSpPr>
        <p:spPr>
          <a:xfrm>
            <a:off x="4927924" y="2288109"/>
            <a:ext cx="23361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          enumerate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973248A-751A-FB53-23B5-5E52822EEE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5836853"/>
              </p:ext>
            </p:extLst>
          </p:nvPr>
        </p:nvGraphicFramePr>
        <p:xfrm>
          <a:off x="4541408" y="2785533"/>
          <a:ext cx="3509159" cy="2969984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609107">
                  <a:extLst>
                    <a:ext uri="{9D8B030D-6E8A-4147-A177-3AD203B41FA5}">
                      <a16:colId xmlns:a16="http://schemas.microsoft.com/office/drawing/2014/main" val="2124711436"/>
                    </a:ext>
                  </a:extLst>
                </a:gridCol>
                <a:gridCol w="1900052">
                  <a:extLst>
                    <a:ext uri="{9D8B030D-6E8A-4147-A177-3AD203B41FA5}">
                      <a16:colId xmlns:a16="http://schemas.microsoft.com/office/drawing/2014/main" val="504328110"/>
                    </a:ext>
                  </a:extLst>
                </a:gridCol>
              </a:tblGrid>
              <a:tr h="340238">
                <a:tc>
                  <a:txBody>
                    <a:bodyPr/>
                    <a:lstStyle/>
                    <a:p>
                      <a:pPr fontAlgn="ctr"/>
                      <a:r>
                        <a:rPr lang="en-CA" sz="2400" b="1" u="none" dirty="0">
                          <a:effectLst/>
                        </a:rPr>
                        <a:t>index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2400" b="1" u="none" dirty="0">
                          <a:effectLst/>
                        </a:rPr>
                        <a:t>value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5486340"/>
                  </a:ext>
                </a:extLst>
              </a:tr>
              <a:tr h="468176">
                <a:tc>
                  <a:txBody>
                    <a:bodyPr/>
                    <a:lstStyle/>
                    <a:p>
                      <a:pPr fontAlgn="ctr"/>
                      <a:r>
                        <a:rPr lang="en-CA" sz="18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8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Sheppard-Young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553372"/>
                  </a:ext>
                </a:extLst>
              </a:tr>
              <a:tr h="468176">
                <a:tc>
                  <a:txBody>
                    <a:bodyPr/>
                    <a:lstStyle/>
                    <a:p>
                      <a:pPr fontAlgn="ctr"/>
                      <a:r>
                        <a:rPr lang="en-CA" sz="1800" i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Bayview </a:t>
                      </a:r>
                      <a:endParaRPr lang="en-CA" sz="1800" dirty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8790727"/>
                  </a:ext>
                </a:extLst>
              </a:tr>
              <a:tr h="468176">
                <a:tc>
                  <a:txBody>
                    <a:bodyPr/>
                    <a:lstStyle/>
                    <a:p>
                      <a:pPr fontAlgn="ctr"/>
                      <a:r>
                        <a:rPr lang="en-CA" sz="1800" i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800" dirty="0" err="1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Bessarion</a:t>
                      </a:r>
                      <a:endParaRPr lang="en-CA" sz="1800" dirty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754598"/>
                  </a:ext>
                </a:extLst>
              </a:tr>
              <a:tr h="468176">
                <a:tc>
                  <a:txBody>
                    <a:bodyPr/>
                    <a:lstStyle/>
                    <a:p>
                      <a:pPr fontAlgn="ctr"/>
                      <a:r>
                        <a:rPr lang="en-CA" sz="1800" i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8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Leslie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30966"/>
                  </a:ext>
                </a:extLst>
              </a:tr>
              <a:tr h="468176">
                <a:tc>
                  <a:txBody>
                    <a:bodyPr/>
                    <a:lstStyle/>
                    <a:p>
                      <a:pPr fontAlgn="ctr"/>
                      <a:r>
                        <a:rPr lang="en-CA" sz="1800" i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8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Don Mills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40332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960DB71-AB0F-3532-C2A6-75BDF89E182B}"/>
              </a:ext>
            </a:extLst>
          </p:cNvPr>
          <p:cNvSpPr txBox="1"/>
          <p:nvPr/>
        </p:nvSpPr>
        <p:spPr>
          <a:xfrm>
            <a:off x="8643816" y="2370234"/>
            <a:ext cx="27876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          loop unpacks: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D3DF230-CF70-2714-F3EE-77EB969FB6C0}"/>
              </a:ext>
            </a:extLst>
          </p:cNvPr>
          <p:cNvSpPr/>
          <p:nvPr/>
        </p:nvSpPr>
        <p:spPr>
          <a:xfrm>
            <a:off x="8750104" y="2901807"/>
            <a:ext cx="1281559" cy="661936"/>
          </a:xfrm>
          <a:prstGeom prst="round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/>
              <a:t>idx</a:t>
            </a:r>
            <a:endParaRPr lang="en-US" sz="2400" dirty="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ABF76452-44BB-3EA8-1261-16123DA6CB42}"/>
              </a:ext>
            </a:extLst>
          </p:cNvPr>
          <p:cNvSpPr/>
          <p:nvPr/>
        </p:nvSpPr>
        <p:spPr>
          <a:xfrm>
            <a:off x="10238396" y="2899585"/>
            <a:ext cx="1281559" cy="661936"/>
          </a:xfrm>
          <a:prstGeom prst="round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stop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84C8CA-A64A-A4EA-42F2-6FF70D4F7F3D}"/>
              </a:ext>
            </a:extLst>
          </p:cNvPr>
          <p:cNvSpPr txBox="1"/>
          <p:nvPr/>
        </p:nvSpPr>
        <p:spPr>
          <a:xfrm>
            <a:off x="9032580" y="3603780"/>
            <a:ext cx="7166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index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CFD269-40B0-63B4-5BEE-2DACE7C13C29}"/>
              </a:ext>
            </a:extLst>
          </p:cNvPr>
          <p:cNvSpPr txBox="1"/>
          <p:nvPr/>
        </p:nvSpPr>
        <p:spPr>
          <a:xfrm>
            <a:off x="10539555" y="3603780"/>
            <a:ext cx="7209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value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36D0025-9417-580C-56C7-B53A3114892C}"/>
              </a:ext>
            </a:extLst>
          </p:cNvPr>
          <p:cNvSpPr txBox="1"/>
          <p:nvPr/>
        </p:nvSpPr>
        <p:spPr>
          <a:xfrm>
            <a:off x="8548396" y="3973112"/>
            <a:ext cx="642893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b="0" i="0" dirty="0">
                <a:solidFill>
                  <a:schemeClr val="bg1"/>
                </a:solidFill>
                <a:effectLst/>
                <a:cs typeface="Courier New" panose="02070309020205020404" pitchFamily="49" charset="0"/>
              </a:rPr>
              <a:t>Stop 1 is Sheppard-Yonge. </a:t>
            </a:r>
          </a:p>
          <a:p>
            <a:r>
              <a:rPr lang="en-CA" sz="2400" b="0" i="0" dirty="0">
                <a:solidFill>
                  <a:schemeClr val="bg1"/>
                </a:solidFill>
                <a:effectLst/>
                <a:cs typeface="Courier New" panose="02070309020205020404" pitchFamily="49" charset="0"/>
              </a:rPr>
              <a:t>Stop 2 is Bayview. </a:t>
            </a:r>
          </a:p>
          <a:p>
            <a:r>
              <a:rPr lang="en-CA" sz="2400" b="0" i="0" dirty="0">
                <a:solidFill>
                  <a:schemeClr val="bg1"/>
                </a:solidFill>
                <a:effectLst/>
                <a:cs typeface="Courier New" panose="02070309020205020404" pitchFamily="49" charset="0"/>
              </a:rPr>
              <a:t>Stop 3 is </a:t>
            </a:r>
            <a:r>
              <a:rPr lang="en-CA" sz="2400" b="0" i="0" dirty="0" err="1">
                <a:solidFill>
                  <a:schemeClr val="bg1"/>
                </a:solidFill>
                <a:effectLst/>
                <a:cs typeface="Courier New" panose="02070309020205020404" pitchFamily="49" charset="0"/>
              </a:rPr>
              <a:t>Bessarion</a:t>
            </a:r>
            <a:r>
              <a:rPr lang="en-CA" sz="2400" b="0" i="0" dirty="0">
                <a:solidFill>
                  <a:schemeClr val="bg1"/>
                </a:solidFill>
                <a:effectLst/>
                <a:cs typeface="Courier New" panose="02070309020205020404" pitchFamily="49" charset="0"/>
              </a:rPr>
              <a:t>. </a:t>
            </a:r>
          </a:p>
          <a:p>
            <a:r>
              <a:rPr lang="en-CA" sz="2400" b="0" i="0" dirty="0">
                <a:solidFill>
                  <a:schemeClr val="bg1"/>
                </a:solidFill>
                <a:effectLst/>
                <a:cs typeface="Courier New" panose="02070309020205020404" pitchFamily="49" charset="0"/>
              </a:rPr>
              <a:t>Stop 4 is Leslie. </a:t>
            </a:r>
          </a:p>
          <a:p>
            <a:r>
              <a:rPr lang="en-CA" sz="2400" b="0" i="0" dirty="0">
                <a:solidFill>
                  <a:schemeClr val="bg1"/>
                </a:solidFill>
                <a:effectLst/>
                <a:cs typeface="Courier New" panose="02070309020205020404" pitchFamily="49" charset="0"/>
              </a:rPr>
              <a:t>Stop 5 is Don Mills.</a:t>
            </a:r>
            <a:endParaRPr lang="en-CA" sz="2400" b="0" dirty="0">
              <a:solidFill>
                <a:schemeClr val="bg1"/>
              </a:solidFill>
              <a:effectLst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065548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E6B1A6-013E-4C14-4240-9ADCF812E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4AD16-329B-B14D-338F-FC0BED02E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Looping with multiple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291465-22CE-A5B0-4C24-505B48F053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CA" sz="2400" dirty="0">
                <a:solidFill>
                  <a:schemeClr val="bg1"/>
                </a:solidFill>
              </a:rPr>
              <a:t>2. using </a:t>
            </a:r>
            <a:r>
              <a:rPr lang="en-CA" sz="2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dict.items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>
              <a:buFont typeface="Courier New" panose="02070309020205020404" pitchFamily="49" charset="0"/>
              <a:buChar char="o"/>
            </a:pP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06CBC7-91D8-2272-05F9-B894E27C9A41}"/>
              </a:ext>
            </a:extLst>
          </p:cNvPr>
          <p:cNvSpPr txBox="1"/>
          <p:nvPr/>
        </p:nvSpPr>
        <p:spPr>
          <a:xfrm>
            <a:off x="247063" y="2112808"/>
            <a:ext cx="11697873" cy="3046988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prices = {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"apple":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2,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"banana":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1,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"orange":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3}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for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fruit, price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prices.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items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()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print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(fruit, price)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pple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anana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range 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95A63A-B8F5-655F-6202-0C91F34067D8}"/>
              </a:ext>
            </a:extLst>
          </p:cNvPr>
          <p:cNvSpPr txBox="1"/>
          <p:nvPr/>
        </p:nvSpPr>
        <p:spPr>
          <a:xfrm>
            <a:off x="7913342" y="3420031"/>
            <a:ext cx="3872098" cy="230832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items() gives two values for each item: the key and the value itself. Python automatically “unpacks” these into the variables you provide in the loop.</a:t>
            </a:r>
          </a:p>
        </p:txBody>
      </p:sp>
    </p:spTree>
    <p:extLst>
      <p:ext uri="{BB962C8B-B14F-4D97-AF65-F5344CB8AC3E}">
        <p14:creationId xmlns:p14="http://schemas.microsoft.com/office/powerpoint/2010/main" val="72035319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A48590-8A4C-19CA-E080-35A38CE2C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94" name="Picture 2" descr="Fruit clip art Images - Free Download on Freepik">
            <a:extLst>
              <a:ext uri="{FF2B5EF4-FFF2-40B4-BE49-F238E27FC236}">
                <a16:creationId xmlns:a16="http://schemas.microsoft.com/office/drawing/2014/main" id="{050613F3-B4B8-B803-F9FB-15AD6F05AC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843818">
            <a:off x="336847" y="4524639"/>
            <a:ext cx="2254981" cy="13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23F64A-CBF9-8E71-309C-5AB653CD1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Looping with multiple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B005B-AAD8-3717-A4FD-FE09E82CF8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CA" sz="2400" dirty="0">
                <a:solidFill>
                  <a:schemeClr val="bg1"/>
                </a:solidFill>
              </a:rPr>
              <a:t>2. using </a:t>
            </a:r>
            <a:r>
              <a:rPr lang="en-CA" sz="2400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dict.items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>
              <a:buFont typeface="Courier New" panose="02070309020205020404" pitchFamily="49" charset="0"/>
              <a:buChar char="o"/>
            </a:pP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4DA9FA-2D49-F6FD-7832-E3AFA03C719E}"/>
              </a:ext>
            </a:extLst>
          </p:cNvPr>
          <p:cNvSpPr txBox="1"/>
          <p:nvPr/>
        </p:nvSpPr>
        <p:spPr>
          <a:xfrm>
            <a:off x="1464337" y="2295137"/>
            <a:ext cx="1681871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Prices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prstClr val="black"/>
                </a:solidFill>
                <a:latin typeface="Aptos" panose="02110004020202020204"/>
              </a:rPr>
              <a:t>apple : $2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banana: $1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prstClr val="black"/>
                </a:solidFill>
                <a:latin typeface="Aptos" panose="02110004020202020204"/>
              </a:rPr>
              <a:t>orange: $3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F18A95-79F7-7513-8696-13516B2362C9}"/>
              </a:ext>
            </a:extLst>
          </p:cNvPr>
          <p:cNvSpPr txBox="1"/>
          <p:nvPr/>
        </p:nvSpPr>
        <p:spPr>
          <a:xfrm>
            <a:off x="4927924" y="2288109"/>
            <a:ext cx="16034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  items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F566CE6-0B53-B497-B962-655DD0AAB6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4906229"/>
              </p:ext>
            </p:extLst>
          </p:nvPr>
        </p:nvGraphicFramePr>
        <p:xfrm>
          <a:off x="4541408" y="2785533"/>
          <a:ext cx="3509159" cy="1861728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609107">
                  <a:extLst>
                    <a:ext uri="{9D8B030D-6E8A-4147-A177-3AD203B41FA5}">
                      <a16:colId xmlns:a16="http://schemas.microsoft.com/office/drawing/2014/main" val="2124711436"/>
                    </a:ext>
                  </a:extLst>
                </a:gridCol>
                <a:gridCol w="1900052">
                  <a:extLst>
                    <a:ext uri="{9D8B030D-6E8A-4147-A177-3AD203B41FA5}">
                      <a16:colId xmlns:a16="http://schemas.microsoft.com/office/drawing/2014/main" val="504328110"/>
                    </a:ext>
                  </a:extLst>
                </a:gridCol>
              </a:tblGrid>
              <a:tr h="340238">
                <a:tc>
                  <a:txBody>
                    <a:bodyPr/>
                    <a:lstStyle/>
                    <a:p>
                      <a:pPr fontAlgn="ctr"/>
                      <a:r>
                        <a:rPr lang="en-CA" sz="2400" b="1" u="none" dirty="0">
                          <a:effectLst/>
                        </a:rPr>
                        <a:t>Key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2400" b="1" u="none" dirty="0">
                          <a:effectLst/>
                        </a:rPr>
                        <a:t>value</a:t>
                      </a:r>
                    </a:p>
                  </a:txBody>
                  <a:tcPr anchor="ctr"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5486340"/>
                  </a:ext>
                </a:extLst>
              </a:tr>
              <a:tr h="468176">
                <a:tc>
                  <a:txBody>
                    <a:bodyPr/>
                    <a:lstStyle/>
                    <a:p>
                      <a:pPr fontAlgn="ctr"/>
                      <a:r>
                        <a:rPr lang="en-CA" sz="18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apple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8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5553372"/>
                  </a:ext>
                </a:extLst>
              </a:tr>
              <a:tr h="468176">
                <a:tc>
                  <a:txBody>
                    <a:bodyPr/>
                    <a:lstStyle/>
                    <a:p>
                      <a:pPr fontAlgn="ctr"/>
                      <a:r>
                        <a:rPr lang="en-CA" sz="1800" i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banana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 </a:t>
                      </a:r>
                      <a:endParaRPr lang="en-CA" sz="1800" dirty="0"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8790727"/>
                  </a:ext>
                </a:extLst>
              </a:tr>
              <a:tr h="468176">
                <a:tc>
                  <a:txBody>
                    <a:bodyPr/>
                    <a:lstStyle/>
                    <a:p>
                      <a:pPr fontAlgn="ctr"/>
                      <a:r>
                        <a:rPr lang="en-CA" sz="1800" i="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orange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en-CA" sz="1800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</a:t>
                      </a:r>
                    </a:p>
                  </a:txBody>
                  <a:tcPr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075459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71266968-7085-3B47-063E-32577D7EE9B4}"/>
              </a:ext>
            </a:extLst>
          </p:cNvPr>
          <p:cNvSpPr txBox="1"/>
          <p:nvPr/>
        </p:nvSpPr>
        <p:spPr>
          <a:xfrm>
            <a:off x="8643816" y="2370234"/>
            <a:ext cx="27876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         loop unpacks: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C16E3433-F543-8031-6A34-EE33C0AA3CDF}"/>
              </a:ext>
            </a:extLst>
          </p:cNvPr>
          <p:cNvSpPr/>
          <p:nvPr/>
        </p:nvSpPr>
        <p:spPr>
          <a:xfrm>
            <a:off x="8750104" y="2901807"/>
            <a:ext cx="1281559" cy="661936"/>
          </a:xfrm>
          <a:prstGeom prst="round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prstClr val="white"/>
                </a:solidFill>
                <a:latin typeface="Aptos" panose="02110004020202020204"/>
              </a:rPr>
              <a:t>fruit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15D70FD-7B08-C834-2DB9-EB37070B1268}"/>
              </a:ext>
            </a:extLst>
          </p:cNvPr>
          <p:cNvSpPr/>
          <p:nvPr/>
        </p:nvSpPr>
        <p:spPr>
          <a:xfrm>
            <a:off x="10238396" y="2899585"/>
            <a:ext cx="1281559" cy="661936"/>
          </a:xfrm>
          <a:prstGeom prst="roundRect">
            <a:avLst/>
          </a:prstGeom>
          <a:solidFill>
            <a:schemeClr val="accent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price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C0DD89-CD54-82AE-936E-630B8E5F46D0}"/>
              </a:ext>
            </a:extLst>
          </p:cNvPr>
          <p:cNvSpPr txBox="1"/>
          <p:nvPr/>
        </p:nvSpPr>
        <p:spPr>
          <a:xfrm>
            <a:off x="9032580" y="3603780"/>
            <a:ext cx="7166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index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B0E29A-B526-2699-B3C8-6843EC938F47}"/>
              </a:ext>
            </a:extLst>
          </p:cNvPr>
          <p:cNvSpPr txBox="1"/>
          <p:nvPr/>
        </p:nvSpPr>
        <p:spPr>
          <a:xfrm>
            <a:off x="10539555" y="3603780"/>
            <a:ext cx="7209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value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F09B7B-A734-805C-D3DD-9BB3243E0761}"/>
              </a:ext>
            </a:extLst>
          </p:cNvPr>
          <p:cNvSpPr txBox="1"/>
          <p:nvPr/>
        </p:nvSpPr>
        <p:spPr>
          <a:xfrm>
            <a:off x="8548396" y="3973112"/>
            <a:ext cx="642893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prstClr val="black"/>
                </a:solidFill>
                <a:latin typeface="Aptos" panose="02110004020202020204"/>
                <a:cs typeface="Courier New" panose="02070309020205020404" pitchFamily="49" charset="0"/>
              </a:rPr>
              <a:t>a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Courier New" panose="02070309020205020404" pitchFamily="49" charset="0"/>
              </a:rPr>
              <a:t>pple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Courier New" panose="02070309020205020404" pitchFamily="49" charset="0"/>
              </a:rPr>
              <a:t> 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prstClr val="black"/>
                </a:solidFill>
                <a:latin typeface="Aptos" panose="02110004020202020204"/>
                <a:cs typeface="Courier New" panose="02070309020205020404" pitchFamily="49" charset="0"/>
              </a:rPr>
              <a:t>b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Courier New" panose="02070309020205020404" pitchFamily="49" charset="0"/>
              </a:rPr>
              <a:t>anana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Courier New" panose="02070309020205020404" pitchFamily="49" charset="0"/>
              </a:rPr>
              <a:t>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prstClr val="black"/>
                </a:solidFill>
                <a:latin typeface="Aptos" panose="02110004020202020204"/>
                <a:cs typeface="Courier New" panose="02070309020205020404" pitchFamily="49" charset="0"/>
              </a:rPr>
              <a:t>orange 3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6768054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EB707A-3A00-A886-15B3-452B227B5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AC652-65F9-1A5B-5EE0-6B23D0393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Quiz: For loops with multiple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1934D6-CE4D-EED0-CF99-D7DCB59B4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CA" sz="2400" b="1" dirty="0">
                <a:solidFill>
                  <a:schemeClr val="bg1"/>
                </a:solidFill>
              </a:rPr>
              <a:t>1. Which of the following is the correct syntax for iterating over a dictionary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en-CA" sz="2400" b="1" dirty="0">
              <a:solidFill>
                <a:schemeClr val="bg1"/>
              </a:solidFill>
            </a:endParaRP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2 4 6 7 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1 2 3 4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1 3 5 7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Error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999A16-2C6D-8B0D-1536-A8E76D51D2D5}"/>
              </a:ext>
            </a:extLst>
          </p:cNvPr>
          <p:cNvSpPr txBox="1"/>
          <p:nvPr/>
        </p:nvSpPr>
        <p:spPr>
          <a:xfrm>
            <a:off x="1276350" y="2344892"/>
            <a:ext cx="8739325" cy="46166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for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key, value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my_dict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5CFE1E-E279-033C-C7CF-3BE61F483A48}"/>
              </a:ext>
            </a:extLst>
          </p:cNvPr>
          <p:cNvSpPr txBox="1"/>
          <p:nvPr/>
        </p:nvSpPr>
        <p:spPr>
          <a:xfrm>
            <a:off x="1276350" y="2877493"/>
            <a:ext cx="8739325" cy="46166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for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key, value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my_dict.items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():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B38D3D-9ABE-FAF9-2430-0E62C4E4D4B2}"/>
              </a:ext>
            </a:extLst>
          </p:cNvPr>
          <p:cNvSpPr txBox="1"/>
          <p:nvPr/>
        </p:nvSpPr>
        <p:spPr>
          <a:xfrm>
            <a:off x="1276350" y="3391188"/>
            <a:ext cx="8739325" cy="46166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for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key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my_dict.items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():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815388-5CCB-5934-2D10-D262592C1A64}"/>
              </a:ext>
            </a:extLst>
          </p:cNvPr>
          <p:cNvSpPr txBox="1"/>
          <p:nvPr/>
        </p:nvSpPr>
        <p:spPr>
          <a:xfrm>
            <a:off x="1276350" y="3867232"/>
            <a:ext cx="8739325" cy="46166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for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key.value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my_dict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():</a:t>
            </a:r>
          </a:p>
        </p:txBody>
      </p:sp>
    </p:spTree>
    <p:extLst>
      <p:ext uri="{BB962C8B-B14F-4D97-AF65-F5344CB8AC3E}">
        <p14:creationId xmlns:p14="http://schemas.microsoft.com/office/powerpoint/2010/main" val="10627634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A18BF8-7C50-4A75-FC59-ED7A543BC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750CE-7DEE-63E3-4AC2-69CA0F787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Quiz: For loops with multiple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962DF-41F5-CB40-D0BA-7D44C2FB84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CA" sz="2400" b="1" dirty="0">
                <a:solidFill>
                  <a:schemeClr val="bg1"/>
                </a:solidFill>
              </a:rPr>
              <a:t>2. What does the following code print?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en-CA" sz="2400" b="1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en-CA" sz="2400" b="1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en-CA" sz="2400" b="1" dirty="0">
              <a:solidFill>
                <a:schemeClr val="bg1"/>
              </a:solidFill>
            </a:endParaRP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apple banana cherry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0 apple 1 banana 2 cherry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1 apple 2 banana 3 cherry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Error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EEA051-AE38-99FB-B6E9-A3FFD964F8D7}"/>
              </a:ext>
            </a:extLst>
          </p:cNvPr>
          <p:cNvSpPr txBox="1"/>
          <p:nvPr/>
        </p:nvSpPr>
        <p:spPr>
          <a:xfrm>
            <a:off x="838200" y="2008641"/>
            <a:ext cx="8877887" cy="1200329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r>
              <a:rPr lang="en-CA" sz="2400" b="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fruits = [</a:t>
            </a:r>
            <a:r>
              <a:rPr lang="en-CA" sz="2400" b="0" dirty="0">
                <a:solidFill>
                  <a:schemeClr val="accent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’apple</a:t>
            </a:r>
            <a:r>
              <a:rPr lang="en-CA" sz="24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’</a:t>
            </a:r>
            <a:r>
              <a:rPr lang="en-CA" sz="2400" b="0" dirty="0">
                <a:solidFill>
                  <a:schemeClr val="accent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‘banana’, ‘cherry'</a:t>
            </a:r>
            <a:r>
              <a:rPr lang="en-CA" sz="2400" b="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  <a:p>
            <a:r>
              <a:rPr lang="en-CA" sz="2400" b="0" dirty="0">
                <a:solidFill>
                  <a:schemeClr val="accent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-CA" sz="2400" b="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sz="24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index, fruit </a:t>
            </a:r>
            <a:r>
              <a:rPr lang="en-CA" sz="2400" b="0" dirty="0">
                <a:solidFill>
                  <a:schemeClr val="accent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 enumerate</a:t>
            </a:r>
            <a:r>
              <a:rPr lang="en-CA" sz="2400" b="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(fruits):</a:t>
            </a:r>
          </a:p>
          <a:p>
            <a:r>
              <a:rPr lang="en-CA" sz="2400" b="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CA" sz="2400" b="0" dirty="0">
                <a:solidFill>
                  <a:schemeClr val="accent3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CA" sz="2400" b="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(index, fruit)</a:t>
            </a:r>
          </a:p>
        </p:txBody>
      </p:sp>
    </p:spTree>
    <p:extLst>
      <p:ext uri="{BB962C8B-B14F-4D97-AF65-F5344CB8AC3E}">
        <p14:creationId xmlns:p14="http://schemas.microsoft.com/office/powerpoint/2010/main" val="3557530031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5CB32A-DBAE-D740-8FF9-BDCE87266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28FB7-BDE3-640D-33EA-E36E8A649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Quiz: For loops with multiple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5854C-92FD-1F29-CCC4-CE110F80E4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CA" sz="2400" b="1" dirty="0">
                <a:solidFill>
                  <a:schemeClr val="bg1"/>
                </a:solidFill>
              </a:rPr>
              <a:t>3. Fill in the blank to loop through a list with index and value</a:t>
            </a:r>
          </a:p>
          <a:p>
            <a:pPr marL="0" indent="0">
              <a:buNone/>
            </a:pPr>
            <a:endParaRPr lang="en-CA" sz="24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CA" sz="2400" b="1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en-CA" sz="2400" b="1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en-CA" sz="24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CA" sz="2400" b="1" dirty="0">
                <a:solidFill>
                  <a:schemeClr val="bg1"/>
                </a:solidFill>
              </a:rPr>
              <a:t>4. Fill in the blank to iterate through a dictionary and print keys and values</a:t>
            </a:r>
            <a:endParaRPr lang="en-CA" sz="24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4AACEB-DBE7-9155-80B5-6404C44773E7}"/>
              </a:ext>
            </a:extLst>
          </p:cNvPr>
          <p:cNvSpPr txBox="1"/>
          <p:nvPr/>
        </p:nvSpPr>
        <p:spPr>
          <a:xfrm>
            <a:off x="857250" y="2070810"/>
            <a:ext cx="8739325" cy="1200329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>
              <a:defRPr/>
            </a:pPr>
            <a:r>
              <a:rPr lang="en-CA" sz="2400" b="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names = [</a:t>
            </a:r>
            <a:r>
              <a:rPr lang="en-CA" sz="2400" b="0" dirty="0">
                <a:solidFill>
                  <a:schemeClr val="accent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Alice</a:t>
            </a:r>
            <a:r>
              <a:rPr lang="en-CA" sz="24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’</a:t>
            </a:r>
            <a:r>
              <a:rPr lang="en-CA" sz="2400" b="0" dirty="0">
                <a:solidFill>
                  <a:schemeClr val="accent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‘Bob’, ‘Charlie'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]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for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__,__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enumerate(names):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	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print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(index, name)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E3484E-D230-649B-2F10-79967C349C55}"/>
              </a:ext>
            </a:extLst>
          </p:cNvPr>
          <p:cNvSpPr txBox="1"/>
          <p:nvPr/>
        </p:nvSpPr>
        <p:spPr>
          <a:xfrm>
            <a:off x="857250" y="4482258"/>
            <a:ext cx="8739325" cy="1200329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>
              <a:defRPr/>
            </a:pPr>
            <a:r>
              <a:rPr lang="en-CA" sz="2400" b="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student = {</a:t>
            </a:r>
            <a:r>
              <a:rPr lang="en-CA" sz="2400" b="0" dirty="0">
                <a:solidFill>
                  <a:schemeClr val="accent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‘name</a:t>
            </a:r>
            <a:r>
              <a:rPr lang="en-CA" sz="24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’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CA" sz="2400" dirty="0">
                <a:solidFill>
                  <a:schemeClr val="accent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CA" sz="2400" b="0" dirty="0">
                <a:solidFill>
                  <a:schemeClr val="accent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‘Alice’</a:t>
            </a:r>
            <a:r>
              <a:rPr lang="en-CA" sz="2400" b="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CA" sz="2400" b="0" dirty="0">
                <a:solidFill>
                  <a:schemeClr val="accent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‘age</a:t>
            </a:r>
            <a:r>
              <a:rPr lang="en-CA" sz="2400" b="0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’: 20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+mn-cs"/>
              </a:rPr>
              <a:t>}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for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__,__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in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student.items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	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print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(key, value)</a:t>
            </a:r>
          </a:p>
        </p:txBody>
      </p:sp>
    </p:spTree>
    <p:extLst>
      <p:ext uri="{BB962C8B-B14F-4D97-AF65-F5344CB8AC3E}">
        <p14:creationId xmlns:p14="http://schemas.microsoft.com/office/powerpoint/2010/main" val="2563961109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97ED0F-8374-5245-B3A6-7A5DCF27E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7A851-26DA-63AE-70AC-7A7C60CF4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Nested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73316-34BE-BD7F-622F-8C936B813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r>
              <a:rPr lang="en-CA" sz="2400" dirty="0">
                <a:solidFill>
                  <a:schemeClr val="bg1"/>
                </a:solidFill>
              </a:rPr>
              <a:t>What is a Nested Loop?</a:t>
            </a:r>
          </a:p>
          <a:p>
            <a:pPr lvl="1"/>
            <a:r>
              <a:rPr lang="en-CA" dirty="0">
                <a:solidFill>
                  <a:schemeClr val="bg1"/>
                </a:solidFill>
              </a:rPr>
              <a:t>A loop inside another loop</a:t>
            </a:r>
          </a:p>
          <a:p>
            <a:pPr lvl="1"/>
            <a:r>
              <a:rPr lang="en-CA" dirty="0">
                <a:solidFill>
                  <a:schemeClr val="bg1"/>
                </a:solidFill>
              </a:rPr>
              <a:t>Outer loop → controls the first set of repetitions</a:t>
            </a:r>
          </a:p>
          <a:p>
            <a:pPr lvl="1"/>
            <a:r>
              <a:rPr lang="en-CA" dirty="0">
                <a:solidFill>
                  <a:schemeClr val="bg1"/>
                </a:solidFill>
              </a:rPr>
              <a:t>Inner loop → runs completely for each iteration of the outer loop</a:t>
            </a:r>
          </a:p>
          <a:p>
            <a:pPr>
              <a:buFont typeface="Courier New" panose="02070309020205020404" pitchFamily="49" charset="0"/>
              <a:buChar char="o"/>
            </a:pP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A88BF5-7DE5-7BC7-147A-C9C7A5756BEE}"/>
              </a:ext>
            </a:extLst>
          </p:cNvPr>
          <p:cNvSpPr txBox="1"/>
          <p:nvPr/>
        </p:nvSpPr>
        <p:spPr>
          <a:xfrm>
            <a:off x="1460045" y="3429000"/>
            <a:ext cx="9544051" cy="1938992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for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 in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range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(1, 3):      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# outer loop = 1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for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j in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range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(1, 3):  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# inner loop =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    print(i,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"*"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, j,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"="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, i*j)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1 * 1 = 1</a:t>
            </a:r>
          </a:p>
        </p:txBody>
      </p:sp>
    </p:spTree>
    <p:extLst>
      <p:ext uri="{BB962C8B-B14F-4D97-AF65-F5344CB8AC3E}">
        <p14:creationId xmlns:p14="http://schemas.microsoft.com/office/powerpoint/2010/main" val="1793956606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64C104-8C22-2F20-F5AA-7BE0B5F37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D03F8-E4A3-9243-67B4-7906D4060C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Nested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8D693E-AAF6-5926-492B-18EF8E10AA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r>
              <a:rPr lang="en-CA" sz="2400" dirty="0">
                <a:solidFill>
                  <a:schemeClr val="bg1"/>
                </a:solidFill>
              </a:rPr>
              <a:t>What is a Nested Loop?</a:t>
            </a:r>
          </a:p>
          <a:p>
            <a:pPr lvl="1"/>
            <a:r>
              <a:rPr lang="en-CA" dirty="0">
                <a:solidFill>
                  <a:schemeClr val="bg1"/>
                </a:solidFill>
              </a:rPr>
              <a:t>A loop inside another loop</a:t>
            </a:r>
          </a:p>
          <a:p>
            <a:pPr lvl="1"/>
            <a:r>
              <a:rPr lang="en-CA" dirty="0">
                <a:solidFill>
                  <a:schemeClr val="bg1"/>
                </a:solidFill>
              </a:rPr>
              <a:t>Outer loop → controls the first set of repetitions</a:t>
            </a:r>
          </a:p>
          <a:p>
            <a:pPr lvl="1"/>
            <a:r>
              <a:rPr lang="en-CA" dirty="0">
                <a:solidFill>
                  <a:schemeClr val="bg1"/>
                </a:solidFill>
              </a:rPr>
              <a:t>Inner loop → runs completely for each iteration of the outer loop</a:t>
            </a:r>
          </a:p>
          <a:p>
            <a:pPr>
              <a:buFont typeface="Courier New" panose="02070309020205020404" pitchFamily="49" charset="0"/>
              <a:buChar char="o"/>
            </a:pP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0446BA-EDFF-48A5-E6FE-BC0E99B703D9}"/>
              </a:ext>
            </a:extLst>
          </p:cNvPr>
          <p:cNvSpPr txBox="1"/>
          <p:nvPr/>
        </p:nvSpPr>
        <p:spPr>
          <a:xfrm>
            <a:off x="1460045" y="3429000"/>
            <a:ext cx="9544051" cy="2308324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for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 in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range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(1, 3):      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# outer loop = 1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for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j in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range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(1, 3):  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# inner loop = 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    print(i,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"*"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, j,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"="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, i*j)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1 * 1 = 1</a:t>
            </a:r>
          </a:p>
          <a:p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1 * 2 = 2</a:t>
            </a:r>
          </a:p>
        </p:txBody>
      </p:sp>
    </p:spTree>
    <p:extLst>
      <p:ext uri="{BB962C8B-B14F-4D97-AF65-F5344CB8AC3E}">
        <p14:creationId xmlns:p14="http://schemas.microsoft.com/office/powerpoint/2010/main" val="3868967766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B2EC4B-5735-4424-8479-12ED57483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222E4-91F0-1A4B-4795-86D909226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Nested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57D265-3919-0F10-4BCA-AAF60E1F62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r>
              <a:rPr lang="en-CA" sz="2400" dirty="0">
                <a:solidFill>
                  <a:schemeClr val="bg1"/>
                </a:solidFill>
              </a:rPr>
              <a:t>What is a Nested Loop?</a:t>
            </a:r>
          </a:p>
          <a:p>
            <a:pPr lvl="1"/>
            <a:r>
              <a:rPr lang="en-CA" dirty="0">
                <a:solidFill>
                  <a:schemeClr val="bg1"/>
                </a:solidFill>
              </a:rPr>
              <a:t>A loop inside another loop</a:t>
            </a:r>
          </a:p>
          <a:p>
            <a:pPr lvl="1"/>
            <a:r>
              <a:rPr lang="en-CA" dirty="0">
                <a:solidFill>
                  <a:schemeClr val="bg1"/>
                </a:solidFill>
              </a:rPr>
              <a:t>Outer loop → controls the first set of repetitions</a:t>
            </a:r>
          </a:p>
          <a:p>
            <a:pPr lvl="1"/>
            <a:r>
              <a:rPr lang="en-CA" dirty="0">
                <a:solidFill>
                  <a:schemeClr val="bg1"/>
                </a:solidFill>
              </a:rPr>
              <a:t>Inner loop → runs completely for each iteration of the outer loop</a:t>
            </a:r>
          </a:p>
          <a:p>
            <a:pPr>
              <a:buFont typeface="Courier New" panose="02070309020205020404" pitchFamily="49" charset="0"/>
              <a:buChar char="o"/>
            </a:pP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FC3D3D-E958-3A99-0AB8-3A80D365001E}"/>
              </a:ext>
            </a:extLst>
          </p:cNvPr>
          <p:cNvSpPr txBox="1"/>
          <p:nvPr/>
        </p:nvSpPr>
        <p:spPr>
          <a:xfrm>
            <a:off x="1460045" y="3429000"/>
            <a:ext cx="9544051" cy="2677656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for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 in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range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(1, 3):      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# outer loop = 2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for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j in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range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(1, 3):  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# inner loop =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    print(i,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"*"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, j,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"="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, i*j)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1 * 1 =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1 * 2 = 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2 * 1 = 2</a:t>
            </a:r>
          </a:p>
        </p:txBody>
      </p:sp>
    </p:spTree>
    <p:extLst>
      <p:ext uri="{BB962C8B-B14F-4D97-AF65-F5344CB8AC3E}">
        <p14:creationId xmlns:p14="http://schemas.microsoft.com/office/powerpoint/2010/main" val="3173173216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2A73F8-E85D-B8A0-3CA9-450E3D9E6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5DE08-7E5C-8E00-B19D-700B25ED5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Nested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739B95-25E2-8C9A-29E0-06E1478305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r>
              <a:rPr lang="en-CA" sz="2400" dirty="0">
                <a:solidFill>
                  <a:schemeClr val="bg1"/>
                </a:solidFill>
              </a:rPr>
              <a:t>What is a Nested Loop?</a:t>
            </a:r>
          </a:p>
          <a:p>
            <a:pPr lvl="1"/>
            <a:r>
              <a:rPr lang="en-CA" dirty="0">
                <a:solidFill>
                  <a:schemeClr val="bg1"/>
                </a:solidFill>
              </a:rPr>
              <a:t>A loop inside another loop</a:t>
            </a:r>
          </a:p>
          <a:p>
            <a:pPr lvl="1"/>
            <a:r>
              <a:rPr lang="en-CA" dirty="0">
                <a:solidFill>
                  <a:schemeClr val="bg1"/>
                </a:solidFill>
              </a:rPr>
              <a:t>Outer loop → controls the first set of repetitions</a:t>
            </a:r>
          </a:p>
          <a:p>
            <a:pPr lvl="1"/>
            <a:r>
              <a:rPr lang="en-CA" dirty="0">
                <a:solidFill>
                  <a:schemeClr val="bg1"/>
                </a:solidFill>
              </a:rPr>
              <a:t>Inner loop → runs completely for each iteration of the outer loop</a:t>
            </a:r>
          </a:p>
          <a:p>
            <a:pPr>
              <a:buFont typeface="Courier New" panose="02070309020205020404" pitchFamily="49" charset="0"/>
              <a:buChar char="o"/>
            </a:pP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BA2B64-304A-50B6-FCB6-610CF93CC1D0}"/>
              </a:ext>
            </a:extLst>
          </p:cNvPr>
          <p:cNvSpPr txBox="1"/>
          <p:nvPr/>
        </p:nvSpPr>
        <p:spPr>
          <a:xfrm>
            <a:off x="1460045" y="3429000"/>
            <a:ext cx="9544051" cy="3046988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for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 in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range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(1, 3):      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# outer loop = 2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for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j in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range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(1, 3):  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96B24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# inner loop = 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    print(i,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"*"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, j,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E9713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"="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, i*j)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1 * 1 =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1 * 2 = 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2 * 1 = 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2 * 2 = 4</a:t>
            </a:r>
          </a:p>
        </p:txBody>
      </p:sp>
    </p:spTree>
    <p:extLst>
      <p:ext uri="{BB962C8B-B14F-4D97-AF65-F5344CB8AC3E}">
        <p14:creationId xmlns:p14="http://schemas.microsoft.com/office/powerpoint/2010/main" val="1597311841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086C96-E4E3-494C-FDBA-ADF53DA80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AC508-AAF2-82BD-50F9-908C692CD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Quiz: Nested for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C9436-251F-64C0-FE7F-B0DB051875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CA" sz="2400" b="1" dirty="0">
                <a:solidFill>
                  <a:schemeClr val="bg1"/>
                </a:solidFill>
              </a:rPr>
              <a:t>1. What does the following code print?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en-CA" sz="2400" b="1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en-CA" sz="2400" b="1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en-CA" sz="2400" b="1" dirty="0">
              <a:solidFill>
                <a:schemeClr val="bg1"/>
              </a:solidFill>
            </a:endParaRP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1 2 3 4 5 6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1 1 1 2 2 1 2 2 3 1 3 2 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None of the above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Error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C16DFE-9B5A-87AE-6004-A37B1223B45E}"/>
              </a:ext>
            </a:extLst>
          </p:cNvPr>
          <p:cNvSpPr txBox="1"/>
          <p:nvPr/>
        </p:nvSpPr>
        <p:spPr>
          <a:xfrm>
            <a:off x="838200" y="2008641"/>
            <a:ext cx="8877887" cy="1200329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for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 in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range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(1, 4):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for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j in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range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(1, 3):   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    print(i, j)</a:t>
            </a:r>
          </a:p>
        </p:txBody>
      </p:sp>
    </p:spTree>
    <p:extLst>
      <p:ext uri="{BB962C8B-B14F-4D97-AF65-F5344CB8AC3E}">
        <p14:creationId xmlns:p14="http://schemas.microsoft.com/office/powerpoint/2010/main" val="1153589499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BEFA7D-60A6-64D7-0C66-7A4821CBD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10207-3AA1-98B2-277A-962238F04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Quiz: Nested for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308A2-4A23-075C-919B-A60AE4311D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CA" sz="2400" b="1" dirty="0">
                <a:solidFill>
                  <a:schemeClr val="bg1"/>
                </a:solidFill>
              </a:rPr>
              <a:t>2. What is true about nested for loops?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The inner loop runs once for each iteration of the outer loop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The outer loop runs once for each iteration of the inner loop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Nested loops cannot be used with lists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Nested loops always produce a </a:t>
            </a:r>
            <a:r>
              <a:rPr lang="en-CA" sz="2400" dirty="0" err="1">
                <a:solidFill>
                  <a:schemeClr val="bg1"/>
                </a:solidFill>
              </a:rPr>
              <a:t>KeyError</a:t>
            </a:r>
            <a:endParaRPr lang="en-CA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4195921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6350A7-44A2-5210-240F-7C9A59461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37B69-5376-757C-CC0F-D32110FD8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While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C96DCD-EA92-B3D4-DF1D-D620EC3412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CA" sz="2400" dirty="0">
                <a:solidFill>
                  <a:schemeClr val="bg1"/>
                </a:solidFill>
              </a:rPr>
              <a:t>What if we aren’t sure how many times code needs to run, but we want to know how to tell when we’re done? In this case, we use a </a:t>
            </a:r>
            <a:r>
              <a:rPr lang="en-CA" sz="2400" b="1" dirty="0">
                <a:solidFill>
                  <a:schemeClr val="bg1"/>
                </a:solidFill>
              </a:rPr>
              <a:t>while</a:t>
            </a:r>
            <a:r>
              <a:rPr lang="en-CA" sz="2400" dirty="0">
                <a:solidFill>
                  <a:schemeClr val="bg1"/>
                </a:solidFill>
              </a:rPr>
              <a:t> loop!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sz="2400" dirty="0">
                <a:solidFill>
                  <a:schemeClr val="bg1"/>
                </a:solidFill>
              </a:rPr>
              <a:t>A while loop only runs the indented block of code when a condition is met</a:t>
            </a:r>
            <a:endParaRPr lang="en-CA" dirty="0">
              <a:solidFill>
                <a:schemeClr val="bg1"/>
              </a:solidFill>
            </a:endParaRPr>
          </a:p>
          <a:p>
            <a:pPr>
              <a:buFont typeface="Courier New" panose="02070309020205020404" pitchFamily="49" charset="0"/>
              <a:buChar char="o"/>
            </a:pP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18254F-F7B0-3D52-1D4C-AC006F99ED52}"/>
              </a:ext>
            </a:extLst>
          </p:cNvPr>
          <p:cNvSpPr txBox="1"/>
          <p:nvPr/>
        </p:nvSpPr>
        <p:spPr>
          <a:xfrm>
            <a:off x="997550" y="3319497"/>
            <a:ext cx="10787743" cy="3046988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countdown = 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 err="1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ile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countdown &gt; 0: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CA" sz="24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(countdown)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countdown -=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endParaRPr kumimoji="0" lang="en-CA" sz="22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3209EF-D90B-894F-4DA8-C6294D722009}"/>
              </a:ext>
            </a:extLst>
          </p:cNvPr>
          <p:cNvSpPr txBox="1"/>
          <p:nvPr/>
        </p:nvSpPr>
        <p:spPr>
          <a:xfrm>
            <a:off x="5284764" y="4402709"/>
            <a:ext cx="6098344" cy="230832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Starts the counter at 4.</a:t>
            </a:r>
          </a:p>
          <a:p>
            <a:r>
              <a:rPr lang="en-US" sz="2400" dirty="0">
                <a:solidFill>
                  <a:schemeClr val="bg1"/>
                </a:solidFill>
              </a:rPr>
              <a:t>While loop keeps running the loop as long as the condition is True.</a:t>
            </a:r>
          </a:p>
          <a:p>
            <a:r>
              <a:rPr lang="en-US" sz="2400" dirty="0">
                <a:solidFill>
                  <a:schemeClr val="bg1"/>
                </a:solidFill>
              </a:rPr>
              <a:t>Prints the current value of countdown.</a:t>
            </a:r>
          </a:p>
          <a:p>
            <a:r>
              <a:rPr lang="en-US" sz="2400" dirty="0">
                <a:solidFill>
                  <a:schemeClr val="bg1"/>
                </a:solidFill>
              </a:rPr>
              <a:t>Subtracts 1 from countdown each time the loop runs.</a:t>
            </a:r>
          </a:p>
        </p:txBody>
      </p:sp>
    </p:spTree>
    <p:extLst>
      <p:ext uri="{BB962C8B-B14F-4D97-AF65-F5344CB8AC3E}">
        <p14:creationId xmlns:p14="http://schemas.microsoft.com/office/powerpoint/2010/main" val="3456229657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B67CF3-3E46-16F7-E46F-4B4E06B505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7F4FF-364E-DC2E-C6F4-D3D9961EE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Infinite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8332D-C1B9-C217-C908-B125E7BA1B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CA" sz="2400" dirty="0">
                <a:solidFill>
                  <a:schemeClr val="bg1"/>
                </a:solidFill>
              </a:rPr>
              <a:t>Wait… what happens if we omit the last line of the code in the countdown example and the counter never changes? It’ll keep printing 4 forever!</a:t>
            </a:r>
          </a:p>
          <a:p>
            <a:r>
              <a:rPr lang="en-CA" sz="2400" dirty="0">
                <a:solidFill>
                  <a:schemeClr val="bg1"/>
                </a:solidFill>
              </a:rPr>
              <a:t>That’s called an </a:t>
            </a:r>
            <a:r>
              <a:rPr lang="en-CA" sz="2400" b="1" dirty="0">
                <a:solidFill>
                  <a:schemeClr val="bg1"/>
                </a:solidFill>
              </a:rPr>
              <a:t>infinite</a:t>
            </a:r>
            <a:r>
              <a:rPr lang="en-CA" sz="2400" dirty="0">
                <a:solidFill>
                  <a:schemeClr val="bg1"/>
                </a:solidFill>
              </a:rPr>
              <a:t> loop, which can crash your program or freeze it.</a:t>
            </a:r>
            <a:endParaRPr lang="en-CA" dirty="0">
              <a:solidFill>
                <a:schemeClr val="bg1"/>
              </a:solidFill>
            </a:endParaRPr>
          </a:p>
          <a:p>
            <a:pPr>
              <a:buFont typeface="Courier New" panose="02070309020205020404" pitchFamily="49" charset="0"/>
              <a:buChar char="o"/>
            </a:pP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9C4612-CCA9-ECB1-7C95-0E7F125289FD}"/>
              </a:ext>
            </a:extLst>
          </p:cNvPr>
          <p:cNvSpPr txBox="1"/>
          <p:nvPr/>
        </p:nvSpPr>
        <p:spPr>
          <a:xfrm>
            <a:off x="997550" y="3319497"/>
            <a:ext cx="10787743" cy="3385542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countdown = 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while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countdown &gt; 0: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	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print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(countdown)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4…</a:t>
            </a:r>
            <a:endParaRPr kumimoji="0" lang="en-CA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53611E-74FC-192B-CB48-FD87DE777FA4}"/>
              </a:ext>
            </a:extLst>
          </p:cNvPr>
          <p:cNvSpPr txBox="1"/>
          <p:nvPr/>
        </p:nvSpPr>
        <p:spPr>
          <a:xfrm>
            <a:off x="5284764" y="4402709"/>
            <a:ext cx="6098344" cy="8309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CA" sz="2400" b="0" dirty="0">
                <a:solidFill>
                  <a:schemeClr val="bg1"/>
                </a:solidFill>
                <a:effectLst/>
              </a:rPr>
              <a:t>To create an intentional infinite loop, we make the `while` condition `True`.</a:t>
            </a:r>
          </a:p>
        </p:txBody>
      </p:sp>
    </p:spTree>
    <p:extLst>
      <p:ext uri="{BB962C8B-B14F-4D97-AF65-F5344CB8AC3E}">
        <p14:creationId xmlns:p14="http://schemas.microsoft.com/office/powerpoint/2010/main" val="1192052696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2E93AD-38BB-0E9C-5167-FE1EDF80B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6AFA2-52C3-4766-D636-55C128731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Break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A83D2-87BE-0924-5EB7-D99D5BB717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CA" sz="2400" dirty="0">
                <a:solidFill>
                  <a:schemeClr val="bg1"/>
                </a:solidFill>
              </a:rPr>
              <a:t>We use break statements to interrupt the execution of a loop</a:t>
            </a:r>
            <a:endParaRPr lang="en-CA" dirty="0">
              <a:solidFill>
                <a:schemeClr val="bg1"/>
              </a:solidFill>
            </a:endParaRPr>
          </a:p>
          <a:p>
            <a:pPr>
              <a:buFont typeface="Courier New" panose="02070309020205020404" pitchFamily="49" charset="0"/>
              <a:buChar char="o"/>
            </a:pP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B8E71C-EFA9-E619-C9B4-085453559D70}"/>
              </a:ext>
            </a:extLst>
          </p:cNvPr>
          <p:cNvSpPr txBox="1"/>
          <p:nvPr/>
        </p:nvSpPr>
        <p:spPr>
          <a:xfrm>
            <a:off x="997550" y="3319497"/>
            <a:ext cx="10787743" cy="3046988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countdown = 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 err="1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ile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countdown &gt; 0: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CA" sz="24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(countdown)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CA" sz="24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countdown == 3: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CA" sz="24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break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countdown -=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9FDD79-2031-2D30-BEB5-4AD61ED74911}"/>
              </a:ext>
            </a:extLst>
          </p:cNvPr>
          <p:cNvSpPr txBox="1"/>
          <p:nvPr/>
        </p:nvSpPr>
        <p:spPr>
          <a:xfrm>
            <a:off x="5527599" y="3945065"/>
            <a:ext cx="6098344" cy="15696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CA" sz="2400" dirty="0">
                <a:solidFill>
                  <a:schemeClr val="bg1"/>
                </a:solidFill>
              </a:rPr>
              <a:t>This is useful when you want to stop early based on a certain condition.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b="1" dirty="0">
                <a:solidFill>
                  <a:schemeClr val="bg1"/>
                </a:solidFill>
              </a:rPr>
              <a:t>e.g. stops the loop immediately</a:t>
            </a:r>
            <a:r>
              <a:rPr lang="en-CA" sz="2400" dirty="0">
                <a:solidFill>
                  <a:schemeClr val="bg1"/>
                </a:solidFill>
              </a:rPr>
              <a:t> if countdown is 3.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57344375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6A1DC1-8C01-C21B-F43A-3E4396638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81671-A66E-A357-DA85-53B658914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Continue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C7B750-AC8D-BB6D-2F04-B864934805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CA" sz="2400" dirty="0">
                <a:solidFill>
                  <a:schemeClr val="bg1"/>
                </a:solidFill>
              </a:rPr>
              <a:t>We can interrupt a loop with a continue statement, which tells python to leave the current iteration of the loop and start back at the top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CA" sz="2400" dirty="0">
                <a:solidFill>
                  <a:schemeClr val="bg1"/>
                </a:solidFill>
              </a:rPr>
              <a:t>Useful when you want to ignore certain cases but keep looping.</a:t>
            </a:r>
          </a:p>
          <a:p>
            <a:pPr>
              <a:buFont typeface="Arial" panose="020B0604020202020204" pitchFamily="34" charset="0"/>
              <a:buChar char="•"/>
            </a:pPr>
            <a:endParaRPr lang="en-CA" sz="2400" dirty="0">
              <a:solidFill>
                <a:schemeClr val="bg1"/>
              </a:solidFill>
            </a:endParaRPr>
          </a:p>
          <a:p>
            <a:pPr>
              <a:buFont typeface="Courier New" panose="02070309020205020404" pitchFamily="49" charset="0"/>
              <a:buChar char="o"/>
            </a:pPr>
            <a:endParaRPr lang="en-CA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90FDC9-82E8-4839-B42A-575541086B5C}"/>
              </a:ext>
            </a:extLst>
          </p:cNvPr>
          <p:cNvSpPr txBox="1"/>
          <p:nvPr/>
        </p:nvSpPr>
        <p:spPr>
          <a:xfrm>
            <a:off x="117231" y="3249926"/>
            <a:ext cx="11957537" cy="2677656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for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i in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range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(1, 6):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if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i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%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2 == 0: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# if the number is even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   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continue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# skip the rest of the loop for this iteration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  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print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(i)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006AA9-7354-4C01-9A19-76A3919B39E1}"/>
              </a:ext>
            </a:extLst>
          </p:cNvPr>
          <p:cNvSpPr txBox="1"/>
          <p:nvPr/>
        </p:nvSpPr>
        <p:spPr>
          <a:xfrm>
            <a:off x="7469946" y="5142752"/>
            <a:ext cx="4281266" cy="15696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This example, skips the rest of the loop for the values that are divisible by 2, only printing odd numbers</a:t>
            </a:r>
          </a:p>
        </p:txBody>
      </p:sp>
    </p:spTree>
    <p:extLst>
      <p:ext uri="{BB962C8B-B14F-4D97-AF65-F5344CB8AC3E}">
        <p14:creationId xmlns:p14="http://schemas.microsoft.com/office/powerpoint/2010/main" val="150366998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98FA44-7C4E-38A6-8374-960748B13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44870-C292-975B-AA24-B6A56857C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Quiz: While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0B189-CBB3-51BD-701C-C780131C42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 marL="457200" indent="-457200">
              <a:buAutoNum type="arabicPeriod"/>
            </a:pPr>
            <a:r>
              <a:rPr lang="en-CA" sz="2400" b="1" dirty="0">
                <a:solidFill>
                  <a:schemeClr val="bg1"/>
                </a:solidFill>
              </a:rPr>
              <a:t>What does the following code print?</a:t>
            </a:r>
          </a:p>
          <a:p>
            <a:pPr marL="457200" indent="-457200">
              <a:buAutoNum type="arabicPeriod"/>
            </a:pPr>
            <a:endParaRPr lang="en-CA" sz="2400" b="1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en-CA" sz="2400" b="1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en-CA" sz="2400" b="1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en-CA" sz="2400" b="1" dirty="0">
              <a:solidFill>
                <a:schemeClr val="bg1"/>
              </a:solidFill>
            </a:endParaRP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1 2 3 4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1 2 3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0 1 2 3 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Infinite loop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48F298-6A82-F95A-93B7-4B31C9ED7697}"/>
              </a:ext>
            </a:extLst>
          </p:cNvPr>
          <p:cNvSpPr txBox="1"/>
          <p:nvPr/>
        </p:nvSpPr>
        <p:spPr>
          <a:xfrm>
            <a:off x="838200" y="2008641"/>
            <a:ext cx="8877887" cy="1569660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 =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 err="1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wh</a:t>
            </a:r>
            <a:r>
              <a:rPr kumimoji="0" lang="en-CA" sz="2400" b="0" i="0" u="none" strike="noStrike" kern="1200" cap="none" spc="0" normalizeH="0" baseline="0" noProof="0" dirty="0" err="1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ile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i 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&lt;= 3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CA" sz="2400" dirty="0">
                <a:solidFill>
                  <a:schemeClr val="accent3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(i)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i += 1</a:t>
            </a:r>
          </a:p>
        </p:txBody>
      </p:sp>
    </p:spTree>
    <p:extLst>
      <p:ext uri="{BB962C8B-B14F-4D97-AF65-F5344CB8AC3E}">
        <p14:creationId xmlns:p14="http://schemas.microsoft.com/office/powerpoint/2010/main" val="2160343623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3B25A8-04BC-FED3-053E-EBF676D45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4436B-93B7-13E5-38E5-E0F8FE83B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Quiz: While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07D349-9C9F-DA43-1F82-9C5AA91070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CA" sz="2400" b="1" dirty="0">
                <a:solidFill>
                  <a:schemeClr val="bg1"/>
                </a:solidFill>
              </a:rPr>
              <a:t>2. What happens in this scenario?</a:t>
            </a:r>
          </a:p>
          <a:p>
            <a:pPr marL="457200" indent="-457200">
              <a:buAutoNum type="arabicPeriod"/>
            </a:pPr>
            <a:endParaRPr lang="en-CA" sz="2400" b="1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en-CA" sz="2400" b="1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en-CA" sz="2400" b="1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en-CA" sz="2400" b="1" dirty="0">
              <a:solidFill>
                <a:schemeClr val="bg1"/>
              </a:solidFill>
            </a:endParaRP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Prints “Hello” once then stops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Causes an error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Runs infinitely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Prints ”Hello” 3 times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DBCEF8-76F6-4BDA-7CDF-0F6958C27751}"/>
              </a:ext>
            </a:extLst>
          </p:cNvPr>
          <p:cNvSpPr txBox="1"/>
          <p:nvPr/>
        </p:nvSpPr>
        <p:spPr>
          <a:xfrm>
            <a:off x="838200" y="2008641"/>
            <a:ext cx="8877887" cy="830997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while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True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	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print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(“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Hello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”)</a:t>
            </a:r>
          </a:p>
        </p:txBody>
      </p:sp>
    </p:spTree>
    <p:extLst>
      <p:ext uri="{BB962C8B-B14F-4D97-AF65-F5344CB8AC3E}">
        <p14:creationId xmlns:p14="http://schemas.microsoft.com/office/powerpoint/2010/main" val="3644198654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C56BB2-E358-6D4F-3A04-96B555B6E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37936-C642-08C9-A5A5-41DD92169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Quiz: While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C25E6E-7F3F-A049-EF18-2892200B8B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CA" sz="2400" b="1" dirty="0">
                <a:solidFill>
                  <a:schemeClr val="bg1"/>
                </a:solidFill>
              </a:rPr>
              <a:t>3. Which of the following stops a loop, even if the condition is still True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en-CA" sz="2400" b="1" dirty="0">
              <a:solidFill>
                <a:schemeClr val="bg1"/>
              </a:solidFill>
            </a:endParaRP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2 4 6 7 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1 2 3 4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1 3 5 7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Error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D27A73-9128-41C8-BBFA-43C57C1EE36B}"/>
              </a:ext>
            </a:extLst>
          </p:cNvPr>
          <p:cNvSpPr txBox="1"/>
          <p:nvPr/>
        </p:nvSpPr>
        <p:spPr>
          <a:xfrm>
            <a:off x="1276350" y="2344892"/>
            <a:ext cx="8739325" cy="46166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continue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B201A2-36CB-14D6-DB14-A9703352736C}"/>
              </a:ext>
            </a:extLst>
          </p:cNvPr>
          <p:cNvSpPr txBox="1"/>
          <p:nvPr/>
        </p:nvSpPr>
        <p:spPr>
          <a:xfrm>
            <a:off x="1276350" y="2877493"/>
            <a:ext cx="8739325" cy="46166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break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BF8A17-CDBB-0A0C-D9BD-C5B1E165ED83}"/>
              </a:ext>
            </a:extLst>
          </p:cNvPr>
          <p:cNvSpPr txBox="1"/>
          <p:nvPr/>
        </p:nvSpPr>
        <p:spPr>
          <a:xfrm>
            <a:off x="1276350" y="3391188"/>
            <a:ext cx="8739325" cy="46166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pass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CCD094-DB91-FF0B-6EFA-2F5E08E36DC5}"/>
              </a:ext>
            </a:extLst>
          </p:cNvPr>
          <p:cNvSpPr txBox="1"/>
          <p:nvPr/>
        </p:nvSpPr>
        <p:spPr>
          <a:xfrm>
            <a:off x="1276350" y="3867232"/>
            <a:ext cx="8739325" cy="46166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stop</a:t>
            </a:r>
          </a:p>
        </p:txBody>
      </p:sp>
    </p:spTree>
    <p:extLst>
      <p:ext uri="{BB962C8B-B14F-4D97-AF65-F5344CB8AC3E}">
        <p14:creationId xmlns:p14="http://schemas.microsoft.com/office/powerpoint/2010/main" val="1299631377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486858-196E-283D-5C1D-22272EDB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AF1C7-4F20-94C7-0581-05DA37757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Quiz: While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B56EF-B04E-5C7D-5FFD-0B798EFADE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CA" sz="2400" b="1" dirty="0">
                <a:solidFill>
                  <a:schemeClr val="bg1"/>
                </a:solidFill>
              </a:rPr>
              <a:t>4. What does the continue statement do</a:t>
            </a:r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en-CA" sz="2400" b="1" dirty="0">
              <a:solidFill>
                <a:schemeClr val="bg1"/>
              </a:solidFill>
            </a:endParaRP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Stops the loop completely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Skips the rest of the current iteration and moves on to the next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Exits the loop</a:t>
            </a:r>
          </a:p>
          <a:p>
            <a:pPr marL="457200" indent="-457200">
              <a:buAutoNum type="alphaUcPeriod"/>
            </a:pPr>
            <a:r>
              <a:rPr lang="en-CA" sz="2400" dirty="0">
                <a:solidFill>
                  <a:schemeClr val="bg1"/>
                </a:solidFill>
              </a:rPr>
              <a:t>Prints “continue” </a:t>
            </a:r>
          </a:p>
        </p:txBody>
      </p:sp>
    </p:spTree>
    <p:extLst>
      <p:ext uri="{BB962C8B-B14F-4D97-AF65-F5344CB8AC3E}">
        <p14:creationId xmlns:p14="http://schemas.microsoft.com/office/powerpoint/2010/main" val="3770863221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B532B8-A31D-30BC-B878-30FDEB1DB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3D9DB-37E6-915F-D8FC-518566FCD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Quiz: While loops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6671D9-9DAF-D1CE-1FD5-D052D2837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4"/>
            <a:ext cx="10787743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CA" sz="2400" b="1" dirty="0">
                <a:solidFill>
                  <a:schemeClr val="bg1"/>
                </a:solidFill>
              </a:rPr>
              <a:t>5. Fill in the blank to write a while loop that prints numbers 1 to 5</a:t>
            </a:r>
          </a:p>
          <a:p>
            <a:pPr marL="0" indent="0">
              <a:buNone/>
            </a:pPr>
            <a:endParaRPr lang="en-CA" sz="24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CA" sz="24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CA" sz="24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CA" sz="24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CA" sz="2400" b="1" dirty="0">
                <a:solidFill>
                  <a:schemeClr val="bg1"/>
                </a:solidFill>
              </a:rPr>
              <a:t>6. Fill in the blank to write a loop that stops when i reaches 4</a:t>
            </a:r>
          </a:p>
          <a:p>
            <a:pPr marL="457200" indent="-457200">
              <a:buAutoNum type="arabicPeriod"/>
            </a:pPr>
            <a:endParaRPr lang="en-CA" sz="2400" b="1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en-CA" sz="2400" b="1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en-CA" sz="2400" b="1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AutoNum type="arabicPeriod"/>
            </a:pPr>
            <a:endParaRPr lang="en-CA" sz="2400" b="1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9CFABA-44BD-C89F-AEBB-662FEA997483}"/>
              </a:ext>
            </a:extLst>
          </p:cNvPr>
          <p:cNvSpPr txBox="1"/>
          <p:nvPr/>
        </p:nvSpPr>
        <p:spPr>
          <a:xfrm>
            <a:off x="838200" y="2008641"/>
            <a:ext cx="8877887" cy="1569660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 =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while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___ 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	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print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(i)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	i +=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FEF470-ADB5-7006-167B-BFE6052157C3}"/>
              </a:ext>
            </a:extLst>
          </p:cNvPr>
          <p:cNvSpPr txBox="1"/>
          <p:nvPr/>
        </p:nvSpPr>
        <p:spPr>
          <a:xfrm>
            <a:off x="933743" y="4357922"/>
            <a:ext cx="8877887" cy="2308324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i =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while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True :</a:t>
            </a:r>
          </a:p>
          <a:p>
            <a:pPr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	i += 1</a:t>
            </a: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endParaRPr kumimoji="0" lang="en-CA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	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print</a:t>
            </a: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(i)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sz="2400" dirty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if ____: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		break</a:t>
            </a:r>
          </a:p>
        </p:txBody>
      </p:sp>
    </p:spTree>
    <p:extLst>
      <p:ext uri="{BB962C8B-B14F-4D97-AF65-F5344CB8AC3E}">
        <p14:creationId xmlns:p14="http://schemas.microsoft.com/office/powerpoint/2010/main" val="139937370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804</TotalTime>
  <Words>8332</Words>
  <Application>Microsoft Macintosh PowerPoint</Application>
  <PresentationFormat>Widescreen</PresentationFormat>
  <Paragraphs>1478</Paragraphs>
  <Slides>120</Slides>
  <Notes>120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120</vt:i4>
      </vt:variant>
    </vt:vector>
  </HeadingPairs>
  <TitlesOfParts>
    <vt:vector size="127" baseType="lpstr">
      <vt:lpstr>Aptos</vt:lpstr>
      <vt:lpstr>Aptos Display</vt:lpstr>
      <vt:lpstr>Arial</vt:lpstr>
      <vt:lpstr>Calibri Light</vt:lpstr>
      <vt:lpstr>Courier New</vt:lpstr>
      <vt:lpstr>Wingdings</vt:lpstr>
      <vt:lpstr>1_Office Theme</vt:lpstr>
      <vt:lpstr>07. control flow</vt:lpstr>
      <vt:lpstr>Learning objectives</vt:lpstr>
      <vt:lpstr>What is a Boolean?</vt:lpstr>
      <vt:lpstr>Logical (or Boolean) operators</vt:lpstr>
      <vt:lpstr>Logical (or Boolean) operators</vt:lpstr>
      <vt:lpstr>Logical (or Boolean) operators</vt:lpstr>
      <vt:lpstr>Best practice: Use Boolean values explicitly</vt:lpstr>
      <vt:lpstr>Order of precedence</vt:lpstr>
      <vt:lpstr>Quiz: Logical operators</vt:lpstr>
      <vt:lpstr>Quiz: Logical operators</vt:lpstr>
      <vt:lpstr>Quiz: Logical operators</vt:lpstr>
      <vt:lpstr>Quiz: Logical operators</vt:lpstr>
      <vt:lpstr>Quiz: Logical operators</vt:lpstr>
      <vt:lpstr>What is control flow?</vt:lpstr>
      <vt:lpstr>Conditions</vt:lpstr>
      <vt:lpstr>The if statement</vt:lpstr>
      <vt:lpstr>The if statement</vt:lpstr>
      <vt:lpstr>The if statement</vt:lpstr>
      <vt:lpstr>The else statement</vt:lpstr>
      <vt:lpstr>The else statement</vt:lpstr>
      <vt:lpstr>The elif statement</vt:lpstr>
      <vt:lpstr>The else statement</vt:lpstr>
      <vt:lpstr>Quiz: Conditional statements</vt:lpstr>
      <vt:lpstr>Quiz: Conditional statements</vt:lpstr>
      <vt:lpstr>Quiz: Conditional statements</vt:lpstr>
      <vt:lpstr>Quiz: Conditional statements</vt:lpstr>
      <vt:lpstr>Quiz: Conditional statements</vt:lpstr>
      <vt:lpstr>Exercise # 1</vt:lpstr>
      <vt:lpstr>Building more complex conditions</vt:lpstr>
      <vt:lpstr>Building more complex conditions</vt:lpstr>
      <vt:lpstr>Building more complex conditions</vt:lpstr>
      <vt:lpstr>Nested conditions</vt:lpstr>
      <vt:lpstr>Nested conditions</vt:lpstr>
      <vt:lpstr>Quiz: Nested conditions</vt:lpstr>
      <vt:lpstr>Quiz: Nested conditions</vt:lpstr>
      <vt:lpstr>Quiz: Nested conditions</vt:lpstr>
      <vt:lpstr>Quiz: Nested conditions</vt:lpstr>
      <vt:lpstr>Collection of values</vt:lpstr>
      <vt:lpstr>Why do we need collections?</vt:lpstr>
      <vt:lpstr>Collections in Python</vt:lpstr>
      <vt:lpstr>Lists</vt:lpstr>
      <vt:lpstr>Lists</vt:lpstr>
      <vt:lpstr>Accessing items by index in a list</vt:lpstr>
      <vt:lpstr>List membership and basic operations</vt:lpstr>
      <vt:lpstr>Mutating lists</vt:lpstr>
      <vt:lpstr>List methods</vt:lpstr>
      <vt:lpstr>List methods</vt:lpstr>
      <vt:lpstr>List methods</vt:lpstr>
      <vt:lpstr>List methods</vt:lpstr>
      <vt:lpstr>List methods</vt:lpstr>
      <vt:lpstr>List methods</vt:lpstr>
      <vt:lpstr>Sorting lists</vt:lpstr>
      <vt:lpstr>Sorting lists</vt:lpstr>
      <vt:lpstr>Quiz: Lists</vt:lpstr>
      <vt:lpstr>Quiz: Lists</vt:lpstr>
      <vt:lpstr>Quiz: Lists</vt:lpstr>
      <vt:lpstr>Quiz: Lists</vt:lpstr>
      <vt:lpstr>Tuples</vt:lpstr>
      <vt:lpstr>Tuples</vt:lpstr>
      <vt:lpstr>Quiz: Tuples</vt:lpstr>
      <vt:lpstr>Quiz: Tuples</vt:lpstr>
      <vt:lpstr>Quiz: Tuples</vt:lpstr>
      <vt:lpstr>Set</vt:lpstr>
      <vt:lpstr>Set</vt:lpstr>
      <vt:lpstr>Set</vt:lpstr>
      <vt:lpstr>Set operations</vt:lpstr>
      <vt:lpstr>Set operations</vt:lpstr>
      <vt:lpstr>Set operations</vt:lpstr>
      <vt:lpstr>Set operations</vt:lpstr>
      <vt:lpstr>Quiz: Sets</vt:lpstr>
      <vt:lpstr>Quiz: Sets</vt:lpstr>
      <vt:lpstr>Quiz: Sets</vt:lpstr>
      <vt:lpstr>Quiz: Sets</vt:lpstr>
      <vt:lpstr>Dictionaries</vt:lpstr>
      <vt:lpstr>Accessing, adding and updating dictionaries</vt:lpstr>
      <vt:lpstr>Accessing, adding and updating dictionaries</vt:lpstr>
      <vt:lpstr>Accessing, adding and updating dictionaries</vt:lpstr>
      <vt:lpstr>Accessing, adding and updating dictionaries</vt:lpstr>
      <vt:lpstr>Dictionary methods</vt:lpstr>
      <vt:lpstr>Quiz: Dictionaries</vt:lpstr>
      <vt:lpstr>Quiz: Dictionaries</vt:lpstr>
      <vt:lpstr>Quiz: Dictionaries</vt:lpstr>
      <vt:lpstr>Quiz: Dictionaries</vt:lpstr>
      <vt:lpstr>Quiz: Dictionaries</vt:lpstr>
      <vt:lpstr>Summary table</vt:lpstr>
      <vt:lpstr>What are iteration and loops?</vt:lpstr>
      <vt:lpstr>For loops</vt:lpstr>
      <vt:lpstr>For loops</vt:lpstr>
      <vt:lpstr>For loops</vt:lpstr>
      <vt:lpstr>For loops</vt:lpstr>
      <vt:lpstr>For loops</vt:lpstr>
      <vt:lpstr>For loops</vt:lpstr>
      <vt:lpstr>For loops</vt:lpstr>
      <vt:lpstr>Quiz: For loops</vt:lpstr>
      <vt:lpstr>Quiz: For loops</vt:lpstr>
      <vt:lpstr>Quiz: For loops</vt:lpstr>
      <vt:lpstr>Quiz: For loops</vt:lpstr>
      <vt:lpstr>Looping with multiple values</vt:lpstr>
      <vt:lpstr>Looping with multiple values</vt:lpstr>
      <vt:lpstr>Looping with multiple values</vt:lpstr>
      <vt:lpstr>Looping with multiple values</vt:lpstr>
      <vt:lpstr>Looping with multiple values</vt:lpstr>
      <vt:lpstr>Quiz: For loops with multiple values</vt:lpstr>
      <vt:lpstr>Quiz: For loops with multiple values</vt:lpstr>
      <vt:lpstr>Quiz: For loops with multiple values</vt:lpstr>
      <vt:lpstr>Nested loops</vt:lpstr>
      <vt:lpstr>Nested loops</vt:lpstr>
      <vt:lpstr>Nested loops</vt:lpstr>
      <vt:lpstr>Nested loops</vt:lpstr>
      <vt:lpstr>Quiz: Nested for loops</vt:lpstr>
      <vt:lpstr>Quiz: Nested for loops</vt:lpstr>
      <vt:lpstr>While loops</vt:lpstr>
      <vt:lpstr>Infinite loops</vt:lpstr>
      <vt:lpstr>Break statements</vt:lpstr>
      <vt:lpstr>Continue statements</vt:lpstr>
      <vt:lpstr>Quiz: While loops</vt:lpstr>
      <vt:lpstr>Quiz: While loops</vt:lpstr>
      <vt:lpstr>Quiz: While loop</vt:lpstr>
      <vt:lpstr>Quiz: While loop</vt:lpstr>
      <vt:lpstr>Quiz: While loops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Julia Gallucci</dc:creator>
  <cp:lastModifiedBy>Julia Gallucci</cp:lastModifiedBy>
  <cp:revision>107</cp:revision>
  <dcterms:created xsi:type="dcterms:W3CDTF">2026-01-19T15:00:00Z</dcterms:created>
  <dcterms:modified xsi:type="dcterms:W3CDTF">2026-04-10T17:12:11Z</dcterms:modified>
</cp:coreProperties>
</file>