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7" r:id="rId2"/>
    <p:sldId id="259" r:id="rId3"/>
    <p:sldId id="264" r:id="rId4"/>
    <p:sldId id="265" r:id="rId5"/>
    <p:sldId id="266" r:id="rId6"/>
    <p:sldId id="260" r:id="rId7"/>
    <p:sldId id="261" r:id="rId8"/>
    <p:sldId id="262" r:id="rId9"/>
    <p:sldId id="366" r:id="rId10"/>
    <p:sldId id="368" r:id="rId11"/>
    <p:sldId id="263" r:id="rId12"/>
    <p:sldId id="369" r:id="rId13"/>
    <p:sldId id="353" r:id="rId14"/>
    <p:sldId id="354" r:id="rId15"/>
    <p:sldId id="360" r:id="rId16"/>
    <p:sldId id="355" r:id="rId17"/>
    <p:sldId id="362" r:id="rId18"/>
    <p:sldId id="359" r:id="rId19"/>
    <p:sldId id="292" r:id="rId20"/>
    <p:sldId id="363" r:id="rId21"/>
    <p:sldId id="3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29"/>
    <p:restoredTop sz="96395"/>
  </p:normalViewPr>
  <p:slideViewPr>
    <p:cSldViewPr snapToGrid="0">
      <p:cViewPr varScale="1">
        <p:scale>
          <a:sx n="114" d="100"/>
          <a:sy n="114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4B78E-0517-2149-A848-7F9FB4639742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4EB57-1A17-FD43-9ABD-874A141E7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4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239E-7B65-F188-653C-12C8E629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78DDE-17FA-8CA2-AB24-C045262B1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E69C7-0A1E-DA92-C3FA-2DC425620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B5B23-2FB5-C819-DD31-9C4AB4B5F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58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4A45-D8B4-C426-9970-611B3E72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7CD9B-CDBB-DCD3-52B6-29B9F1D34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0BA5B-0D7D-A159-5E7E-FA02B59A0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88145-10AD-C02B-BC9D-09C7FB191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006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FE49F-D43D-FD38-D379-A440E71E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49D90-CE3E-156C-F664-13D29F9D3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22024-059A-A8F4-6A05-14B053A69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B05CE-84F9-B4E7-C861-3AA3F6A38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9815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DD34-5C2D-4E48-B230-F990ED11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46B9F-16D9-10D0-8AE4-E812C8487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18D36-7232-2027-E3A4-6DC89D51C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D581B-9034-75DD-CD96-BD9A175A6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312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1ACE-8B8F-6218-71EF-DAC271D9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F575D-7144-6547-6CA1-EDDDE7DD3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62F1B-C957-88D8-5DFF-0439FBBD4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88939-AB3A-3036-01A8-318095285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8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EA322-3DAF-3908-5D8A-1BCC2150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B1E90-4907-A0FA-AC72-D88C80704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69EB1-D2B5-C0F4-B75B-5833D6CAA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941B5-F74D-6D22-AD46-1EB62D4A3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458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7D93D-E414-2FE5-64FC-B749CAAC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939CE-6274-F330-0FC4-10045DF83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0D101-EC36-08E8-F07E-FB2BD919A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EA23-BA3C-B248-8875-15D0E5BD8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207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66B9-A5DD-E133-B7D6-361AD225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91FA5-D16E-1817-63B8-EA29C1A31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4E556-F6B5-CA6F-6EA1-E2D542E67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70FF7-9B26-5C12-2555-02B42B052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746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664F8-C0E7-B256-9A23-225053CD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0BF15-8E8C-C675-ED81-DC30CA7AF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8728C-1617-72E8-1886-194504A5B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46AB6-D829-60B0-92E8-45BD3FEF0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267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83C1-448F-0343-F989-D597D9E4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B0026-2E2C-620E-CCDC-1BBC6504E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639E1-058B-E915-ECBC-775E335C1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A7387-05D5-8ACD-C8C0-34F199340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349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5B94-F4AC-18B1-E6A1-F5A10D35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CFF0B-7C91-17CB-78B2-282AA6DB2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E1515-C8B1-3A67-3FC6-F26203ABD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46E03-4C9D-74FE-7D07-BCEC87FA7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406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BE3A-4C1A-8C59-F728-55BD0271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4B940-A2D9-360B-1D84-CDA19E3BB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0A854-B57B-23BE-76FE-FFE47197E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56B2C-BCF0-DBD4-2CED-61F0FF8C7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320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88A0-0E75-4899-333F-28C10C7F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5453B-942E-B41A-788E-966F10C2F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9ADD2-11CA-9BE8-DA12-56C9BAD52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E1788-5BA7-723D-A4ED-AC89FBAF2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347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9AFD-9F8E-64CB-AAE0-3E19DFFD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1B925-8B30-FF5C-F83A-4806F3645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FA954-24A6-7E94-D26D-6ECAE3100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7800C-CCCB-2AC4-5148-36914BAB4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6490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27A9-1BC3-4EA2-8AC6-5F637386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4F7C0-14F9-00AA-15A1-EDD3AC4D5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3E31D-0287-6113-D023-A4E9789C4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89089-55E8-BD84-B50D-6F402F892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95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B495-51FA-2419-4531-7032804E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EE24A-F48C-1D9B-A1C1-EAFBD15FC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DA58D-0C90-AF0E-1989-B8D283CF3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42F75-3A3A-CF06-28BC-381EEBC2B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165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FEAA-E7B8-2801-0B6D-209F04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450-9DFD-C3E8-9C4E-532AC3E1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06BE-608E-101A-6495-4F503C4E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777A-958C-732B-2E98-958AA2DDC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896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D97E8-2F51-9838-1DD1-4A54D675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D6071-A589-CAA9-EAA8-0C7F5FB39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D7AA9-D22B-99C8-FDC6-D1ED2207D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38058-4B4F-3674-7C9E-36667902C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002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CE5F-0326-7EF4-7704-7CE133F6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6B92E-B8FB-A291-3B8E-9EAD404ED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06849-6C06-1F43-9BBA-AAB80129E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CB017-F4A3-3E79-8255-115448590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7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30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2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2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7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5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1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2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8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8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9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67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98319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08. reading and writing files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F48C1EC-098E-C359-4FD7-77A1143D7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 able to open, read and write files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Navigate folders and manipulate paths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354A9-1D55-6719-8E44-BEDE0D76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55C0-7DD7-9C54-E4B8-EE612EC5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Navigating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A560-7FDE-B76E-7EDC-887CC682B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Sometimes we need to work with many files at once, like reading all the files in a folder.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Python has a built-in module called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-CA" sz="2400" dirty="0">
                <a:solidFill>
                  <a:schemeClr val="bg1"/>
                </a:solidFill>
              </a:rPr>
              <a:t> that helps us look at and navigate the files and folders on our computer.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With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-CA" sz="2400" dirty="0">
                <a:solidFill>
                  <a:schemeClr val="bg1"/>
                </a:solidFill>
              </a:rPr>
              <a:t>, we can: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See which files and folders are in a folder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Check if a file or folder exists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Create new folders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Change the current working folder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This lets us write programs that work with multiple files automatically, instead of opening them one by one.</a:t>
            </a:r>
          </a:p>
        </p:txBody>
      </p:sp>
    </p:spTree>
    <p:extLst>
      <p:ext uri="{BB962C8B-B14F-4D97-AF65-F5344CB8AC3E}">
        <p14:creationId xmlns:p14="http://schemas.microsoft.com/office/powerpoint/2010/main" val="369899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03B50-AA9D-49AF-AC12-55F88101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FC6D-5AEB-2921-893C-D09CBFA3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Navigating folders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C0029-1C03-FF01-0E7D-331A56D84D1D}"/>
              </a:ext>
            </a:extLst>
          </p:cNvPr>
          <p:cNvSpPr txBox="1"/>
          <p:nvPr/>
        </p:nvSpPr>
        <p:spPr>
          <a:xfrm>
            <a:off x="1077197" y="1887624"/>
            <a:ext cx="9800100" cy="415498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os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get path to the folder we’re currently 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os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.getcwd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see contents of the current folder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os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.listdir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change to a new directory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os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.chdir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74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1528F-029C-D072-31B8-E4BF43B7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6D7C-B29E-DB86-FEDE-369F8DB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Navigating folders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7B087-1342-212B-AE4E-86C7474E1E0D}"/>
              </a:ext>
            </a:extLst>
          </p:cNvPr>
          <p:cNvSpPr txBox="1"/>
          <p:nvPr/>
        </p:nvSpPr>
        <p:spPr>
          <a:xfrm>
            <a:off x="290762" y="1482141"/>
            <a:ext cx="11610475" cy="501675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Path to the folder you want to look inside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folder_path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‘../../05_src/data/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slides_data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</a:t>
            </a:r>
          </a:p>
          <a:p>
            <a:pPr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Get a list of all files and folders inside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items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os.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listdir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folder_path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Print each item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item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items: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(item)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delay_reasons.csv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all_delays.csv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bike_thefts_joined.csv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california_housing_test.csv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1959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1E377-5761-02A4-4D65-253C2F835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A4C9-FE2A-EA9E-D5C5-29A0574E6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Opening, 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6A8D6-05B4-6861-C0A5-D3E69BEA8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</a:rPr>
              <a:t>Python can read and write files using the built-in open() function.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</a:rPr>
              <a:t>Syntax: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mode)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dirty="0" err="1">
                <a:solidFill>
                  <a:schemeClr val="bg1"/>
                </a:solidFill>
              </a:rPr>
              <a:t>file_path</a:t>
            </a:r>
            <a:r>
              <a:rPr lang="en-CA" dirty="0">
                <a:solidFill>
                  <a:schemeClr val="bg1"/>
                </a:solidFill>
              </a:rPr>
              <a:t>: string indicating the location of the file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mode: one-character string indicating how to open the file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2DC494-8E60-B349-1141-346ED2ECC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810734"/>
              </p:ext>
            </p:extLst>
          </p:nvPr>
        </p:nvGraphicFramePr>
        <p:xfrm>
          <a:off x="1199408" y="4234579"/>
          <a:ext cx="9440883" cy="220553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31917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7908966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Mode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‘r’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 only. Produces an error if the file doesn’t exist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‘w’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Write. Creates a new file if it doesn’t exist, or overwrites an existing file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‘a’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Append. Adds to an existing file, or creates a new file if it doesn’t already exist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18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48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4DB29-A187-3BF1-72BD-BB640D21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C17C-17F5-E485-1171-B81BDA1A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Opening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18F3-BDEA-11C6-4CC9-FE57E44E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</a:rPr>
              <a:t>To open a file, we use a with statement which follows the pattern</a:t>
            </a:r>
          </a:p>
          <a:p>
            <a:pPr lvl="1">
              <a:lnSpc>
                <a:spcPct val="150000"/>
              </a:lnSpc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open(‘file path’) as </a:t>
            </a:r>
            <a:r>
              <a:rPr lang="en-CA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variable_name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Then an indented block of code to process the file</a:t>
            </a:r>
            <a:endParaRPr lang="en-CA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34751-D44D-67E1-8873-CD95F198FF68}"/>
              </a:ext>
            </a:extLst>
          </p:cNvPr>
          <p:cNvSpPr txBox="1"/>
          <p:nvPr/>
        </p:nvSpPr>
        <p:spPr>
          <a:xfrm>
            <a:off x="970819" y="3588283"/>
            <a:ext cx="9800100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</a:t>
            </a:r>
          </a:p>
          <a:p>
            <a:pPr>
              <a:defRPr/>
            </a:pPr>
            <a:r>
              <a:rPr lang="en-CA" sz="2400">
                <a:solidFill>
                  <a:schemeClr val="bg1"/>
                </a:solidFill>
                <a:latin typeface="Courier New" panose="02070309020205020404" pitchFamily="49" charset="0"/>
              </a:rPr>
              <a:t>with </a:t>
            </a:r>
            <a:r>
              <a:rPr lang="en-CA" sz="2400">
                <a:solidFill>
                  <a:schemeClr val="accent3"/>
                </a:solidFill>
                <a:latin typeface="Courier New" panose="02070309020205020404" pitchFamily="49" charset="0"/>
              </a:rPr>
              <a:t>open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'../../05_src/data/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slides_data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/ 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california_housing_test.csv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,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'r') as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file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	print(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file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&lt;_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io.TextIOWrapper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name='../../05_src/data/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slides_data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/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california_housing_test.csv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' mode='r' encoding='UTF-8'&gt;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F6589-5819-39EC-1E66-B6D91831B699}"/>
              </a:ext>
            </a:extLst>
          </p:cNvPr>
          <p:cNvSpPr txBox="1"/>
          <p:nvPr/>
        </p:nvSpPr>
        <p:spPr>
          <a:xfrm>
            <a:off x="5527965" y="4696278"/>
            <a:ext cx="609797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tells you Python successfully opened the file.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65056-6914-BDA8-A99F-F0B82E17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07FF-659F-9F29-FD61-9838674F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Reading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7DDAF-71D0-75EE-F71A-621904ABA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As we saw, opening a file doesn’t immediately get us the file’s contents. To do that, we must use a read method</a:t>
            </a:r>
            <a:endParaRPr lang="en-CA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EEEE6A-D5F2-FB09-802A-416971BD3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454226"/>
              </p:ext>
            </p:extLst>
          </p:nvPr>
        </p:nvGraphicFramePr>
        <p:xfrm>
          <a:off x="1186053" y="2457904"/>
          <a:ext cx="9440883" cy="19421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6529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7634354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dirty="0">
                          <a:effectLst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u="none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full file contents, which can be overwhelming for larger files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only the next line in the file. Python keeps track of where it is in the file.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readlines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full file as a list. Each item is one line in the file.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183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B556D9-1EFF-70C0-DD88-B6B19EED0C07}"/>
              </a:ext>
            </a:extLst>
          </p:cNvPr>
          <p:cNvSpPr txBox="1"/>
          <p:nvPr/>
        </p:nvSpPr>
        <p:spPr>
          <a:xfrm>
            <a:off x="200723" y="4518898"/>
            <a:ext cx="11764536" cy="110799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with 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open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'../../05_src/data/</a:t>
            </a:r>
            <a:r>
              <a:rPr lang="en-CA" sz="20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slides_data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/</a:t>
            </a:r>
            <a:r>
              <a:rPr lang="en-CA" sz="20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california_housing_test.csv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'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</a:rPr>
              <a:t>,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</a:rPr>
              <a:t>'r')</a:t>
            </a: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 as 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file</a:t>
            </a: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	print(</a:t>
            </a:r>
            <a:r>
              <a:rPr lang="en-CA" sz="22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file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.</a:t>
            </a:r>
            <a:r>
              <a:rPr lang="en-CA" sz="2200" b="1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read</a:t>
            </a:r>
            <a:r>
              <a:rPr lang="en-CA" sz="2200" b="1" dirty="0">
                <a:solidFill>
                  <a:schemeClr val="accent3"/>
                </a:solidFill>
                <a:latin typeface="Courier New" panose="02070309020205020404" pitchFamily="49" charset="0"/>
              </a:rPr>
              <a:t>()</a:t>
            </a: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lang="en-CA" sz="12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2CADC-ECDD-9D43-F94D-B1A9841CEA69}"/>
              </a:ext>
            </a:extLst>
          </p:cNvPr>
          <p:cNvSpPr txBox="1"/>
          <p:nvPr/>
        </p:nvSpPr>
        <p:spPr>
          <a:xfrm>
            <a:off x="5527965" y="5361740"/>
            <a:ext cx="609797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reads the entire file!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36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76588-9040-642A-F080-56A010FD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B5A2-C500-3FE3-C7FC-9AF8F2A8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Reading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AF59-7AD4-0D5D-9279-EEA7DF54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As we saw, opening a file doesn’t immediately get us the file’s contents. To do that, we must use a read method</a:t>
            </a:r>
            <a:endParaRPr lang="en-CA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65C366-CE92-B1B6-307B-36DD5D9E4CB5}"/>
              </a:ext>
            </a:extLst>
          </p:cNvPr>
          <p:cNvGraphicFramePr>
            <a:graphicFrameLocks noGrp="1"/>
          </p:cNvGraphicFramePr>
          <p:nvPr/>
        </p:nvGraphicFramePr>
        <p:xfrm>
          <a:off x="1186053" y="2457904"/>
          <a:ext cx="9440883" cy="19421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6529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7634354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dirty="0">
                          <a:effectLst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u="none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full file contents, which can be overwhelming for larger files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only the next line in the file. Python keeps track of where it is in the file.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readlines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full file as a list. Each item is one line in the file.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183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000798E-CB41-6C34-B2D2-1EED196690C6}"/>
              </a:ext>
            </a:extLst>
          </p:cNvPr>
          <p:cNvSpPr txBox="1"/>
          <p:nvPr/>
        </p:nvSpPr>
        <p:spPr>
          <a:xfrm>
            <a:off x="352926" y="4518898"/>
            <a:ext cx="11839074" cy="138499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with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open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'../../05_src/data/</a:t>
            </a:r>
            <a:r>
              <a:rPr lang="en-CA" sz="20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slides_data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/</a:t>
            </a:r>
            <a:r>
              <a:rPr lang="en-CA" sz="20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california_housing_test.csv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'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</a:rPr>
              <a:t>,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'r') as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</a:rPr>
              <a:t>	print(</a:t>
            </a:r>
            <a:r>
              <a:rPr lang="en-CA" sz="2200" dirty="0" err="1">
                <a:solidFill>
                  <a:prstClr val="black"/>
                </a:solidFill>
                <a:latin typeface="Courier New" panose="02070309020205020404" pitchFamily="49" charset="0"/>
              </a:rPr>
              <a:t>file.</a:t>
            </a:r>
            <a:r>
              <a:rPr lang="en-CA" sz="2200" b="1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readline</a:t>
            </a:r>
            <a:r>
              <a:rPr lang="en-CA" sz="2200" b="1" dirty="0">
                <a:solidFill>
                  <a:schemeClr val="accent3"/>
                </a:solidFill>
                <a:latin typeface="Courier New" panose="02070309020205020404" pitchFamily="49" charset="0"/>
              </a:rPr>
              <a:t>()</a:t>
            </a: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</a:rPr>
              <a:t>)</a:t>
            </a:r>
            <a:r>
              <a:rPr lang="en-CA" sz="2000" dirty="0">
                <a:solidFill>
                  <a:schemeClr val="accent1"/>
                </a:solidFill>
                <a:latin typeface="Courier New" panose="02070309020205020404" pitchFamily="49" charset="0"/>
              </a:rPr>
              <a:t> # First line</a:t>
            </a:r>
            <a:endParaRPr lang="en-CA" sz="2200" dirty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</a:rPr>
              <a:t>	print(</a:t>
            </a:r>
            <a:r>
              <a:rPr lang="en-CA" sz="2200" dirty="0" err="1">
                <a:solidFill>
                  <a:prstClr val="black"/>
                </a:solidFill>
                <a:latin typeface="Courier New" panose="02070309020205020404" pitchFamily="49" charset="0"/>
              </a:rPr>
              <a:t>file.</a:t>
            </a:r>
            <a:r>
              <a:rPr lang="en-CA" sz="2200" b="1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readline</a:t>
            </a:r>
            <a:r>
              <a:rPr lang="en-CA" sz="2200" b="1" dirty="0">
                <a:solidFill>
                  <a:schemeClr val="accent3"/>
                </a:solidFill>
                <a:latin typeface="Courier New" panose="02070309020205020404" pitchFamily="49" charset="0"/>
              </a:rPr>
              <a:t>()</a:t>
            </a: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  <a:r>
              <a:rPr lang="en-CA" sz="2200" dirty="0">
                <a:solidFill>
                  <a:schemeClr val="accent1"/>
                </a:solidFill>
                <a:latin typeface="Courier New" panose="02070309020205020404" pitchFamily="49" charset="0"/>
              </a:rPr>
              <a:t># Second line</a:t>
            </a:r>
            <a:endParaRPr kumimoji="0" lang="en-CA" sz="2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A7AE6-5F24-FABB-7CBE-D27B8419E13E}"/>
              </a:ext>
            </a:extLst>
          </p:cNvPr>
          <p:cNvSpPr txBox="1"/>
          <p:nvPr/>
        </p:nvSpPr>
        <p:spPr>
          <a:xfrm>
            <a:off x="5527965" y="5903893"/>
            <a:ext cx="609797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reads the line one at a time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65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E0E01-6AF1-D914-D246-F044BB358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75252-8FC8-5857-81DB-23F7451F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Reading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F96A6-3D80-1384-3D70-26189AF1B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As we saw, opening a file doesn’t immediately get us the file’s contents. To do that, we must use a read method</a:t>
            </a:r>
            <a:endParaRPr lang="en-CA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CBC874-0158-8755-01B5-35E9913332F9}"/>
              </a:ext>
            </a:extLst>
          </p:cNvPr>
          <p:cNvGraphicFramePr>
            <a:graphicFrameLocks noGrp="1"/>
          </p:cNvGraphicFramePr>
          <p:nvPr/>
        </p:nvGraphicFramePr>
        <p:xfrm>
          <a:off x="1186053" y="2457904"/>
          <a:ext cx="9440883" cy="19421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6529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7634354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dirty="0">
                          <a:effectLst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u="none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full file contents, which can be overwhelming for larger files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only the next line in the file. Python keeps track of where it is in the file.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readlines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full file as a list. Each item is one line in the file.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183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87A607-EC3C-1648-D548-B9113FCDCC86}"/>
              </a:ext>
            </a:extLst>
          </p:cNvPr>
          <p:cNvSpPr txBox="1"/>
          <p:nvPr/>
        </p:nvSpPr>
        <p:spPr>
          <a:xfrm>
            <a:off x="352926" y="4518898"/>
            <a:ext cx="11839074" cy="172354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with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open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'../../05_src/data/</a:t>
            </a:r>
            <a:r>
              <a:rPr lang="en-CA" sz="20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slides_data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/</a:t>
            </a:r>
            <a:r>
              <a:rPr lang="en-CA" sz="20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california_housing_test.csv</a:t>
            </a:r>
            <a:r>
              <a:rPr lang="en-CA" sz="2000" dirty="0">
                <a:solidFill>
                  <a:schemeClr val="accent6"/>
                </a:solidFill>
                <a:latin typeface="Courier New" panose="02070309020205020404" pitchFamily="49" charset="0"/>
              </a:rPr>
              <a:t>'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</a:rPr>
              <a:t>,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'r') as 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</a:t>
            </a: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lines = </a:t>
            </a:r>
            <a:r>
              <a:rPr kumimoji="0" lang="en-CA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file.</a:t>
            </a:r>
            <a:r>
              <a:rPr kumimoji="0" lang="en-CA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readlines</a:t>
            </a:r>
            <a:r>
              <a:rPr kumimoji="0" lang="en-CA" sz="22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 line in lines: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(line)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2BF55-422A-02A3-CA49-C7CECAD0D58F}"/>
              </a:ext>
            </a:extLst>
          </p:cNvPr>
          <p:cNvSpPr txBox="1"/>
          <p:nvPr/>
        </p:nvSpPr>
        <p:spPr>
          <a:xfrm>
            <a:off x="5585855" y="5763917"/>
            <a:ext cx="609797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reads everything in the file as a list of lines!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528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2C03B-D5BA-89E0-D7B8-9DC04C44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A238-40E0-D4A2-DF11-5DFC4FA1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D4049-C30A-C6B5-1435-92700CF7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There are also methods to write. </a:t>
            </a:r>
            <a:endParaRPr lang="en-CA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2AA947-4421-3BB6-A5B0-51C006E6A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341855"/>
              </p:ext>
            </p:extLst>
          </p:nvPr>
        </p:nvGraphicFramePr>
        <p:xfrm>
          <a:off x="1186053" y="2000411"/>
          <a:ext cx="9440883" cy="130211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37157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7503726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dirty="0">
                          <a:effectLst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 u="none" dirty="0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Writes a single string to file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writelines</a:t>
                      </a:r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Writes a list (or any </a:t>
                      </a:r>
                      <a:r>
                        <a:rPr lang="en-CA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iterable</a:t>
                      </a:r>
                      <a:r>
                        <a:rPr lang="en-CA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of strings to a file. Need to separate new lines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F2B484-E798-5671-0937-ECDD935E4659}"/>
              </a:ext>
            </a:extLst>
          </p:cNvPr>
          <p:cNvSpPr txBox="1"/>
          <p:nvPr/>
        </p:nvSpPr>
        <p:spPr>
          <a:xfrm>
            <a:off x="1186053" y="3555477"/>
            <a:ext cx="10167747" cy="32316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airlines = 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"Code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t</a:t>
            </a:r>
            <a:r>
              <a:rPr lang="en-CA" sz="22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Airline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\n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"AAL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t</a:t>
            </a:r>
            <a:r>
              <a:rPr lang="en-CA" sz="22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American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 Airlines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\n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"ABK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t</a:t>
            </a:r>
            <a:r>
              <a:rPr lang="en-CA" sz="22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Airbus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 Canada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\n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"ABP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t</a:t>
            </a:r>
            <a:r>
              <a:rPr lang="en-CA" sz="22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ABS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 Jets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\n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"ACA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t</a:t>
            </a:r>
            <a:r>
              <a:rPr lang="en-CA" sz="22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Air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 Canada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\n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6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with 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open</a:t>
            </a: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'</a:t>
            </a:r>
            <a:r>
              <a:rPr lang="en-CA" sz="22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airlines.txt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', </a:t>
            </a: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‘w') as 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file</a:t>
            </a: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	</a:t>
            </a:r>
            <a:r>
              <a:rPr lang="en-CA" sz="2200" dirty="0" err="1">
                <a:solidFill>
                  <a:schemeClr val="bg1"/>
                </a:solidFill>
                <a:latin typeface="Courier New" panose="02070309020205020404" pitchFamily="49" charset="0"/>
              </a:rPr>
              <a:t>file.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writelines</a:t>
            </a:r>
            <a:r>
              <a:rPr lang="en-CA" sz="2200" dirty="0">
                <a:solidFill>
                  <a:schemeClr val="bg1"/>
                </a:solidFill>
                <a:latin typeface="Courier New" panose="02070309020205020404" pitchFamily="49" charset="0"/>
              </a:rPr>
              <a:t>(airlines)</a:t>
            </a:r>
            <a:endParaRPr lang="en-CA" sz="2200" dirty="0">
              <a:solidFill>
                <a:schemeClr val="accent3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515208-9509-9F7C-1C9F-DFC5A3701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390546"/>
              </p:ext>
            </p:extLst>
          </p:nvPr>
        </p:nvGraphicFramePr>
        <p:xfrm>
          <a:off x="8220523" y="4528557"/>
          <a:ext cx="2916052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7227">
                  <a:extLst>
                    <a:ext uri="{9D8B030D-6E8A-4147-A177-3AD203B41FA5}">
                      <a16:colId xmlns:a16="http://schemas.microsoft.com/office/drawing/2014/main" val="921024181"/>
                    </a:ext>
                  </a:extLst>
                </a:gridCol>
                <a:gridCol w="1968825">
                  <a:extLst>
                    <a:ext uri="{9D8B030D-6E8A-4147-A177-3AD203B41FA5}">
                      <a16:colId xmlns:a16="http://schemas.microsoft.com/office/drawing/2014/main" val="3049509421"/>
                    </a:ext>
                  </a:extLst>
                </a:gridCol>
              </a:tblGrid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247097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American Airlines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341909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ABK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Airbus Canada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94730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ABS Jets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011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 Canada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040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8DDAA0-27C0-890A-053C-91768BE388C9}"/>
              </a:ext>
            </a:extLst>
          </p:cNvPr>
          <p:cNvSpPr txBox="1"/>
          <p:nvPr/>
        </p:nvSpPr>
        <p:spPr>
          <a:xfrm>
            <a:off x="5054440" y="3751913"/>
            <a:ext cx="482583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i="1" dirty="0">
                <a:solidFill>
                  <a:schemeClr val="bg1"/>
                </a:solidFill>
              </a:rPr>
              <a:t>Recall</a:t>
            </a:r>
            <a:r>
              <a:rPr lang="en-CA" sz="2400" dirty="0">
                <a:solidFill>
                  <a:schemeClr val="bg1"/>
                </a:solidFill>
              </a:rPr>
              <a:t> the escape sequences!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07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A2E2B-1FD1-E416-4A34-B00CA2C0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BDF7-BA5C-1986-12B5-510C728B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Appending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3A3CF-4CB5-812B-B07A-11CAE0F6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There are also methods to add to an existing file (append). </a:t>
            </a:r>
            <a:endParaRPr lang="en-CA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1244F-74BD-FC5F-D7FE-9C1C2C05E744}"/>
              </a:ext>
            </a:extLst>
          </p:cNvPr>
          <p:cNvSpPr txBox="1"/>
          <p:nvPr/>
        </p:nvSpPr>
        <p:spPr>
          <a:xfrm>
            <a:off x="1148197" y="2211303"/>
            <a:ext cx="10167747" cy="769441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with 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open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</a:t>
            </a:r>
            <a:r>
              <a:rPr kumimoji="0" lang="en-CA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airlines.txt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’, 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‘a') as 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file.</a:t>
            </a:r>
            <a:r>
              <a:rPr kumimoji="0" lang="en-CA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write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”ARQ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</a:t>
            </a:r>
            <a:r>
              <a:rPr lang="en-CA" sz="22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t</a:t>
            </a:r>
            <a:r>
              <a:rPr lang="en-CA" sz="22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Airico</a:t>
            </a:r>
            <a:r>
              <a:rPr lang="en-CA" sz="2200" dirty="0">
                <a:solidFill>
                  <a:schemeClr val="accent3"/>
                </a:solidFill>
                <a:latin typeface="Courier New" panose="02070309020205020404" pitchFamily="49" charset="0"/>
              </a:rPr>
              <a:t>\n</a:t>
            </a:r>
            <a:r>
              <a:rPr lang="en-CA" sz="2200" dirty="0">
                <a:solidFill>
                  <a:schemeClr val="accent6"/>
                </a:solidFill>
                <a:latin typeface="Courier New" panose="02070309020205020404" pitchFamily="49" charset="0"/>
              </a:rPr>
              <a:t>"</a:t>
            </a: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49144E-E29D-94CE-0D03-31F7464BF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6070"/>
              </p:ext>
            </p:extLst>
          </p:nvPr>
        </p:nvGraphicFramePr>
        <p:xfrm>
          <a:off x="8399892" y="2211303"/>
          <a:ext cx="2916052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7227">
                  <a:extLst>
                    <a:ext uri="{9D8B030D-6E8A-4147-A177-3AD203B41FA5}">
                      <a16:colId xmlns:a16="http://schemas.microsoft.com/office/drawing/2014/main" val="921024181"/>
                    </a:ext>
                  </a:extLst>
                </a:gridCol>
                <a:gridCol w="1968825">
                  <a:extLst>
                    <a:ext uri="{9D8B030D-6E8A-4147-A177-3AD203B41FA5}">
                      <a16:colId xmlns:a16="http://schemas.microsoft.com/office/drawing/2014/main" val="3049509421"/>
                    </a:ext>
                  </a:extLst>
                </a:gridCol>
              </a:tblGrid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247097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American Airlines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341909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ABK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Airbus Canada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94730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ABS Jets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011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dirty="0"/>
                        <a:t>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 Canada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04081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r>
                        <a:rPr lang="en-US" b="1" dirty="0"/>
                        <a:t>ARQ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Airico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4672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96AC22B-C459-021F-16E8-B5C212A62FEB}"/>
              </a:ext>
            </a:extLst>
          </p:cNvPr>
          <p:cNvSpPr txBox="1"/>
          <p:nvPr/>
        </p:nvSpPr>
        <p:spPr>
          <a:xfrm>
            <a:off x="5032088" y="4474225"/>
            <a:ext cx="482583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i="1" dirty="0">
                <a:solidFill>
                  <a:schemeClr val="bg1"/>
                </a:solidFill>
              </a:rPr>
              <a:t>We added a code and airline to our existing text file</a:t>
            </a:r>
            <a:r>
              <a:rPr lang="en-CA" sz="2400" dirty="0">
                <a:solidFill>
                  <a:schemeClr val="bg1"/>
                </a:solidFill>
              </a:rPr>
              <a:t>!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84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8A82E-61DC-138C-EB43-941BCF42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869C-CFA4-B9AD-8120-42B85C52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69EA8-9568-CADC-4EF4-EFD8515DC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1.   What does a file path refer to?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name of a variable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location of a file on your computer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contents of a file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It’s a python keyword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14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3ED12-F48E-333D-A600-F06757F6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9713-ACC2-F443-EE64-DA5BBEE7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19B4-0977-8A21-C6B3-E08828823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  Which of the following mode opens a file for reading only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‘r’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‘w’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‘a’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 of these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335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8F5A4-247B-FD3B-7966-8BD4F463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4928-66AC-052C-A693-917A8FDD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8933-B005-7556-C97E-44007787A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  Which of the following mode adds text to an existing file without deleting its contents? 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‘r’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‘w’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‘a’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 of these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744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D3608-C401-5034-FFB7-090F2EC7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21D1-F559-14CF-09E0-C979054A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C3837-63C7-939F-A03A-D87F09527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  What happens if you open a file in ‘w’ mode that already exists?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Python raises an error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file is deleted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file is overwritten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file is opened in read-only mode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375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ABC29-105D-19A5-7045-F04EF75F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8847-1767-3986-CB9F-E9AA01CC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DEDD-A7E3-E819-3B22-D2323475B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What does this code do?</a:t>
            </a:r>
          </a:p>
          <a:p>
            <a:pPr marL="457200" indent="-457200">
              <a:buAutoNum type="arabicPeriod" startAt="6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 startAt="6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Deletes the file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Overwrites the file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Adds Hello! to the end of the file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Reads the file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C9AF2-1796-4584-D116-FFBEA3E0417B}"/>
              </a:ext>
            </a:extLst>
          </p:cNvPr>
          <p:cNvSpPr txBox="1"/>
          <p:nvPr/>
        </p:nvSpPr>
        <p:spPr>
          <a:xfrm>
            <a:off x="1332021" y="2070810"/>
            <a:ext cx="98001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with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open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file.txt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‘a') as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file.write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”Hello! \n”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5546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640BE-6C4E-0BD7-021F-2B61109D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6594-ADFA-B1D5-C2E7-1FA72EF5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Reading and writing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21426-14C7-DCEE-FF01-F1DFABC0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6.   Complete the code so it writes “Hello, Python!” to a file called </a:t>
            </a:r>
            <a:r>
              <a:rPr lang="en-CA" sz="2400" b="1" dirty="0" err="1">
                <a:solidFill>
                  <a:schemeClr val="bg1"/>
                </a:solidFill>
              </a:rPr>
              <a:t>output.txt</a:t>
            </a:r>
            <a:endParaRPr lang="en-CA" sz="2400" b="1" u="sng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11BE6-6562-2F63-EC95-5FBC50D721A2}"/>
              </a:ext>
            </a:extLst>
          </p:cNvPr>
          <p:cNvSpPr txBox="1"/>
          <p:nvPr/>
        </p:nvSpPr>
        <p:spPr>
          <a:xfrm>
            <a:off x="1195950" y="2228419"/>
            <a:ext cx="98001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with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open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output.txt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‘w') as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file._____(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”Hello, Python!”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2177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49CFF-50AB-E0F7-BA1B-5451FC32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1731-A654-0B6F-4DBA-C7778A30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Exercise: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0942-0BFA-C53B-C9B6-AE250C3C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Write a code that:</a:t>
            </a:r>
          </a:p>
          <a:p>
            <a:pPr marL="914400" lvl="1" indent="-457200">
              <a:buAutoNum type="arabicPeriod"/>
            </a:pPr>
            <a:r>
              <a:rPr lang="en-CA" dirty="0">
                <a:solidFill>
                  <a:schemeClr val="bg1"/>
                </a:solidFill>
              </a:rPr>
              <a:t>Asks the user for their name</a:t>
            </a:r>
          </a:p>
          <a:p>
            <a:pPr marL="914400" lvl="1" indent="-457200">
              <a:buAutoNum type="arabicPeriod"/>
            </a:pPr>
            <a:r>
              <a:rPr lang="en-CA" b="0" dirty="0">
                <a:solidFill>
                  <a:schemeClr val="bg1"/>
                </a:solidFill>
                <a:effectLst/>
              </a:rPr>
              <a:t>Saves it to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name.txt</a:t>
            </a:r>
            <a:endParaRPr lang="en-CA" b="0" dirty="0">
              <a:solidFill>
                <a:schemeClr val="bg1"/>
              </a:solidFill>
              <a:effectLst/>
            </a:endParaRP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3736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0BB1D-D6FE-04CD-6E55-801FA63D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8A72-6329-C813-2F8D-7CDAF8A2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Exercise: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24CD2-DA70-88A7-4273-EC4D21BE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Write a code that:</a:t>
            </a:r>
          </a:p>
          <a:p>
            <a:pPr marL="914400" lvl="1" indent="-457200">
              <a:buAutoNum type="arabicPeriod"/>
            </a:pPr>
            <a:r>
              <a:rPr lang="en-CA" dirty="0">
                <a:solidFill>
                  <a:schemeClr val="bg1"/>
                </a:solidFill>
              </a:rPr>
              <a:t>Asks the user for their age</a:t>
            </a:r>
          </a:p>
          <a:p>
            <a:pPr marL="914400" lvl="1" indent="-457200">
              <a:buAutoNum type="arabicPeriod"/>
            </a:pPr>
            <a:r>
              <a:rPr lang="en-CA" b="0" dirty="0">
                <a:solidFill>
                  <a:schemeClr val="bg1"/>
                </a:solidFill>
                <a:effectLst/>
              </a:rPr>
              <a:t>Append it to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name.t</a:t>
            </a:r>
            <a:r>
              <a:rPr lang="en-CA" dirty="0" err="1">
                <a:solidFill>
                  <a:schemeClr val="bg1"/>
                </a:solidFill>
              </a:rPr>
              <a:t>xt</a:t>
            </a:r>
            <a:endParaRPr lang="en-CA" b="0" dirty="0">
              <a:solidFill>
                <a:schemeClr val="bg1"/>
              </a:solidFill>
              <a:effectLst/>
            </a:endParaRPr>
          </a:p>
          <a:p>
            <a:pPr marL="914400" lvl="1" indent="-457200">
              <a:buAutoNum type="arabicPeriod"/>
            </a:pPr>
            <a:endParaRPr lang="en-CA" b="0" dirty="0">
              <a:solidFill>
                <a:schemeClr val="bg1"/>
              </a:solidFill>
              <a:effectLst/>
            </a:endParaRP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0175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6A9E5-3C9D-3A5D-B18E-267C21DD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D50A-E072-D6F8-E050-33F3A640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2E8E9-EEB4-92E6-7795-801FA732D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Write a code that:</a:t>
            </a:r>
          </a:p>
          <a:p>
            <a:pPr marL="914400" lvl="1" indent="-457200">
              <a:buAutoNum type="arabicPeriod"/>
            </a:pPr>
            <a:r>
              <a:rPr lang="en-CA" dirty="0">
                <a:solidFill>
                  <a:schemeClr val="bg1"/>
                </a:solidFill>
              </a:rPr>
              <a:t>Open </a:t>
            </a:r>
            <a:r>
              <a:rPr lang="en-CA" dirty="0" err="1">
                <a:solidFill>
                  <a:schemeClr val="bg1"/>
                </a:solidFill>
              </a:rPr>
              <a:t>name.txt</a:t>
            </a: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AutoNum type="arabicPeriod"/>
            </a:pPr>
            <a:r>
              <a:rPr lang="en-CA" b="0" dirty="0">
                <a:solidFill>
                  <a:schemeClr val="bg1"/>
                </a:solidFill>
                <a:effectLst/>
              </a:rPr>
              <a:t>Read and print the contents</a:t>
            </a:r>
          </a:p>
          <a:p>
            <a:pPr marL="457200" lvl="1" indent="0">
              <a:buNone/>
            </a:pPr>
            <a:endParaRPr lang="en-CA" b="0" dirty="0">
              <a:solidFill>
                <a:schemeClr val="bg1"/>
              </a:solidFill>
              <a:effectLst/>
            </a:endParaRP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699849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1420</Words>
  <Application>Microsoft Macintosh PowerPoint</Application>
  <PresentationFormat>Widescreen</PresentationFormat>
  <Paragraphs>233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 Light</vt:lpstr>
      <vt:lpstr>Courier New</vt:lpstr>
      <vt:lpstr>1_Office Theme</vt:lpstr>
      <vt:lpstr>08. reading and writing files</vt:lpstr>
      <vt:lpstr>Learning objectives</vt:lpstr>
      <vt:lpstr>Navigating folders</vt:lpstr>
      <vt:lpstr>Navigating folders</vt:lpstr>
      <vt:lpstr>Navigating folders</vt:lpstr>
      <vt:lpstr>Opening, reading and writing files</vt:lpstr>
      <vt:lpstr>Opening files</vt:lpstr>
      <vt:lpstr>Reading files</vt:lpstr>
      <vt:lpstr>Reading files</vt:lpstr>
      <vt:lpstr>Reading files</vt:lpstr>
      <vt:lpstr>Writing files</vt:lpstr>
      <vt:lpstr>Appending files</vt:lpstr>
      <vt:lpstr>Quiz: Reading and writing files</vt:lpstr>
      <vt:lpstr>Quiz: Reading and writing files</vt:lpstr>
      <vt:lpstr>Quiz: Reading and writing files</vt:lpstr>
      <vt:lpstr>Quiz: Reading and writing files</vt:lpstr>
      <vt:lpstr>Quiz: Reading and writing files</vt:lpstr>
      <vt:lpstr>Quiz: Reading and writing files</vt:lpstr>
      <vt:lpstr>Exercise: Part 1</vt:lpstr>
      <vt:lpstr>Exercise: Part 2</vt:lpstr>
      <vt:lpstr>Exercise: Part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43</cp:revision>
  <dcterms:created xsi:type="dcterms:W3CDTF">2026-01-19T19:11:02Z</dcterms:created>
  <dcterms:modified xsi:type="dcterms:W3CDTF">2026-04-10T17:12:18Z</dcterms:modified>
</cp:coreProperties>
</file>