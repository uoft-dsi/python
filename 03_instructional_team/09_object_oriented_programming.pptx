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7" r:id="rId2"/>
    <p:sldId id="259" r:id="rId3"/>
    <p:sldId id="260" r:id="rId4"/>
    <p:sldId id="261" r:id="rId5"/>
    <p:sldId id="262" r:id="rId6"/>
    <p:sldId id="263" r:id="rId7"/>
    <p:sldId id="362" r:id="rId8"/>
    <p:sldId id="363" r:id="rId9"/>
    <p:sldId id="364" r:id="rId10"/>
    <p:sldId id="292" r:id="rId11"/>
    <p:sldId id="293" r:id="rId12"/>
    <p:sldId id="365" r:id="rId13"/>
    <p:sldId id="366" r:id="rId14"/>
    <p:sldId id="294" r:id="rId15"/>
    <p:sldId id="295" r:id="rId16"/>
    <p:sldId id="296" r:id="rId17"/>
    <p:sldId id="367" r:id="rId18"/>
    <p:sldId id="368" r:id="rId19"/>
    <p:sldId id="3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90"/>
    <p:restoredTop sz="95897"/>
  </p:normalViewPr>
  <p:slideViewPr>
    <p:cSldViewPr snapToGrid="0">
      <p:cViewPr varScale="1">
        <p:scale>
          <a:sx n="114" d="100"/>
          <a:sy n="114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1C950-838D-B743-BD9B-9875A01E7F0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05F62-6E72-0346-802A-54F2FAA13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88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1A2F-A334-4F43-9815-ACD08471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C1023-6D9A-DB7E-E825-6F6F05BE9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2A17-3332-4FD2-C0B6-F17052C76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4641C-A6BB-4252-F90D-5E61A3913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381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A4B27-A23D-E813-14B1-0EC71055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A93BC-E117-E564-CCC8-7E3DAF078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19F62-AC14-20AC-BDDC-8E85A73F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14F2-403B-5D58-2A29-9CF22F000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730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E0C8D-2183-A867-50CA-AE55AC35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E3AEC-B885-6ED8-1932-8FA9C00DB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DDBE3-F065-D2ED-61A3-ADB224BBB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D6301-3AA2-4C18-5DBB-5DDB047FD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000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AE03-9275-7C90-5B53-BE7B6B2F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09111-7BA7-0BC1-01A1-BC58DF2C7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4E63E-24F7-C7DC-7CE2-CC76A4388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E15EE-4776-360E-ECEE-1EE7A63B2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831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27A9-1BC3-4EA2-8AC6-5F637386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4F7C0-14F9-00AA-15A1-EDD3AC4D5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3E31D-0287-6113-D023-A4E9789C4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89089-55E8-BD84-B50D-6F402F892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95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CED94-C8AA-4D33-37BA-6EFE2C6E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47F14-B09A-6848-E562-B3D06AEF7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3AF18-B209-1E92-DCD1-24E6E3364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384F7-9046-46EB-1885-8AE2D0791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387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227E-8FD4-0D39-28F5-F8BFBB159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E1F50-FCEE-FCDE-5165-0D1DC33EF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DEBB7-4EB5-6430-4E08-EDFC5AC60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5FEB2-6F01-BB7D-2DF5-4D3BAA290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6430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FEAA-E7B8-2801-0B6D-209F04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450-9DFD-C3E8-9C4E-532AC3E1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06BE-608E-101A-6495-4F503C4E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777A-958C-732B-2E98-958AA2DDC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896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8E521-09ED-69F8-75D5-12A8F4C9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E4607-57EA-1B22-30D3-C3310EF9F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B7FFF-733A-67CA-CDA7-C416FD427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743A1-18F9-02FA-D225-5F6362FED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667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6CC37-37AA-9103-76AA-566AE627A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7B443-28F2-5133-7AC6-38ECC7718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2B757-B98E-EF17-47DE-5EDA8F8C4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1DE7-AFA6-6A15-35AF-3D88D9359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511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08A4-9C75-1400-47BE-8A0383F5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C5653-C0AE-0872-3892-9AC6DFEA5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EA43C-C673-ADB9-70A4-0988412B7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3003F-4D97-3BC8-84C7-5DB4620B0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093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D174-CB98-4893-97D1-BAA654DC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3EB95-C2E3-E2CF-2FC9-7DE531AC0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A526E-64CA-A20C-A9F4-2DFA014AF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630BF-2B2C-A095-9A79-2ACE84458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175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6062-FB97-1711-85D3-ECA6CB76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325A6-6C4B-369A-027E-978011654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942E9-1FEB-6730-8D5F-0F4A838C8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C054C-BC23-1681-A2AD-06A69C3AB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452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2DED-6D7A-1AE2-B1AD-9209E741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01E12-5379-6AB0-CFA3-A84F3F615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D9ACE-18D9-B65A-323C-FA0B9C74E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C91C7-D151-70B3-A592-08A5AAA3E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387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F6F47-740D-7CD3-DB01-85239922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695A5-1E7F-3586-A22E-1ADAEF985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FF3CA-58B6-0480-D063-B4BD6CFC8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07E52-F43E-980A-F8C7-373C83189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768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9CA1D-DC8D-B759-B92A-E7F4B630F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B0777-D77D-E92C-7E85-11F82BFD7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B0C1C-BFAA-8923-8BA2-2E95A147C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FBC8B-AEBB-3298-DBCF-F3E221300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400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810AD-33FB-C18B-0857-C0A008C6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4F82F-C439-4526-E9FD-37E5C3855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857E2-C991-66E0-8338-0A56D5049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BE92-4883-CE4B-CE9C-A2730F940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7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0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75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2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8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9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7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9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0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5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68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644" y="1122363"/>
            <a:ext cx="10806546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09. object oriented programming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E4881FE-6C9B-3880-4A03-4D37B147D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 able to understand what object-oriented programming is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AC98C-7BDA-F133-51BD-4B7C1F00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A628-C625-C188-3F70-DF1EE7E6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object-oriented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DEF6-E259-5101-90A0-A8D2BB2C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Object-Oriented Programming (OOP) is a way of writing programs by organizing code around objects, which represent real-world things.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Why do we need OOP? Imagine we want to store information about a car.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Without OOP, we might write: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E3B0F-3E45-8BD4-FE4A-4920FCA61527}"/>
              </a:ext>
            </a:extLst>
          </p:cNvPr>
          <p:cNvSpPr txBox="1"/>
          <p:nvPr/>
        </p:nvSpPr>
        <p:spPr>
          <a:xfrm>
            <a:off x="1195950" y="4193925"/>
            <a:ext cx="9800100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car_name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“Taylor”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car_brand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“Honda”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car_model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“Civic”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car_vin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"1VWAT7A32EC093779”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C1E80-B48A-7D8B-7407-4FF4451D29E8}"/>
              </a:ext>
            </a:extLst>
          </p:cNvPr>
          <p:cNvSpPr txBox="1"/>
          <p:nvPr/>
        </p:nvSpPr>
        <p:spPr>
          <a:xfrm>
            <a:off x="1195950" y="5927582"/>
            <a:ext cx="109658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This works for one car — but what if we have 10 cars? 100? 1,000?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Repeating variables like this quickly becomes messy and inefficient.</a:t>
            </a:r>
          </a:p>
        </p:txBody>
      </p:sp>
    </p:spTree>
    <p:extLst>
      <p:ext uri="{BB962C8B-B14F-4D97-AF65-F5344CB8AC3E}">
        <p14:creationId xmlns:p14="http://schemas.microsoft.com/office/powerpoint/2010/main" val="42658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FA3BF-0E3C-A8E3-33C6-B6A67303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4424-01BC-EDEF-14DC-D5C257F7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Classes: Blueprints for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1CDB-7794-1FDA-4284-7B453D6D6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OOP solves this by using </a:t>
            </a:r>
            <a:r>
              <a:rPr lang="en-CA" sz="2400" b="1" dirty="0">
                <a:solidFill>
                  <a:schemeClr val="bg1"/>
                </a:solidFill>
              </a:rPr>
              <a:t>classes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class</a:t>
            </a:r>
            <a:r>
              <a:rPr lang="en-CA" sz="2400" dirty="0">
                <a:solidFill>
                  <a:schemeClr val="bg1"/>
                </a:solidFill>
              </a:rPr>
              <a:t> is a </a:t>
            </a:r>
            <a:r>
              <a:rPr lang="en-CA" sz="2400" b="1" dirty="0">
                <a:solidFill>
                  <a:schemeClr val="bg1"/>
                </a:solidFill>
              </a:rPr>
              <a:t>blueprint</a:t>
            </a:r>
            <a:r>
              <a:rPr lang="en-CA" sz="2400" dirty="0">
                <a:solidFill>
                  <a:schemeClr val="bg1"/>
                </a:solidFill>
              </a:rPr>
              <a:t> that describes what an object should look like.</a:t>
            </a:r>
          </a:p>
          <a:p>
            <a:r>
              <a:rPr lang="en-CA" sz="2400" dirty="0">
                <a:solidFill>
                  <a:schemeClr val="bg1"/>
                </a:solidFill>
              </a:rPr>
              <a:t>For example, we can create a Car class: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A080-FB9A-F984-CF7F-AC7B6E6A764D}"/>
              </a:ext>
            </a:extLst>
          </p:cNvPr>
          <p:cNvSpPr txBox="1"/>
          <p:nvPr/>
        </p:nvSpPr>
        <p:spPr>
          <a:xfrm>
            <a:off x="1089072" y="3133118"/>
            <a:ext cx="980010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Car: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brand, model, vin):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.brand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brand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.model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vin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3530A3-9EEE-D7B7-2078-36E7E1F7C3C5}"/>
              </a:ext>
            </a:extLst>
          </p:cNvPr>
          <p:cNvSpPr/>
          <p:nvPr/>
        </p:nvSpPr>
        <p:spPr>
          <a:xfrm>
            <a:off x="3120737" y="3139056"/>
            <a:ext cx="3446318" cy="2899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This creates a class called Car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7CBF14-E2A6-4077-A963-7C885C5342AD}"/>
              </a:ext>
            </a:extLst>
          </p:cNvPr>
          <p:cNvSpPr/>
          <p:nvPr/>
        </p:nvSpPr>
        <p:spPr>
          <a:xfrm>
            <a:off x="6918862" y="4182002"/>
            <a:ext cx="3446318" cy="10997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__</a:t>
            </a:r>
            <a:r>
              <a:rPr lang="en-US" dirty="0" err="1">
                <a:solidFill>
                  <a:schemeClr val="bg1"/>
                </a:solidFill>
              </a:rPr>
              <a:t>init</a:t>
            </a:r>
            <a:r>
              <a:rPr lang="en-US" dirty="0">
                <a:solidFill>
                  <a:schemeClr val="bg1"/>
                </a:solidFill>
              </a:rPr>
              <a:t>__ runs automatically when we create a new car; it sets up the data that each car sill store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66404-A0B2-C578-B434-6AEB82CCB3EC}"/>
              </a:ext>
            </a:extLst>
          </p:cNvPr>
          <p:cNvSpPr/>
          <p:nvPr/>
        </p:nvSpPr>
        <p:spPr>
          <a:xfrm>
            <a:off x="1433204" y="5379821"/>
            <a:ext cx="4088822" cy="404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Self refers to the current car object</a:t>
            </a:r>
          </a:p>
        </p:txBody>
      </p:sp>
    </p:spTree>
    <p:extLst>
      <p:ext uri="{BB962C8B-B14F-4D97-AF65-F5344CB8AC3E}">
        <p14:creationId xmlns:p14="http://schemas.microsoft.com/office/powerpoint/2010/main" val="142305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6F70A-9408-418E-CDA7-E0575352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FA9A-FF2D-4801-0D55-F6E10AF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Classes: Blueprints for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C979-7AE6-7B09-4962-0400F5CBE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Once we have a class, we can create </a:t>
            </a:r>
            <a:r>
              <a:rPr lang="en-CA" sz="2400" b="1" dirty="0">
                <a:solidFill>
                  <a:schemeClr val="bg1"/>
                </a:solidFill>
              </a:rPr>
              <a:t>objects</a:t>
            </a:r>
            <a:r>
              <a:rPr lang="en-CA" sz="2400" dirty="0">
                <a:solidFill>
                  <a:schemeClr val="bg1"/>
                </a:solidFill>
              </a:rPr>
              <a:t> from it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709FC-AAC8-CA31-B630-F52A31A47847}"/>
              </a:ext>
            </a:extLst>
          </p:cNvPr>
          <p:cNvSpPr txBox="1"/>
          <p:nvPr/>
        </p:nvSpPr>
        <p:spPr>
          <a:xfrm>
            <a:off x="838200" y="2321004"/>
            <a:ext cx="9800100" cy="34163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car1 = Car(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"Taylor", "Honda", "Civic", "1VWAT7A32EC093779"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car2 = Car(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"Alex", "Toyota", "Corolla", "2HGFB2F50FH512345"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#Accessing an attribute e.g. vin number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ar1.vin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'1VWAT7A32EC093779'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12AA2-7F58-1451-7FE4-C910B48A3433}"/>
              </a:ext>
            </a:extLst>
          </p:cNvPr>
          <p:cNvSpPr txBox="1"/>
          <p:nvPr/>
        </p:nvSpPr>
        <p:spPr>
          <a:xfrm>
            <a:off x="8403289" y="3151748"/>
            <a:ext cx="343641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Each object: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Has the </a:t>
            </a:r>
            <a:r>
              <a:rPr lang="en-CA" sz="2400" b="1" dirty="0">
                <a:solidFill>
                  <a:schemeClr val="bg1"/>
                </a:solidFill>
              </a:rPr>
              <a:t>same structure</a:t>
            </a:r>
            <a:endParaRPr lang="en-CA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Stores </a:t>
            </a:r>
            <a:r>
              <a:rPr lang="en-CA" sz="2400" b="1" dirty="0">
                <a:solidFill>
                  <a:schemeClr val="bg1"/>
                </a:solidFill>
              </a:rPr>
              <a:t>different data</a:t>
            </a: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886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B52F2-2B86-2D34-056E-72734E25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5E83-5C00-59D5-ACC5-C903E557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Class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76E66-0647-ECAF-622F-9A1E336EA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As we discussed, a method is a function that belongs to a class.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Methods let objects do things, not just store data.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9F5D1-1545-8E9A-CD0C-43DD0FD1F4BB}"/>
              </a:ext>
            </a:extLst>
          </p:cNvPr>
          <p:cNvSpPr txBox="1"/>
          <p:nvPr/>
        </p:nvSpPr>
        <p:spPr>
          <a:xfrm>
            <a:off x="566057" y="2630015"/>
            <a:ext cx="11262756" cy="415498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Car: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brand, model, vin):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.brand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brand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.model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vin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#define a method to describe the car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def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describe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(self):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f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”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self.name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}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is a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{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self.brand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} {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self.model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”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ar1.describe()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Taylor is a Honda Civic</a:t>
            </a:r>
          </a:p>
        </p:txBody>
      </p:sp>
    </p:spTree>
    <p:extLst>
      <p:ext uri="{BB962C8B-B14F-4D97-AF65-F5344CB8AC3E}">
        <p14:creationId xmlns:p14="http://schemas.microsoft.com/office/powerpoint/2010/main" val="2788045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ABC29-105D-19A5-7045-F04EF75F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8847-1767-3986-CB9F-E9AA01CC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DEDD-A7E3-E819-3B22-D2323475B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What is the correct way to create an object for this class?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my_dog</a:t>
            </a:r>
            <a:r>
              <a:rPr lang="en-CA" sz="2400" dirty="0">
                <a:solidFill>
                  <a:schemeClr val="bg1"/>
                </a:solidFill>
              </a:rPr>
              <a:t> = Dog</a:t>
            </a: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my_dog</a:t>
            </a:r>
            <a:r>
              <a:rPr lang="en-CA" sz="2400" dirty="0">
                <a:solidFill>
                  <a:schemeClr val="bg1"/>
                </a:solidFill>
              </a:rPr>
              <a:t> = Dog(“Milo”)</a:t>
            </a: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my_dog</a:t>
            </a:r>
            <a:r>
              <a:rPr lang="en-CA" sz="2400" dirty="0">
                <a:solidFill>
                  <a:schemeClr val="bg1"/>
                </a:solidFill>
              </a:rPr>
              <a:t> = </a:t>
            </a:r>
            <a:r>
              <a:rPr lang="en-CA" sz="2400" dirty="0" err="1">
                <a:solidFill>
                  <a:schemeClr val="bg1"/>
                </a:solidFill>
              </a:rPr>
              <a:t>Dog.name</a:t>
            </a:r>
            <a:r>
              <a:rPr lang="en-CA" sz="2400" dirty="0">
                <a:solidFill>
                  <a:schemeClr val="bg1"/>
                </a:solidFill>
              </a:rPr>
              <a:t>(“Milo”)</a:t>
            </a: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my_dog</a:t>
            </a:r>
            <a:r>
              <a:rPr lang="en-CA" sz="2400" dirty="0">
                <a:solidFill>
                  <a:schemeClr val="bg1"/>
                </a:solidFill>
              </a:rPr>
              <a:t> = </a:t>
            </a:r>
            <a:r>
              <a:rPr lang="en-CA" sz="2400" dirty="0" err="1">
                <a:solidFill>
                  <a:schemeClr val="bg1"/>
                </a:solidFill>
              </a:rPr>
              <a:t>Dog.self</a:t>
            </a:r>
            <a:r>
              <a:rPr lang="en-CA" sz="2400" dirty="0">
                <a:solidFill>
                  <a:schemeClr val="bg1"/>
                </a:solidFill>
              </a:rPr>
              <a:t>(“Milo”)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C9AF2-1796-4584-D116-FFBEA3E0417B}"/>
              </a:ext>
            </a:extLst>
          </p:cNvPr>
          <p:cNvSpPr txBox="1"/>
          <p:nvPr/>
        </p:nvSpPr>
        <p:spPr>
          <a:xfrm>
            <a:off x="1332021" y="2008641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Dog: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</p:txBody>
      </p:sp>
    </p:spTree>
    <p:extLst>
      <p:ext uri="{BB962C8B-B14F-4D97-AF65-F5344CB8AC3E}">
        <p14:creationId xmlns:p14="http://schemas.microsoft.com/office/powerpoint/2010/main" val="175554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E0991-D136-A926-EDF7-94F2D55A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CFDEE-A98C-724C-E5E1-1F40D028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F0F98-DC79-1043-A1F6-FFC373F5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How do we print the dog’s name?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print(</a:t>
            </a:r>
            <a:r>
              <a:rPr lang="en-CA" sz="2400" dirty="0" err="1">
                <a:solidFill>
                  <a:schemeClr val="bg1"/>
                </a:solidFill>
              </a:rPr>
              <a:t>my_dog</a:t>
            </a:r>
            <a:r>
              <a:rPr lang="en-CA" sz="24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print(</a:t>
            </a:r>
            <a:r>
              <a:rPr lang="en-CA" sz="2400" dirty="0" err="1">
                <a:solidFill>
                  <a:schemeClr val="bg1"/>
                </a:solidFill>
              </a:rPr>
              <a:t>Dog.name</a:t>
            </a:r>
            <a:r>
              <a:rPr lang="en-CA" sz="24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print(</a:t>
            </a:r>
            <a:r>
              <a:rPr lang="en-CA" sz="2400" dirty="0" err="1">
                <a:solidFill>
                  <a:schemeClr val="bg1"/>
                </a:solidFill>
              </a:rPr>
              <a:t>my_dog.name</a:t>
            </a:r>
            <a:r>
              <a:rPr lang="en-CA" sz="24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print(</a:t>
            </a:r>
            <a:r>
              <a:rPr lang="en-CA" sz="2400" dirty="0" err="1">
                <a:solidFill>
                  <a:schemeClr val="bg1"/>
                </a:solidFill>
              </a:rPr>
              <a:t>my_dog.age</a:t>
            </a:r>
            <a:r>
              <a:rPr lang="en-CA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4CA0A-7116-06A8-5773-9C510C862CCC}"/>
              </a:ext>
            </a:extLst>
          </p:cNvPr>
          <p:cNvSpPr txBox="1"/>
          <p:nvPr/>
        </p:nvSpPr>
        <p:spPr>
          <a:xfrm>
            <a:off x="1332021" y="2008641"/>
            <a:ext cx="9800100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Dog: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age):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.age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my_dog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= Dog(“Milo”,3)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537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5FC54-94C1-AA3B-66AA-028E985C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1460-2F96-919A-CEAB-075D0EDF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5B60C-8A7D-380B-7622-C83239250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Fill in the blank to add a method that prints  “Woof!” when called</a:t>
            </a:r>
            <a:br>
              <a:rPr lang="en-CA" sz="2400" b="1" dirty="0">
                <a:solidFill>
                  <a:schemeClr val="bg1"/>
                </a:solidFill>
              </a:rPr>
            </a:b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FECD5-519B-5ABD-8CB9-84938A3E9A8F}"/>
              </a:ext>
            </a:extLst>
          </p:cNvPr>
          <p:cNvSpPr txBox="1"/>
          <p:nvPr/>
        </p:nvSpPr>
        <p:spPr>
          <a:xfrm>
            <a:off x="1332021" y="2008641"/>
            <a:ext cx="980010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Dog: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age):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.age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bark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   __________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44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49CFF-50AB-E0F7-BA1B-5451FC32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0942-0BFA-C53B-C9B6-AE250C3C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878"/>
            <a:ext cx="11023599" cy="5240214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Create a class called `Person`, and create a Person object with the following</a:t>
            </a:r>
            <a:br>
              <a:rPr lang="en-CA" b="0" dirty="0">
                <a:solidFill>
                  <a:schemeClr val="bg1"/>
                </a:solidFill>
                <a:effectLst/>
              </a:rPr>
            </a:br>
            <a:r>
              <a:rPr lang="en-CA" b="1" dirty="0">
                <a:solidFill>
                  <a:schemeClr val="bg1"/>
                </a:solidFill>
                <a:effectLst/>
              </a:rPr>
              <a:t>Attributes</a:t>
            </a:r>
            <a:endParaRPr lang="en-CA" b="0" dirty="0">
              <a:solidFill>
                <a:schemeClr val="bg1"/>
              </a:solidFill>
              <a:effectLst/>
            </a:endParaRPr>
          </a:p>
          <a:p>
            <a:pPr lvl="2"/>
            <a:r>
              <a:rPr lang="en-CA" sz="2600" b="0" dirty="0" err="1">
                <a:solidFill>
                  <a:schemeClr val="bg1"/>
                </a:solidFill>
                <a:effectLst/>
              </a:rPr>
              <a:t>first_name</a:t>
            </a:r>
            <a:endParaRPr lang="en-CA" sz="2600" b="0" dirty="0">
              <a:solidFill>
                <a:schemeClr val="bg1"/>
              </a:solidFill>
              <a:effectLst/>
            </a:endParaRPr>
          </a:p>
          <a:p>
            <a:pPr lvl="2"/>
            <a:r>
              <a:rPr lang="en-CA" sz="2600" b="0" dirty="0" err="1">
                <a:solidFill>
                  <a:schemeClr val="bg1"/>
                </a:solidFill>
                <a:effectLst/>
              </a:rPr>
              <a:t>middle_name</a:t>
            </a:r>
            <a:endParaRPr lang="en-CA" sz="2600" b="0" dirty="0">
              <a:solidFill>
                <a:schemeClr val="bg1"/>
              </a:solidFill>
              <a:effectLst/>
            </a:endParaRPr>
          </a:p>
          <a:p>
            <a:pPr lvl="2"/>
            <a:r>
              <a:rPr lang="en-CA" sz="2600" b="0" dirty="0" err="1">
                <a:solidFill>
                  <a:schemeClr val="bg1"/>
                </a:solidFill>
                <a:effectLst/>
              </a:rPr>
              <a:t>last_name</a:t>
            </a:r>
            <a:endParaRPr lang="en-CA" sz="2600" b="0" dirty="0">
              <a:solidFill>
                <a:schemeClr val="bg1"/>
              </a:solidFill>
              <a:effectLst/>
            </a:endParaRPr>
          </a:p>
          <a:p>
            <a:pPr lvl="2"/>
            <a:r>
              <a:rPr lang="en-CA" sz="2600" dirty="0" err="1">
                <a:solidFill>
                  <a:schemeClr val="bg1"/>
                </a:solidFill>
              </a:rPr>
              <a:t>year</a:t>
            </a:r>
            <a:r>
              <a:rPr lang="en-CA" sz="2600" b="0" dirty="0" err="1">
                <a:solidFill>
                  <a:schemeClr val="bg1"/>
                </a:solidFill>
                <a:effectLst/>
              </a:rPr>
              <a:t>_of_birth</a:t>
            </a:r>
            <a:endParaRPr lang="en-CA" sz="2600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b="1" dirty="0">
                <a:solidFill>
                  <a:schemeClr val="bg1"/>
                </a:solidFill>
                <a:effectLst/>
              </a:rPr>
              <a:t>Methods</a:t>
            </a:r>
          </a:p>
          <a:p>
            <a:pPr lvl="2"/>
            <a:r>
              <a:rPr lang="en-CA" sz="2600" b="0" dirty="0" err="1">
                <a:solidFill>
                  <a:schemeClr val="bg1"/>
                </a:solidFill>
                <a:effectLst/>
              </a:rPr>
              <a:t>full_name</a:t>
            </a:r>
            <a:r>
              <a:rPr lang="en-CA" sz="2600" b="0" dirty="0">
                <a:solidFill>
                  <a:schemeClr val="bg1"/>
                </a:solidFill>
                <a:effectLst/>
              </a:rPr>
              <a:t> </a:t>
            </a:r>
            <a:r>
              <a:rPr lang="en-CA" sz="2600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sz="2600" b="0" dirty="0">
                <a:solidFill>
                  <a:schemeClr val="bg1"/>
                </a:solidFill>
                <a:effectLst/>
              </a:rPr>
              <a:t> Takes the first and last name and prints out the full name</a:t>
            </a:r>
          </a:p>
          <a:p>
            <a:pPr lvl="2"/>
            <a:r>
              <a:rPr lang="en-CA" sz="2600" dirty="0">
                <a:solidFill>
                  <a:schemeClr val="bg1"/>
                </a:solidFill>
              </a:rPr>
              <a:t>initials </a:t>
            </a:r>
            <a:r>
              <a:rPr lang="en-CA" sz="2600" dirty="0">
                <a:solidFill>
                  <a:schemeClr val="bg1"/>
                </a:solidFill>
                <a:sym typeface="Wingdings" pitchFamily="2" charset="2"/>
              </a:rPr>
              <a:t> Takes the first character of the first and last name and prints out initials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F1731-A654-0B6F-4DBA-C7778A30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1</a:t>
            </a:r>
          </a:p>
        </p:txBody>
      </p:sp>
    </p:spTree>
    <p:extLst>
      <p:ext uri="{BB962C8B-B14F-4D97-AF65-F5344CB8AC3E}">
        <p14:creationId xmlns:p14="http://schemas.microsoft.com/office/powerpoint/2010/main" val="187373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35C5D-6172-17E3-79B5-3241F354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6B73-500F-83C6-2F78-182AB520D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Making an attribute “private”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DB79A-20E3-D8EE-CD2E-592DF1051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So far, we’ve been able to access attributes directly: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While this works, directly accessing attributes is often discouraged in Object-Oriented Programming.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OOP encourages encapsulation — </a:t>
            </a:r>
            <a:r>
              <a:rPr lang="en-CA" sz="2400" b="1" dirty="0">
                <a:solidFill>
                  <a:schemeClr val="bg1"/>
                </a:solidFill>
                <a:cs typeface="Calibri Light" panose="020F0302020204030204" pitchFamily="34" charset="0"/>
              </a:rPr>
              <a:t>keeping an object’s internal data protected and controlling how it is accessed or modified</a:t>
            </a: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10687-BEFF-62FF-A0D2-CE296D2278CC}"/>
              </a:ext>
            </a:extLst>
          </p:cNvPr>
          <p:cNvSpPr txBox="1"/>
          <p:nvPr/>
        </p:nvSpPr>
        <p:spPr>
          <a:xfrm>
            <a:off x="1195950" y="2228671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#Accessing an attribute e.g. vin number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ar1.vin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'1VWAT7A32EC093779'</a:t>
            </a:r>
          </a:p>
        </p:txBody>
      </p:sp>
    </p:spTree>
    <p:extLst>
      <p:ext uri="{BB962C8B-B14F-4D97-AF65-F5344CB8AC3E}">
        <p14:creationId xmlns:p14="http://schemas.microsoft.com/office/powerpoint/2010/main" val="366536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E7C85-8C34-4F99-C311-6A3427B2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92FA-F09E-167F-1C7B-888CD066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Getter and setter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ABA00-C01E-5089-464B-1B858E66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Getter 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 a method to access (“read”) the value of an attribute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Setter </a:t>
            </a: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  <a:sym typeface="Wingdings" pitchFamily="2" charset="2"/>
              </a:rPr>
              <a:t> a method to change (“update”) the value of an attribute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We use getters are setters to control how data is accessed or changed, as well as check the values before setting them.</a:t>
            </a:r>
          </a:p>
        </p:txBody>
      </p:sp>
    </p:spTree>
    <p:extLst>
      <p:ext uri="{BB962C8B-B14F-4D97-AF65-F5344CB8AC3E}">
        <p14:creationId xmlns:p14="http://schemas.microsoft.com/office/powerpoint/2010/main" val="3170022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1F5FD-782B-70F8-18A9-AE4E23F6B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4B6B-825F-89FB-DC5A-91BE1AE7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without getters/setters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9854D-28BD-3A39-716E-DF1BDF167989}"/>
              </a:ext>
            </a:extLst>
          </p:cNvPr>
          <p:cNvSpPr txBox="1"/>
          <p:nvPr/>
        </p:nvSpPr>
        <p:spPr>
          <a:xfrm>
            <a:off x="1089072" y="3133118"/>
            <a:ext cx="980010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Car: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brand, model, vin):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.brand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brand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.model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vin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A0C8D1-7608-FDBF-9216-FC24E92F8F07}"/>
              </a:ext>
            </a:extLst>
          </p:cNvPr>
          <p:cNvSpPr/>
          <p:nvPr/>
        </p:nvSpPr>
        <p:spPr>
          <a:xfrm>
            <a:off x="6295408" y="4036529"/>
            <a:ext cx="3446318" cy="10997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Here, these values can be set to anything, even invalid values like model  = ASKDHAKSJHDAKS</a:t>
            </a:r>
          </a:p>
        </p:txBody>
      </p:sp>
    </p:spTree>
    <p:extLst>
      <p:ext uri="{BB962C8B-B14F-4D97-AF65-F5344CB8AC3E}">
        <p14:creationId xmlns:p14="http://schemas.microsoft.com/office/powerpoint/2010/main" val="3864599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B4070-41D2-B192-31AC-CE3191DE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15AE-3212-2553-AEAB-5D2D27F2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Encapsulation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26209-A4A0-67A8-9EC6-F23295CA9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In Python, Privacy is </a:t>
            </a:r>
            <a:r>
              <a:rPr lang="en-CA" sz="2400" b="1" dirty="0">
                <a:solidFill>
                  <a:schemeClr val="bg1"/>
                </a:solidFill>
              </a:rPr>
              <a:t>by convention</a:t>
            </a:r>
            <a:r>
              <a:rPr lang="en-CA" sz="2400" dirty="0">
                <a:solidFill>
                  <a:schemeClr val="bg1"/>
                </a:solidFill>
              </a:rPr>
              <a:t>, not enforced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We signal that an attribute should not be touched directly by adding _ or __.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Here, __vin is considered internal, we access it using methods instead of directly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We are saying </a:t>
            </a:r>
            <a:r>
              <a:rPr lang="en-CA" i="1" dirty="0">
                <a:solidFill>
                  <a:schemeClr val="bg1"/>
                </a:solidFill>
              </a:rPr>
              <a:t>Please don’t access _vin directly,  use my methods instead.”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36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041F9-3220-2B9D-BE42-B4E196156D9D}"/>
              </a:ext>
            </a:extLst>
          </p:cNvPr>
          <p:cNvSpPr txBox="1"/>
          <p:nvPr/>
        </p:nvSpPr>
        <p:spPr>
          <a:xfrm>
            <a:off x="1553700" y="2694088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Car: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brand, model, vin):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.__vin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vin</a:t>
            </a:r>
          </a:p>
        </p:txBody>
      </p:sp>
    </p:spTree>
    <p:extLst>
      <p:ext uri="{BB962C8B-B14F-4D97-AF65-F5344CB8AC3E}">
        <p14:creationId xmlns:p14="http://schemas.microsoft.com/office/powerpoint/2010/main" val="12634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40AE9-9481-31F2-6C9D-F6D9D6CB8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EF6F0-AB38-EC26-EBB8-CBFD318A7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Add a getter (read-only access)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61C5E-322D-9D1D-CD9D-22D44CFA2946}"/>
              </a:ext>
            </a:extLst>
          </p:cNvPr>
          <p:cNvSpPr txBox="1"/>
          <p:nvPr/>
        </p:nvSpPr>
        <p:spPr>
          <a:xfrm>
            <a:off x="671945" y="1488808"/>
            <a:ext cx="11072751" cy="489364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Car: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brand, model, vin):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.brand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brand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.model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vin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def </a:t>
            </a: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get_vin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(self):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   return </a:t>
            </a: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self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._vin</a:t>
            </a:r>
            <a:endParaRPr lang="en-CA" sz="2400" dirty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car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Car(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"Taylor", "Honda", "Civic", "1VWAT7A32EC093779"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car.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67194-1512-DFFF-AD28-D5D7F1AA0593}"/>
              </a:ext>
            </a:extLst>
          </p:cNvPr>
          <p:cNvSpPr txBox="1"/>
          <p:nvPr/>
        </p:nvSpPr>
        <p:spPr>
          <a:xfrm>
            <a:off x="5911933" y="3016167"/>
            <a:ext cx="544186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Getters and setters allow controlled access to an object’s data, helping enforce rules and protect internal state.</a:t>
            </a:r>
          </a:p>
        </p:txBody>
      </p:sp>
    </p:spTree>
    <p:extLst>
      <p:ext uri="{BB962C8B-B14F-4D97-AF65-F5344CB8AC3E}">
        <p14:creationId xmlns:p14="http://schemas.microsoft.com/office/powerpoint/2010/main" val="2519635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8510C-E756-98F1-6C88-05CF0C1F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FD7025-825C-B9C1-1151-BBAD8548BB7D}"/>
              </a:ext>
            </a:extLst>
          </p:cNvPr>
          <p:cNvSpPr txBox="1"/>
          <p:nvPr/>
        </p:nvSpPr>
        <p:spPr>
          <a:xfrm>
            <a:off x="685800" y="1410355"/>
            <a:ext cx="11072751" cy="544764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Car: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__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name, brand, model, vin):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.brand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brand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.model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vin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6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   return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self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._vin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set_vin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(self,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):</a:t>
            </a: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   if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!= 17:</a:t>
            </a:r>
          </a:p>
          <a:p>
            <a:pPr lvl="1"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         print(“Invalid VIN length!”)</a:t>
            </a: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else:</a:t>
            </a:r>
          </a:p>
          <a:p>
            <a:pPr lvl="1"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         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self._vin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new_vin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car.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set_vin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(“ABC”)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74C2DB-93B8-F964-9E23-72512DBC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Add a setter (controlled updates)</a:t>
            </a:r>
          </a:p>
        </p:txBody>
      </p:sp>
    </p:spTree>
    <p:extLst>
      <p:ext uri="{BB962C8B-B14F-4D97-AF65-F5344CB8AC3E}">
        <p14:creationId xmlns:p14="http://schemas.microsoft.com/office/powerpoint/2010/main" val="2640247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255E1-131E-EC68-CCAA-A47C5EE74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9256-2565-98F7-CC0D-B4DCB3A7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13B72-6FF8-0FAA-8651-F1B13890D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chemeClr val="bg1"/>
                </a:solidFill>
              </a:rPr>
              <a:t>Underscore (_ or __)</a:t>
            </a:r>
            <a:r>
              <a:rPr lang="en-CA" sz="2400" dirty="0">
                <a:solidFill>
                  <a:schemeClr val="bg1"/>
                </a:solidFill>
              </a:rPr>
              <a:t> → signals “private/protected”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chemeClr val="bg1"/>
                </a:solidFill>
              </a:rPr>
              <a:t>Getter/setter</a:t>
            </a:r>
            <a:r>
              <a:rPr lang="en-CA" sz="2400" dirty="0">
                <a:solidFill>
                  <a:schemeClr val="bg1"/>
                </a:solidFill>
              </a:rPr>
              <a:t> → optional but recommended if you want </a:t>
            </a:r>
            <a:r>
              <a:rPr lang="en-CA" sz="2400" b="1" dirty="0">
                <a:solidFill>
                  <a:schemeClr val="bg1"/>
                </a:solidFill>
              </a:rPr>
              <a:t>safe access or validation</a:t>
            </a:r>
            <a:endParaRPr lang="en-CA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You </a:t>
            </a:r>
            <a:r>
              <a:rPr lang="en-CA" sz="2400" b="1" dirty="0">
                <a:solidFill>
                  <a:schemeClr val="bg1"/>
                </a:solidFill>
              </a:rPr>
              <a:t>don’t need a getter/setter</a:t>
            </a:r>
            <a:r>
              <a:rPr lang="en-CA" sz="2400" dirty="0">
                <a:solidFill>
                  <a:schemeClr val="bg1"/>
                </a:solidFill>
              </a:rPr>
              <a:t> if you’re ok with letting everyone access it directly.</a:t>
            </a:r>
          </a:p>
        </p:txBody>
      </p:sp>
    </p:spTree>
    <p:extLst>
      <p:ext uri="{BB962C8B-B14F-4D97-AF65-F5344CB8AC3E}">
        <p14:creationId xmlns:p14="http://schemas.microsoft.com/office/powerpoint/2010/main" val="968862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5BE45-3E67-AEF6-45B9-EE768E8B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3C1C-EC4F-6924-E041-B091AAA9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Private attributes, getters and setters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AD196-7469-0022-DFF9-B3DD9828C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What does a double underscore __ before an attribute name mean in Python?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attribute is deleted automatically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attribute is private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attribute cannot be used in the class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attribute is public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082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FEFB3-B894-018B-FE84-E5A05D408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8E4E-ADF9-59E0-48DA-7EAB998D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Private attributes, getters and setters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87AC4-3D5D-788F-5C7E-BDF7E9791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Why would you use a getter or setter for a private attribute?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To make the code run faster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To safely access or modify the attribute 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To automatically print the attribute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To convert the attribute to a list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1786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1380</Words>
  <Application>Microsoft Macintosh PowerPoint</Application>
  <PresentationFormat>Widescreen</PresentationFormat>
  <Paragraphs>207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 Light</vt:lpstr>
      <vt:lpstr>Courier New</vt:lpstr>
      <vt:lpstr>Wingdings</vt:lpstr>
      <vt:lpstr>1_Office Theme</vt:lpstr>
      <vt:lpstr>09. object oriented programming</vt:lpstr>
      <vt:lpstr>Learning objectives</vt:lpstr>
      <vt:lpstr>What is object-oriented programming?</vt:lpstr>
      <vt:lpstr>Classes: Blueprints for objects</vt:lpstr>
      <vt:lpstr>Classes: Blueprints for objects</vt:lpstr>
      <vt:lpstr>Class methods</vt:lpstr>
      <vt:lpstr>Quiz: OOP</vt:lpstr>
      <vt:lpstr>Quiz: OOP</vt:lpstr>
      <vt:lpstr>Quiz: OOP</vt:lpstr>
      <vt:lpstr>Exercise # 1</vt:lpstr>
      <vt:lpstr>Making an attribute “private”</vt:lpstr>
      <vt:lpstr>Getter and setter</vt:lpstr>
      <vt:lpstr>Example without getters/setters</vt:lpstr>
      <vt:lpstr>Encapsulation in Python</vt:lpstr>
      <vt:lpstr>Add a getter (read-only access)</vt:lpstr>
      <vt:lpstr>Add a setter (controlled updates)</vt:lpstr>
      <vt:lpstr>Key points</vt:lpstr>
      <vt:lpstr>Quiz: Private attributes, getters and setters</vt:lpstr>
      <vt:lpstr>Quiz: Private attributes, getters and setters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28</cp:revision>
  <dcterms:created xsi:type="dcterms:W3CDTF">2026-01-19T19:49:27Z</dcterms:created>
  <dcterms:modified xsi:type="dcterms:W3CDTF">2026-04-10T17:12:25Z</dcterms:modified>
</cp:coreProperties>
</file>