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6"/>
  </p:notesMasterIdLst>
  <p:sldIdLst>
    <p:sldId id="257" r:id="rId2"/>
    <p:sldId id="259" r:id="rId3"/>
    <p:sldId id="260" r:id="rId4"/>
    <p:sldId id="261" r:id="rId5"/>
    <p:sldId id="262" r:id="rId6"/>
    <p:sldId id="263" r:id="rId7"/>
    <p:sldId id="265" r:id="rId8"/>
    <p:sldId id="266" r:id="rId9"/>
    <p:sldId id="267" r:id="rId10"/>
    <p:sldId id="268" r:id="rId11"/>
    <p:sldId id="269" r:id="rId12"/>
    <p:sldId id="271" r:id="rId13"/>
    <p:sldId id="273" r:id="rId14"/>
    <p:sldId id="272" r:id="rId15"/>
    <p:sldId id="270" r:id="rId16"/>
    <p:sldId id="275" r:id="rId17"/>
    <p:sldId id="264" r:id="rId18"/>
    <p:sldId id="274" r:id="rId19"/>
    <p:sldId id="276" r:id="rId20"/>
    <p:sldId id="277" r:id="rId21"/>
    <p:sldId id="278" r:id="rId22"/>
    <p:sldId id="279" r:id="rId23"/>
    <p:sldId id="280" r:id="rId24"/>
    <p:sldId id="281" r:id="rId25"/>
    <p:sldId id="362" r:id="rId26"/>
    <p:sldId id="363" r:id="rId27"/>
    <p:sldId id="364" r:id="rId28"/>
    <p:sldId id="365" r:id="rId29"/>
    <p:sldId id="366" r:id="rId30"/>
    <p:sldId id="292" r:id="rId31"/>
    <p:sldId id="367" r:id="rId32"/>
    <p:sldId id="368" r:id="rId33"/>
    <p:sldId id="369" r:id="rId34"/>
    <p:sldId id="370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68"/>
    <p:restoredTop sz="96395"/>
  </p:normalViewPr>
  <p:slideViewPr>
    <p:cSldViewPr snapToGrid="0">
      <p:cViewPr varScale="1">
        <p:scale>
          <a:sx n="114" d="100"/>
          <a:sy n="114" d="100"/>
        </p:scale>
        <p:origin x="5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3EFF5B-8D55-7A44-9555-99022011B642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C8D97B-4F20-D941-8325-393DF49E8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288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b="1" dirty="0"/>
              <a:t>Hi everyone, I’m Julia — a PhD candidate at the Institute of Medical Science here at the University of Toronto.</a:t>
            </a:r>
          </a:p>
          <a:p>
            <a:br>
              <a:rPr lang="en-CA" dirty="0"/>
            </a:br>
            <a:endParaRPr lang="en-CA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1200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2103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2800" dirty="0"/>
              <a:t>Just to orient everyone, here are our learning objectives for today’s session.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48517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D1A2F-A334-4F43-9815-ACD08471E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AC1023-6D9A-DB7E-E825-6F6F05BE9D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142A17-3332-4FD2-C0B6-F17052C76A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F4641C-A6BB-4252-F90D-5E61A3913E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23819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FBAE1-D92D-3DD1-8AF2-C3B1B4493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9696BB-3A15-7805-3FDA-483AA7F240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5A2C1D-0E5C-B691-2BDB-FEB5BE08A1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A73C8F-0D62-6CF5-AEEB-22F31AB033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78422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DCBFA-87AA-999A-F4D1-F07C59A66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DB54EE-D933-A2FE-7356-CF1BBF49C6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222E4A-D205-E3DA-D744-E3180EF7D8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EC6949-0CC2-ED65-9312-0CAE9F76CB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93547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FF5CA-8A47-B196-D27D-B8AFF33DE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57AA18-152D-6977-FE10-3B17ABB594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92F41C-BF82-4DF8-3D5A-2E2A2BBB8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8B4437-B338-1762-538A-C69CF697F3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51397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07334-EADC-071B-7F53-678014BAE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AABF5F-9639-0556-256E-F2AD029B53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731CA3-1AA6-4745-6461-3AC6F7FCF0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1E2AA2-64EB-99F6-B68F-DAE653548D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02864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FE5D0-6590-C530-57B2-93C80AE97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F1D1CE-AE0E-6B13-CA26-C87E914FFF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66E1F7-057E-BC0E-9B77-8B69A43043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4430DF-11EC-C624-AC3D-115F900CAC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64058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8631A-A6B8-AC15-EDEA-8BE005206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3B377C-823F-DC57-B1A0-6AB02F9B61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E0E53-7452-114C-C487-4635CE01FB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8918B6-E60D-4492-40A9-9D6CD44AC6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21725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B41A8-7002-7CCB-C1B4-1D8CD0F96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A2ACF1-4D71-7231-CFAC-999E508321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3EC9E8-67D5-9B4E-3619-7018FF913B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D896DE-EDC8-6B4A-DD4C-8F05145359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12743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10E6E-BFC5-B56F-0328-3C3220807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BAA0EE-E933-287C-F992-46EA2C5C7B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A7B852-0C3E-3789-D30A-32CF189E95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A44EE1-1D7B-07BF-5952-5DE4CC0497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22670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EBC0E-1124-84C5-361D-F4A7B9388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B8951A-16E2-E30C-BF0D-8EF9B3BA36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D04B79-F7CC-EF0A-AD78-A711594A01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B34855-2B52-2950-B8E3-5F5BC81339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31486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2C4FD-1C61-FBE1-2E63-5B84174D8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870761-5CD9-43D7-FCD8-1226C4AD81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679BB3-0598-799C-0134-45B623F097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59CF42-C385-48E1-A5EB-9CE5604EE7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64605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A8D70-C0DC-E4E3-B86A-26EAC73D3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18C89F-6B72-3557-31B7-C071F0223B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2320C3-A074-69EE-25AB-A78E3B1EDD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97CB09-5A2E-CCFB-4611-A513F6E2E4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64544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896AA-0CD7-C09E-BDEA-396829158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01391E-F4DC-FF9E-BC87-C7528E57FB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F1DB2B-E40E-1191-1EDD-3A9E1CFEFC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69844F-D48C-BB2A-3443-F26558253C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8850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12539-E7C7-8248-5CDC-DA7D3FEDE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0CDA5D-134E-1242-976E-2BF5170298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5BFFFD-A79B-5469-EB4A-618AC16368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228AB1-B844-C3D2-0490-38B2C1CF1C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1086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3A65E-A961-0BBE-2EEC-92365FE7C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9E7B45-EBD7-92A1-7AF0-4DFF1523A6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92684A-E092-DB20-EBEC-E87CAF2319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7EA7E1-3A3B-3543-1620-6F52F7DC19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25971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F58AF-F36F-63F0-6715-EF8D859BB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B0AA3F-5AA3-3169-AC43-83A9742839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37D765-64BD-8C2A-4BBA-9FA5412EB6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0663AE-4E62-404C-EDCA-9A91DF7A0E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34206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3190D-FC78-097C-F8B9-8832CC736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5E93DF-489D-6CF7-6DE4-1297F1EB2E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C92054-7BBB-68D2-6EB1-B11D225143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E98CB3-D260-06F1-563E-4A84EB440E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4762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5CC6E-6B53-3198-9199-A66583555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A25A33-2E89-3AC3-D5E4-0A7CC310D5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578AB2-22D0-1F83-EB83-6BF9A85E62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F7B5DB-6672-BC88-D55C-3A19934062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80299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799E7-9EAB-D641-B2E7-11C3147D4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0BC904-09EC-9191-2E5B-8DF5A45AE1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1AB2E8-6757-D462-63B7-F9BE6FA3DA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F7AEA5-D406-DF7B-320C-8DD5AF1E64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23734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E0CF8-F83A-C29E-23A7-FE7B213CA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C656D1-8496-5AF9-F391-7BCA0D3D6A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AF34EC-081F-10F3-4CD1-C2C19893E2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FA3DD4-F73A-205C-592F-4AFD20B133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70023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55E3C-83C8-80BE-364F-6CBB22844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3DC860-4367-2A11-35CF-DB4B4DD75E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559738-562F-4FDC-BE74-D7C3CCB6C7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D62AF2-84B7-618C-8F14-1F49B64F7B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94349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7FB6F-7ED7-C766-DF56-E258BD727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D96E0F-050F-797D-97D3-31006822AB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0A3DA2-11E0-C0A6-685C-2F23C084A7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A1F74B-A981-D465-2237-AE2A38C8AA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18420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D27A9-1BC3-4EA2-8AC6-5F6373861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84F7C0-14F9-00AA-15A1-EDD3AC4D52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83E31D-0287-6113-D023-A4E9789C4F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689089-55E8-BD84-B50D-6F402F8926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0954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8C719-11A7-BAC0-3F37-9E1AC91A8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6C328D-97DB-A87F-C46C-F27C4FEB6F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792E8D-7C04-A81A-F9B8-5851096AAE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44451D-796A-9DDF-4614-C75D0850E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785520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AA39A-D969-83C0-C208-32A8D3126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B86CC2-58E3-609B-110F-023EFBE713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0BB3B0-AA47-31E2-3F63-CDB4CCDB4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22F93C-1AE1-AEA9-EB0F-71E2200558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29440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5C5B7-A7E7-5EAE-93E2-D1D6ABDA6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6CD1F4-6781-52C8-B1AA-48554E6DB0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11B0BC-E0DD-754F-4063-84919FCAA3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7BD1E3-5BE4-70A8-BC42-FD4F8DF276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80316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F8AB7-0CFE-27EC-4422-EC9D87D2D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95C2FA-B337-35FD-E051-6485858F19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2FB547-8CA9-CB0F-8FD9-879B7CA9F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7BDCD6-B055-10DF-CB44-4B09D6D2C0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394139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0FEAA-E7B8-2801-0B6D-209F04027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F41450-9DFD-C3E8-9C4E-532AC3E1CA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7406BE-608E-101A-6495-4F503C4E16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8777A-958C-732B-2E98-958AA2DDC3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989641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13989-A1A7-0B58-46FE-04051D38A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90B30E-7027-7047-AB5D-B3A2C60151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732273-758D-6638-1A1D-A91F0F95F5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0FF29F-328C-5C98-A323-BF80DEED89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182238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E4423-ACC4-646A-DF42-BC959DD2E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1F81CB-3A15-9E05-69E9-F37FD44C22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8406BF-4CE4-A881-1700-E5F024137D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837D9E-B5A5-2D68-0E38-8FA0A1F413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769756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ABA3C-F0B1-79F1-16D4-6DED3EB44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6FA119-DF09-A368-E320-CCC1EC2F5F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F70A04-53A2-BC79-2948-4CC2F41CF0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1ADA59-6C5C-E2C5-8368-86E78AE5FE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392424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E2966-E471-04EC-1C42-938E01439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56D4E1-2DE8-94CF-3AA8-7B89FA6F7C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8AD57D-7532-17BF-81E1-9F0343D2F9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0D26E1-51BE-B19D-F5EA-AA24DFE720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6630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489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318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325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501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276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003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476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154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807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928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598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9673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E1707-777C-7A52-3280-B460A827B0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0644" y="1122363"/>
            <a:ext cx="10806546" cy="2387600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10. </a:t>
            </a:r>
            <a:r>
              <a:rPr lang="en-US" b="1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numpy</a:t>
            </a:r>
            <a:endParaRPr lang="en-US" b="1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7342D65-55C4-7022-0955-95594DC2C7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136217"/>
          </a:xfrm>
          <a:solidFill>
            <a:schemeClr val="tx2">
              <a:lumMod val="25000"/>
            </a:schemeClr>
          </a:solidFill>
        </p:spPr>
        <p:txBody>
          <a:bodyPr>
            <a:normAutofit/>
          </a:bodyPr>
          <a:lstStyle/>
          <a:p>
            <a:pPr algn="l"/>
            <a:endParaRPr lang="en-US" sz="1400" b="1" dirty="0"/>
          </a:p>
          <a:p>
            <a:pPr algn="l"/>
            <a:r>
              <a:rPr lang="en-US" b="1" dirty="0"/>
              <a:t>Data Science Institute | Python</a:t>
            </a:r>
          </a:p>
          <a:p>
            <a:pPr algn="l"/>
            <a:endParaRPr lang="en-US" sz="1400" dirty="0"/>
          </a:p>
          <a:p>
            <a:pPr algn="l"/>
            <a:endParaRPr lang="en-US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017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2B004-DEF5-406C-8AD6-3F634E4E8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BCF6B-5C58-D402-B42A-C11166569E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CA" sz="2400" dirty="0">
                <a:solidFill>
                  <a:schemeClr val="bg1"/>
                </a:solidFill>
              </a:rPr>
              <a:t>Be able to understand understand the NumPy array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cs typeface="Calibri Light" panose="020F0302020204030204" pitchFamily="34" charset="0"/>
              </a:rPr>
              <a:t>Create and manipulate arrays in multiple ways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cs typeface="Calibri Light" panose="020F0302020204030204" pitchFamily="34" charset="0"/>
              </a:rPr>
              <a:t>Perform computations on arrays and avoid unnecessary loops by leveraging array operations</a:t>
            </a:r>
          </a:p>
        </p:txBody>
      </p:sp>
    </p:spTree>
    <p:extLst>
      <p:ext uri="{BB962C8B-B14F-4D97-AF65-F5344CB8AC3E}">
        <p14:creationId xmlns:p14="http://schemas.microsoft.com/office/powerpoint/2010/main" val="2529353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FAC98C-7BDA-F133-51BD-4B7C1F004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CA628-C625-C188-3F70-DF1EE7E67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What is a NumPy array?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DDEF6-E259-5101-90A0-A8D2BB2C0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CA" sz="2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CA" sz="2400" dirty="0">
                <a:solidFill>
                  <a:schemeClr val="bg1"/>
                </a:solidFill>
              </a:rPr>
              <a:t> is a Python package used for </a:t>
            </a:r>
            <a:r>
              <a:rPr lang="en-CA" sz="2400" b="1" dirty="0">
                <a:solidFill>
                  <a:schemeClr val="bg1"/>
                </a:solidFill>
              </a:rPr>
              <a:t>scientific and numerical computing</a:t>
            </a:r>
            <a:r>
              <a:rPr lang="en-CA" sz="2400" dirty="0">
                <a:solidFill>
                  <a:schemeClr val="bg1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CA" sz="2400" dirty="0">
                <a:solidFill>
                  <a:schemeClr val="bg1"/>
                </a:solidFill>
              </a:rPr>
              <a:t>It introduces a powerful data structure called an </a:t>
            </a:r>
            <a:r>
              <a:rPr lang="en-CA" sz="2400" b="1" dirty="0">
                <a:solidFill>
                  <a:schemeClr val="bg1"/>
                </a:solidFill>
              </a:rPr>
              <a:t>array</a:t>
            </a:r>
            <a:r>
              <a:rPr lang="en-CA" sz="2400" dirty="0">
                <a:solidFill>
                  <a:schemeClr val="bg1"/>
                </a:solidFill>
              </a:rPr>
              <a:t>, which is designed to store and work with numbers efficiently.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cs typeface="Calibri Light" panose="020F0302020204030204" pitchFamily="34" charset="0"/>
              </a:rPr>
              <a:t>A </a:t>
            </a:r>
            <a:r>
              <a:rPr lang="en-US" sz="2400" b="1" dirty="0">
                <a:solidFill>
                  <a:schemeClr val="bg1"/>
                </a:solidFill>
                <a:cs typeface="Calibri Light" panose="020F0302020204030204" pitchFamily="34" charset="0"/>
              </a:rPr>
              <a:t>NumPy array </a:t>
            </a:r>
            <a:r>
              <a:rPr lang="en-US" sz="2400" dirty="0">
                <a:solidFill>
                  <a:schemeClr val="bg1"/>
                </a:solidFill>
                <a:cs typeface="Calibri Light" panose="020F0302020204030204" pitchFamily="34" charset="0"/>
              </a:rPr>
              <a:t>is: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cs typeface="Calibri Light" panose="020F0302020204030204" pitchFamily="34" charset="0"/>
              </a:rPr>
              <a:t>A grid of values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cs typeface="Calibri Light" panose="020F0302020204030204" pitchFamily="34" charset="0"/>
              </a:rPr>
              <a:t>All values are the same data type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cs typeface="Calibri Light" panose="020F0302020204030204" pitchFamily="34" charset="0"/>
              </a:rPr>
              <a:t>Can have one or more dimensions (1D, 2D, 3D, …)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cs typeface="Calibri Light" panose="020F0302020204030204" pitchFamily="34" charset="0"/>
              </a:rPr>
              <a:t>Think of it as a more efficient list for numbers.</a:t>
            </a:r>
          </a:p>
          <a:p>
            <a:pPr>
              <a:lnSpc>
                <a:spcPct val="150000"/>
              </a:lnSpc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  <p:pic>
        <p:nvPicPr>
          <p:cNvPr id="1026" name="Picture 2" descr="4 NumPy – Introduction to Data Science with Python">
            <a:extLst>
              <a:ext uri="{FF2B5EF4-FFF2-40B4-BE49-F238E27FC236}">
                <a16:creationId xmlns:a16="http://schemas.microsoft.com/office/drawing/2014/main" id="{2A837E22-3216-9A7B-BD10-98064594CC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993" b="14523"/>
          <a:stretch/>
        </p:blipFill>
        <p:spPr bwMode="auto">
          <a:xfrm>
            <a:off x="6745185" y="2951088"/>
            <a:ext cx="4405745" cy="2330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584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43D79D-C3E3-06BE-FC78-F7990AE69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D907B-89CB-8CC6-2210-63873744E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Loading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697B4-D2D8-0BE8-1C45-CDFFCEA18A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CA" sz="2400" dirty="0">
                <a:solidFill>
                  <a:schemeClr val="bg1"/>
                </a:solidFill>
              </a:rPr>
              <a:t>We usually import NumPy with an alias:</a:t>
            </a:r>
          </a:p>
          <a:p>
            <a:pPr>
              <a:lnSpc>
                <a:spcPct val="150000"/>
              </a:lnSpc>
            </a:pPr>
            <a:endParaRPr lang="en-CA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cs typeface="Calibri Light" panose="020F0302020204030204" pitchFamily="34" charset="0"/>
              </a:rPr>
              <a:t>This lets us write np instead of </a:t>
            </a:r>
            <a:r>
              <a:rPr lang="en-US" sz="2400" dirty="0" err="1">
                <a:solidFill>
                  <a:schemeClr val="bg1"/>
                </a:solidFill>
                <a:cs typeface="Calibri Light" panose="020F0302020204030204" pitchFamily="34" charset="0"/>
              </a:rPr>
              <a:t>numpy</a:t>
            </a:r>
            <a:r>
              <a:rPr lang="en-US" sz="2400" dirty="0">
                <a:solidFill>
                  <a:schemeClr val="bg1"/>
                </a:solidFill>
                <a:cs typeface="Calibri Light" panose="020F0302020204030204" pitchFamily="34" charset="0"/>
              </a:rPr>
              <a:t>, which is shorter and easier to read.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E197EA-48E3-38F7-6EEE-A9AE9CBA9B3F}"/>
              </a:ext>
            </a:extLst>
          </p:cNvPr>
          <p:cNvSpPr txBox="1"/>
          <p:nvPr/>
        </p:nvSpPr>
        <p:spPr>
          <a:xfrm>
            <a:off x="1195950" y="2239475"/>
            <a:ext cx="9800100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accent3"/>
                </a:solidFill>
                <a:latin typeface="Courier New" panose="02070309020205020404" pitchFamily="49" charset="0"/>
              </a:rPr>
              <a:t>import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 </a:t>
            </a:r>
            <a:r>
              <a:rPr lang="en-CA" sz="2400" dirty="0" err="1">
                <a:solidFill>
                  <a:schemeClr val="bg1"/>
                </a:solidFill>
                <a:latin typeface="Courier New" panose="02070309020205020404" pitchFamily="49" charset="0"/>
              </a:rPr>
              <a:t>numpy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 </a:t>
            </a:r>
            <a:r>
              <a:rPr lang="en-CA" sz="2400" dirty="0">
                <a:solidFill>
                  <a:schemeClr val="accent3"/>
                </a:solidFill>
                <a:latin typeface="Courier New" panose="02070309020205020404" pitchFamily="49" charset="0"/>
              </a:rPr>
              <a:t>as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 np</a:t>
            </a:r>
            <a:endParaRPr lang="en-CA" sz="2400" dirty="0">
              <a:solidFill>
                <a:schemeClr val="accent6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8363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78DE73-B4D5-260B-41D2-C426A45C6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9D179-ED5A-7709-192C-595EB406C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Arrays vs lists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E6A34A1-97A1-7346-C8CF-DA8034A14A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4999493"/>
              </p:ext>
            </p:extLst>
          </p:nvPr>
        </p:nvGraphicFramePr>
        <p:xfrm>
          <a:off x="838200" y="1587748"/>
          <a:ext cx="9440883" cy="2969984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315691">
                  <a:extLst>
                    <a:ext uri="{9D8B030D-6E8A-4147-A177-3AD203B41FA5}">
                      <a16:colId xmlns:a16="http://schemas.microsoft.com/office/drawing/2014/main" val="2124711436"/>
                    </a:ext>
                  </a:extLst>
                </a:gridCol>
                <a:gridCol w="5125192">
                  <a:extLst>
                    <a:ext uri="{9D8B030D-6E8A-4147-A177-3AD203B41FA5}">
                      <a16:colId xmlns:a16="http://schemas.microsoft.com/office/drawing/2014/main" val="504328110"/>
                    </a:ext>
                  </a:extLst>
                </a:gridCol>
              </a:tblGrid>
              <a:tr h="340238">
                <a:tc>
                  <a:txBody>
                    <a:bodyPr/>
                    <a:lstStyle/>
                    <a:p>
                      <a:pPr fontAlgn="ctr"/>
                      <a:r>
                        <a:rPr lang="en-CA" sz="2400" b="1" dirty="0">
                          <a:effectLst/>
                        </a:rPr>
                        <a:t>NumPy Arrays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2400" b="1" u="none" dirty="0">
                          <a:effectLst/>
                        </a:rPr>
                        <a:t>Python lists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486340"/>
                  </a:ext>
                </a:extLst>
              </a:tr>
              <a:tr h="468176"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All elements </a:t>
                      </a:r>
                      <a:r>
                        <a:rPr lang="en-CA" sz="18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must be the same data type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Elements can be different types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53372"/>
                  </a:ext>
                </a:extLst>
              </a:tr>
              <a:tr h="468176">
                <a:tc>
                  <a:txBody>
                    <a:bodyPr/>
                    <a:lstStyle/>
                    <a:p>
                      <a:pPr fontAlgn="ctr"/>
                      <a:r>
                        <a:rPr lang="en-CA" sz="1800" b="1" i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Fixed size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Can grow or shrink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790727"/>
                  </a:ext>
                </a:extLst>
              </a:tr>
              <a:tr h="468176">
                <a:tc>
                  <a:txBody>
                    <a:bodyPr/>
                    <a:lstStyle/>
                    <a:p>
                      <a:pPr fontAlgn="ctr"/>
                      <a:r>
                        <a:rPr lang="en-CA" sz="1800" i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Can be </a:t>
                      </a:r>
                      <a:r>
                        <a:rPr lang="en-CA" sz="1800" b="1" i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multidimensional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Usually, 1D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3818369"/>
                  </a:ext>
                </a:extLst>
              </a:tr>
              <a:tr h="468176">
                <a:tc>
                  <a:txBody>
                    <a:bodyPr/>
                    <a:lstStyle/>
                    <a:p>
                      <a:pPr fontAlgn="ctr"/>
                      <a:r>
                        <a:rPr lang="en-CA" sz="1800" b="1" i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Very fast </a:t>
                      </a:r>
                      <a:r>
                        <a:rPr lang="en-CA" sz="1800" i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math operations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Slower for math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077366"/>
                  </a:ext>
                </a:extLst>
              </a:tr>
              <a:tr h="468176">
                <a:tc>
                  <a:txBody>
                    <a:bodyPr/>
                    <a:lstStyle/>
                    <a:p>
                      <a:pPr fontAlgn="ctr"/>
                      <a:r>
                        <a:rPr lang="en-CA" sz="1800" i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Uses </a:t>
                      </a:r>
                      <a:r>
                        <a:rPr lang="en-CA" sz="1800" b="1" i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less memory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Uses more memory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95285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5271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554C1C-6150-E950-6CC7-3B4AFFCFA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EAC3C-8D21-96CF-CFFD-66339AA05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Arrays vs lists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2588338-1441-06B6-19AF-F7E6357C1BCB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587748"/>
          <a:ext cx="9440883" cy="2969984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315691">
                  <a:extLst>
                    <a:ext uri="{9D8B030D-6E8A-4147-A177-3AD203B41FA5}">
                      <a16:colId xmlns:a16="http://schemas.microsoft.com/office/drawing/2014/main" val="2124711436"/>
                    </a:ext>
                  </a:extLst>
                </a:gridCol>
                <a:gridCol w="5125192">
                  <a:extLst>
                    <a:ext uri="{9D8B030D-6E8A-4147-A177-3AD203B41FA5}">
                      <a16:colId xmlns:a16="http://schemas.microsoft.com/office/drawing/2014/main" val="504328110"/>
                    </a:ext>
                  </a:extLst>
                </a:gridCol>
              </a:tblGrid>
              <a:tr h="340238">
                <a:tc>
                  <a:txBody>
                    <a:bodyPr/>
                    <a:lstStyle/>
                    <a:p>
                      <a:pPr fontAlgn="ctr"/>
                      <a:r>
                        <a:rPr lang="en-CA" sz="2400" b="1" dirty="0">
                          <a:effectLst/>
                        </a:rPr>
                        <a:t>NumPy Arrays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2400" b="1" u="none" dirty="0">
                          <a:effectLst/>
                        </a:rPr>
                        <a:t>Python lists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486340"/>
                  </a:ext>
                </a:extLst>
              </a:tr>
              <a:tr h="468176"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All elements </a:t>
                      </a:r>
                      <a:r>
                        <a:rPr lang="en-CA" sz="18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must be the same data type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Elements can be different types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53372"/>
                  </a:ext>
                </a:extLst>
              </a:tr>
              <a:tr h="468176">
                <a:tc>
                  <a:txBody>
                    <a:bodyPr/>
                    <a:lstStyle/>
                    <a:p>
                      <a:pPr fontAlgn="ctr"/>
                      <a:r>
                        <a:rPr lang="en-CA" sz="1800" b="1" i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Fixed size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Can grow or shrink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790727"/>
                  </a:ext>
                </a:extLst>
              </a:tr>
              <a:tr h="468176">
                <a:tc>
                  <a:txBody>
                    <a:bodyPr/>
                    <a:lstStyle/>
                    <a:p>
                      <a:pPr fontAlgn="ctr"/>
                      <a:r>
                        <a:rPr lang="en-CA" sz="1800" i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Can be </a:t>
                      </a:r>
                      <a:r>
                        <a:rPr lang="en-CA" sz="1800" b="1" i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multidimensional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Usually, 1D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3818369"/>
                  </a:ext>
                </a:extLst>
              </a:tr>
              <a:tr h="468176">
                <a:tc>
                  <a:txBody>
                    <a:bodyPr/>
                    <a:lstStyle/>
                    <a:p>
                      <a:pPr fontAlgn="ctr"/>
                      <a:r>
                        <a:rPr lang="en-CA" sz="1800" b="1" i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Very fast </a:t>
                      </a:r>
                      <a:r>
                        <a:rPr lang="en-CA" sz="1800" i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math operations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Slower for math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077366"/>
                  </a:ext>
                </a:extLst>
              </a:tr>
              <a:tr h="468176">
                <a:tc>
                  <a:txBody>
                    <a:bodyPr/>
                    <a:lstStyle/>
                    <a:p>
                      <a:pPr fontAlgn="ctr"/>
                      <a:r>
                        <a:rPr lang="en-CA" sz="1800" i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Uses </a:t>
                      </a:r>
                      <a:r>
                        <a:rPr lang="en-CA" sz="1800" b="1" i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less memory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Uses more memory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952850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9EDD941-B96B-9198-48CD-C8D743104DB3}"/>
              </a:ext>
            </a:extLst>
          </p:cNvPr>
          <p:cNvSpPr txBox="1"/>
          <p:nvPr/>
        </p:nvSpPr>
        <p:spPr>
          <a:xfrm>
            <a:off x="838200" y="4808587"/>
            <a:ext cx="9800100" cy="1938992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accent1"/>
                </a:solidFill>
                <a:latin typeface="Courier New" panose="02070309020205020404" pitchFamily="49" charset="0"/>
              </a:rPr>
              <a:t># Python list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 err="1">
                <a:solidFill>
                  <a:schemeClr val="bg1"/>
                </a:solidFill>
                <a:latin typeface="Courier New" panose="02070309020205020404" pitchFamily="49" charset="0"/>
              </a:rPr>
              <a:t>numbers_list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 = [1, 2, 3, 4, 5]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2400" dirty="0">
              <a:solidFill>
                <a:schemeClr val="bg1"/>
              </a:solidFill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accent1"/>
                </a:solidFill>
                <a:latin typeface="Courier New" panose="02070309020205020404" pitchFamily="49" charset="0"/>
              </a:rPr>
              <a:t># NumPy array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 err="1">
                <a:solidFill>
                  <a:schemeClr val="bg1"/>
                </a:solidFill>
                <a:latin typeface="Courier New" panose="02070309020205020404" pitchFamily="49" charset="0"/>
              </a:rPr>
              <a:t>numbers_array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 = </a:t>
            </a:r>
            <a:r>
              <a:rPr lang="en-CA" sz="2400" dirty="0" err="1">
                <a:solidFill>
                  <a:schemeClr val="bg1"/>
                </a:solidFill>
                <a:latin typeface="Courier New" panose="02070309020205020404" pitchFamily="49" charset="0"/>
              </a:rPr>
              <a:t>np.array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([1, 2, 3, 4, 5])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2CF6811-1373-828D-0CA1-078D4277EE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2890962"/>
              </p:ext>
            </p:extLst>
          </p:nvPr>
        </p:nvGraphicFramePr>
        <p:xfrm>
          <a:off x="7964713" y="5057086"/>
          <a:ext cx="2314370" cy="426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874">
                  <a:extLst>
                    <a:ext uri="{9D8B030D-6E8A-4147-A177-3AD203B41FA5}">
                      <a16:colId xmlns:a16="http://schemas.microsoft.com/office/drawing/2014/main" val="730551547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4285457210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3428100711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921627255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2255004614"/>
                    </a:ext>
                  </a:extLst>
                </a:gridCol>
              </a:tblGrid>
              <a:tr h="42633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8863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DDC181D-C710-B560-B1AD-CC0EE9BF67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0360514"/>
              </p:ext>
            </p:extLst>
          </p:nvPr>
        </p:nvGraphicFramePr>
        <p:xfrm>
          <a:off x="7964713" y="5689166"/>
          <a:ext cx="2314370" cy="426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874">
                  <a:extLst>
                    <a:ext uri="{9D8B030D-6E8A-4147-A177-3AD203B41FA5}">
                      <a16:colId xmlns:a16="http://schemas.microsoft.com/office/drawing/2014/main" val="730551547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4285457210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3428100711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921627255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2255004614"/>
                    </a:ext>
                  </a:extLst>
                </a:gridCol>
              </a:tblGrid>
              <a:tr h="42633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886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2929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4F4FC8-DA38-EA12-9C67-4112DA137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0C0866C-2229-FE19-80A6-23A4688384F9}"/>
              </a:ext>
            </a:extLst>
          </p:cNvPr>
          <p:cNvSpPr txBox="1"/>
          <p:nvPr/>
        </p:nvSpPr>
        <p:spPr>
          <a:xfrm>
            <a:off x="1042061" y="1595021"/>
            <a:ext cx="1078576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b="0" dirty="0">
                <a:solidFill>
                  <a:schemeClr val="bg1"/>
                </a:solidFill>
                <a:effectLst/>
              </a:rPr>
              <a:t>Most arrays we'll work with will be one-dimensional </a:t>
            </a:r>
            <a:r>
              <a:rPr lang="en-CA" sz="2400" b="0" i="1" dirty="0">
                <a:solidFill>
                  <a:schemeClr val="bg1"/>
                </a:solidFill>
                <a:effectLst/>
              </a:rPr>
              <a:t>vectors</a:t>
            </a:r>
            <a:r>
              <a:rPr lang="en-CA" sz="2400" b="0" dirty="0">
                <a:solidFill>
                  <a:schemeClr val="bg1"/>
                </a:solidFill>
                <a:effectLst/>
              </a:rPr>
              <a:t> and two-dimensional </a:t>
            </a:r>
            <a:r>
              <a:rPr lang="en-CA" sz="2400" b="0" i="1" dirty="0">
                <a:solidFill>
                  <a:schemeClr val="bg1"/>
                </a:solidFill>
                <a:effectLst/>
              </a:rPr>
              <a:t>matrices</a:t>
            </a:r>
            <a:r>
              <a:rPr lang="en-CA" sz="2400" b="0" dirty="0">
                <a:solidFill>
                  <a:schemeClr val="bg1"/>
                </a:solidFill>
                <a:effectLst/>
              </a:rPr>
              <a:t>.</a:t>
            </a:r>
          </a:p>
          <a:p>
            <a:endParaRPr lang="en-CA" sz="2400" dirty="0">
              <a:solidFill>
                <a:schemeClr val="bg1"/>
              </a:solidFill>
            </a:endParaRPr>
          </a:p>
          <a:p>
            <a:endParaRPr lang="en-CA" sz="2400" b="0" dirty="0">
              <a:solidFill>
                <a:schemeClr val="bg1"/>
              </a:solidFill>
              <a:effectLst/>
            </a:endParaRPr>
          </a:p>
          <a:p>
            <a:endParaRPr lang="en-CA" sz="2400" dirty="0">
              <a:solidFill>
                <a:schemeClr val="bg1"/>
              </a:solidFill>
            </a:endParaRPr>
          </a:p>
          <a:p>
            <a:endParaRPr lang="en-CA" sz="2400" b="0" dirty="0">
              <a:solidFill>
                <a:schemeClr val="bg1"/>
              </a:solidFill>
              <a:effectLst/>
            </a:endParaRPr>
          </a:p>
          <a:p>
            <a:endParaRPr lang="en-CA" sz="2400" dirty="0">
              <a:solidFill>
                <a:schemeClr val="bg1"/>
              </a:solidFill>
            </a:endParaRPr>
          </a:p>
          <a:p>
            <a:endParaRPr lang="en-CA" sz="2400" b="0" dirty="0">
              <a:solidFill>
                <a:schemeClr val="bg1"/>
              </a:solidFill>
              <a:effectLst/>
            </a:endParaRPr>
          </a:p>
          <a:p>
            <a:endParaRPr lang="en-CA" sz="2400" dirty="0">
              <a:solidFill>
                <a:schemeClr val="bg1"/>
              </a:solidFill>
            </a:endParaRPr>
          </a:p>
          <a:p>
            <a:endParaRPr lang="en-CA" sz="2400" b="0" dirty="0">
              <a:solidFill>
                <a:schemeClr val="bg1"/>
              </a:solidFill>
              <a:effectLst/>
            </a:endParaRPr>
          </a:p>
          <a:p>
            <a:endParaRPr lang="en-CA" sz="2400" b="0" dirty="0">
              <a:solidFill>
                <a:schemeClr val="bg1"/>
              </a:solidFill>
              <a:effectLst/>
            </a:endParaRPr>
          </a:p>
          <a:p>
            <a:endParaRPr lang="en-CA" sz="600" b="0" dirty="0">
              <a:solidFill>
                <a:schemeClr val="bg1"/>
              </a:solidFill>
              <a:effectLst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200" b="1" dirty="0" err="1">
                <a:solidFill>
                  <a:schemeClr val="bg1"/>
                </a:solidFill>
                <a:effectLst/>
              </a:rPr>
              <a:t>ndim</a:t>
            </a:r>
            <a:r>
              <a:rPr lang="en-CA" sz="2200" b="0" dirty="0">
                <a:solidFill>
                  <a:schemeClr val="bg1"/>
                </a:solidFill>
                <a:effectLst/>
              </a:rPr>
              <a:t> attribute indicating the number of its axes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200" b="1" dirty="0">
                <a:solidFill>
                  <a:schemeClr val="bg1"/>
                </a:solidFill>
                <a:effectLst/>
              </a:rPr>
              <a:t>size</a:t>
            </a:r>
            <a:r>
              <a:rPr lang="en-CA" sz="2200" b="0" dirty="0">
                <a:solidFill>
                  <a:schemeClr val="bg1"/>
                </a:solidFill>
                <a:effectLst/>
              </a:rPr>
              <a:t> attribute indicating the number of values it has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200" b="1" dirty="0">
                <a:solidFill>
                  <a:schemeClr val="bg1"/>
                </a:solidFill>
                <a:effectLst/>
              </a:rPr>
              <a:t>shape</a:t>
            </a:r>
            <a:r>
              <a:rPr lang="en-CA" sz="2200" b="0" dirty="0">
                <a:solidFill>
                  <a:schemeClr val="bg1"/>
                </a:solidFill>
                <a:effectLst/>
              </a:rPr>
              <a:t> indicating its size in each dimension.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6EA7EE-5F25-F14E-C439-B02E3E0AF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Creating NumPy arrays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BE19CE-B9FF-BA4F-F182-4C53CB44F2F3}"/>
              </a:ext>
            </a:extLst>
          </p:cNvPr>
          <p:cNvSpPr txBox="1"/>
          <p:nvPr/>
        </p:nvSpPr>
        <p:spPr>
          <a:xfrm>
            <a:off x="1042060" y="3706549"/>
            <a:ext cx="10515599" cy="1938992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2 rows x 3 columns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matrix =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np.array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([[1, 2, 3],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               [4, 5, 6]])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matrix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matrix.ndim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2,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matrix.shape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(2,3),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matrix.size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6 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3AE9681-59F3-3FB3-3800-4B6854F2E1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4742817"/>
              </p:ext>
            </p:extLst>
          </p:nvPr>
        </p:nvGraphicFramePr>
        <p:xfrm>
          <a:off x="8774214" y="3925661"/>
          <a:ext cx="1388622" cy="852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874">
                  <a:extLst>
                    <a:ext uri="{9D8B030D-6E8A-4147-A177-3AD203B41FA5}">
                      <a16:colId xmlns:a16="http://schemas.microsoft.com/office/drawing/2014/main" val="730551547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4285457210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3428100711"/>
                    </a:ext>
                  </a:extLst>
                </a:gridCol>
              </a:tblGrid>
              <a:tr h="42633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88638"/>
                  </a:ext>
                </a:extLst>
              </a:tr>
              <a:tr h="426331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877739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0CE381CC-6B97-F3AD-EFF0-B4338371E6C7}"/>
              </a:ext>
            </a:extLst>
          </p:cNvPr>
          <p:cNvSpPr txBox="1"/>
          <p:nvPr/>
        </p:nvSpPr>
        <p:spPr>
          <a:xfrm>
            <a:off x="1042061" y="2409802"/>
            <a:ext cx="10515598" cy="120032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accent1"/>
                </a:solidFill>
                <a:latin typeface="Courier New" panose="02070309020205020404" pitchFamily="49" charset="0"/>
              </a:rPr>
              <a:t># 1 row x 5 columns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vector = </a:t>
            </a:r>
            <a:r>
              <a:rPr lang="en-CA" sz="2400" dirty="0" err="1">
                <a:solidFill>
                  <a:schemeClr val="bg1"/>
                </a:solidFill>
                <a:latin typeface="Courier New" panose="02070309020205020404" pitchFamily="49" charset="0"/>
              </a:rPr>
              <a:t>np.array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([1, 2, 3, 4, 5])</a:t>
            </a:r>
          </a:p>
          <a:p>
            <a:pPr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vector.ndim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1,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vector.shape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(5,1),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vector.size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5 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D613FA3-0C71-3D50-5C67-956AFEA392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7672369"/>
              </p:ext>
            </p:extLst>
          </p:nvPr>
        </p:nvGraphicFramePr>
        <p:xfrm>
          <a:off x="8646555" y="2583635"/>
          <a:ext cx="2314370" cy="426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874">
                  <a:extLst>
                    <a:ext uri="{9D8B030D-6E8A-4147-A177-3AD203B41FA5}">
                      <a16:colId xmlns:a16="http://schemas.microsoft.com/office/drawing/2014/main" val="730551547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4285457210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3428100711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921627255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2255004614"/>
                    </a:ext>
                  </a:extLst>
                </a:gridCol>
              </a:tblGrid>
              <a:tr h="42633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886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7298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525EE2-827D-A3D1-42A3-761C97404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81BEF4B1-9D63-2CFD-D861-11D99403BEC3}"/>
              </a:ext>
            </a:extLst>
          </p:cNvPr>
          <p:cNvSpPr txBox="1"/>
          <p:nvPr/>
        </p:nvSpPr>
        <p:spPr>
          <a:xfrm>
            <a:off x="1042061" y="1595021"/>
            <a:ext cx="10785762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Sometimes we know the size of the array but not the values yet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NumPy arrays have a fixed size, so we often initialize first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We can use 0s as a placeholder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CA" sz="2400" dirty="0">
              <a:solidFill>
                <a:prstClr val="black"/>
              </a:solidFill>
              <a:latin typeface="Aptos" panose="02110004020202020204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CA" sz="2400" dirty="0">
              <a:solidFill>
                <a:prstClr val="black"/>
              </a:solidFill>
              <a:latin typeface="Aptos" panose="02110004020202020204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CA" sz="2400" dirty="0">
              <a:solidFill>
                <a:prstClr val="black"/>
              </a:solidFill>
              <a:latin typeface="Aptos" panose="02110004020202020204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Or 1s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5F86ED-F913-E323-6A28-E0361FE85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Placeholder Arrays in NumPy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8B4EC0-5E97-7864-4A14-775096E96E64}"/>
              </a:ext>
            </a:extLst>
          </p:cNvPr>
          <p:cNvSpPr txBox="1"/>
          <p:nvPr/>
        </p:nvSpPr>
        <p:spPr>
          <a:xfrm>
            <a:off x="1349839" y="2920584"/>
            <a:ext cx="9800100" cy="120032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accent1"/>
                </a:solidFill>
                <a:latin typeface="Courier New" panose="02070309020205020404" pitchFamily="49" charset="0"/>
              </a:rPr>
              <a:t># NumPy array of zeros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 err="1">
                <a:solidFill>
                  <a:schemeClr val="bg1"/>
                </a:solidFill>
                <a:latin typeface="Courier New" panose="02070309020205020404" pitchFamily="49" charset="0"/>
              </a:rPr>
              <a:t>np.zeros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((2,3))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2400" dirty="0">
              <a:solidFill>
                <a:schemeClr val="bg1"/>
              </a:solidFill>
              <a:latin typeface="Courier New" panose="020703090202050204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E7B835E-7272-7E6F-5FE7-6132974EC3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448982"/>
              </p:ext>
            </p:extLst>
          </p:nvPr>
        </p:nvGraphicFramePr>
        <p:xfrm>
          <a:off x="5924136" y="3061516"/>
          <a:ext cx="1388622" cy="852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874">
                  <a:extLst>
                    <a:ext uri="{9D8B030D-6E8A-4147-A177-3AD203B41FA5}">
                      <a16:colId xmlns:a16="http://schemas.microsoft.com/office/drawing/2014/main" val="730551547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4285457210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3428100711"/>
                    </a:ext>
                  </a:extLst>
                </a:gridCol>
              </a:tblGrid>
              <a:tr h="42633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88638"/>
                  </a:ext>
                </a:extLst>
              </a:tr>
              <a:tr h="426331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87773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CB51239-DB69-F6D3-D41C-E467C2746F62}"/>
              </a:ext>
            </a:extLst>
          </p:cNvPr>
          <p:cNvSpPr txBox="1"/>
          <p:nvPr/>
        </p:nvSpPr>
        <p:spPr>
          <a:xfrm>
            <a:off x="1349839" y="5044288"/>
            <a:ext cx="9800100" cy="120032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accent1"/>
                </a:solidFill>
                <a:latin typeface="Courier New" panose="02070309020205020404" pitchFamily="49" charset="0"/>
              </a:rPr>
              <a:t># NumPy array of ones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 err="1">
                <a:solidFill>
                  <a:schemeClr val="bg1"/>
                </a:solidFill>
                <a:latin typeface="Courier New" panose="02070309020205020404" pitchFamily="49" charset="0"/>
              </a:rPr>
              <a:t>np.ones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((2,3))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2400" dirty="0">
              <a:solidFill>
                <a:schemeClr val="bg1"/>
              </a:solidFill>
              <a:latin typeface="Courier New" panose="02070309020205020404" pitchFamily="49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962B1F7-AC00-FC95-E558-6C033E39C2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4971157"/>
              </p:ext>
            </p:extLst>
          </p:nvPr>
        </p:nvGraphicFramePr>
        <p:xfrm>
          <a:off x="5947425" y="5237074"/>
          <a:ext cx="1388622" cy="852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874">
                  <a:extLst>
                    <a:ext uri="{9D8B030D-6E8A-4147-A177-3AD203B41FA5}">
                      <a16:colId xmlns:a16="http://schemas.microsoft.com/office/drawing/2014/main" val="730551547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4285457210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3428100711"/>
                    </a:ext>
                  </a:extLst>
                </a:gridCol>
              </a:tblGrid>
              <a:tr h="42633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88638"/>
                  </a:ext>
                </a:extLst>
              </a:tr>
              <a:tr h="426331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877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0293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158C91-5129-E09F-DE82-C1ABA1D82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950D469F-F868-4F66-E1F2-D0CEF0085FF7}"/>
              </a:ext>
            </a:extLst>
          </p:cNvPr>
          <p:cNvSpPr txBox="1"/>
          <p:nvPr/>
        </p:nvSpPr>
        <p:spPr>
          <a:xfrm>
            <a:off x="1042061" y="1595021"/>
            <a:ext cx="10785762" cy="7109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We can also create a sequence of numbers using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arange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CA" sz="2400" dirty="0">
              <a:solidFill>
                <a:prstClr val="black"/>
              </a:solidFill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CA" sz="2400" dirty="0">
              <a:solidFill>
                <a:prstClr val="black"/>
              </a:solidFill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CA" sz="2400" dirty="0">
              <a:solidFill>
                <a:prstClr val="black"/>
              </a:solidFill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Courier New" panose="02070309020205020404" pitchFamily="49" charset="0"/>
              </a:rPr>
              <a:t>Or generating random numbers through functions like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random.randint</a:t>
            </a: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557AA3-F40F-7124-7285-B4FEE0C5A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Specific Number Arrays in NumPy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97CB81-911A-578F-331D-C5B81CA78318}"/>
              </a:ext>
            </a:extLst>
          </p:cNvPr>
          <p:cNvSpPr txBox="1"/>
          <p:nvPr/>
        </p:nvSpPr>
        <p:spPr>
          <a:xfrm>
            <a:off x="1349839" y="2191125"/>
            <a:ext cx="9800100" cy="120032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NumPy array from 1 until 10 in steps of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np.arange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(1,10,2)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EE10CF9-875E-897B-3311-117B552CC9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853240"/>
              </p:ext>
            </p:extLst>
          </p:nvPr>
        </p:nvGraphicFramePr>
        <p:xfrm>
          <a:off x="5867729" y="2707418"/>
          <a:ext cx="2314370" cy="426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874">
                  <a:extLst>
                    <a:ext uri="{9D8B030D-6E8A-4147-A177-3AD203B41FA5}">
                      <a16:colId xmlns:a16="http://schemas.microsoft.com/office/drawing/2014/main" val="730551547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4285457210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3428100711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921627255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2255004614"/>
                    </a:ext>
                  </a:extLst>
                </a:gridCol>
              </a:tblGrid>
              <a:tr h="42633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8863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8103725-4D2F-09BC-236F-08E673F5398D}"/>
              </a:ext>
            </a:extLst>
          </p:cNvPr>
          <p:cNvSpPr txBox="1"/>
          <p:nvPr/>
        </p:nvSpPr>
        <p:spPr>
          <a:xfrm>
            <a:off x="4595751" y="3330135"/>
            <a:ext cx="6758049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</a:rPr>
              <a:t>Tip:</a:t>
            </a:r>
            <a:r>
              <a:rPr lang="en-CA" sz="2400" dirty="0">
                <a:solidFill>
                  <a:schemeClr val="bg1"/>
                </a:solidFill>
              </a:rPr>
              <a:t> arrange(start, stop, step)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0CC372-A2D2-5FA7-1652-2AE08C8AD8DB}"/>
              </a:ext>
            </a:extLst>
          </p:cNvPr>
          <p:cNvSpPr txBox="1"/>
          <p:nvPr/>
        </p:nvSpPr>
        <p:spPr>
          <a:xfrm>
            <a:off x="1349839" y="4339147"/>
            <a:ext cx="9800100" cy="120032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NumPy array of 5 random integers between 1 and 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np.random.randint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(1,10,5)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40A1618-76AB-161A-19E7-EAC31E844F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618720"/>
              </p:ext>
            </p:extLst>
          </p:nvPr>
        </p:nvGraphicFramePr>
        <p:xfrm>
          <a:off x="6096000" y="4939311"/>
          <a:ext cx="2314370" cy="426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874">
                  <a:extLst>
                    <a:ext uri="{9D8B030D-6E8A-4147-A177-3AD203B41FA5}">
                      <a16:colId xmlns:a16="http://schemas.microsoft.com/office/drawing/2014/main" val="730551547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4285457210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3428100711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921627255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2255004614"/>
                    </a:ext>
                  </a:extLst>
                </a:gridCol>
              </a:tblGrid>
              <a:tr h="42633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8863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0F057176-37B3-7D90-8090-E950913B848E}"/>
              </a:ext>
            </a:extLst>
          </p:cNvPr>
          <p:cNvSpPr txBox="1"/>
          <p:nvPr/>
        </p:nvSpPr>
        <p:spPr>
          <a:xfrm>
            <a:off x="4595751" y="5431247"/>
            <a:ext cx="6758049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</a:rPr>
              <a:t>Tip:</a:t>
            </a:r>
            <a:r>
              <a:rPr lang="en-CA" sz="2400" dirty="0">
                <a:solidFill>
                  <a:schemeClr val="bg1"/>
                </a:solidFill>
              </a:rPr>
              <a:t> random functions → generate unpredictable numbers. We use </a:t>
            </a:r>
            <a:r>
              <a:rPr lang="en-CA" sz="2400" dirty="0" err="1">
                <a:solidFill>
                  <a:schemeClr val="bg1"/>
                </a:solidFill>
              </a:rPr>
              <a:t>numpy’s</a:t>
            </a:r>
            <a:r>
              <a:rPr lang="en-CA" sz="2400" dirty="0">
                <a:solidFill>
                  <a:schemeClr val="bg1"/>
                </a:solidFill>
              </a:rPr>
              <a:t> random seed function to create a reproducible random example</a:t>
            </a:r>
          </a:p>
        </p:txBody>
      </p:sp>
    </p:spTree>
    <p:extLst>
      <p:ext uri="{BB962C8B-B14F-4D97-AF65-F5344CB8AC3E}">
        <p14:creationId xmlns:p14="http://schemas.microsoft.com/office/powerpoint/2010/main" val="1091584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6A5202-E19F-A562-2596-084A5F7DC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97AD80A3-B29E-0A97-7E9C-5BC4D1EDD6F7}"/>
              </a:ext>
            </a:extLst>
          </p:cNvPr>
          <p:cNvSpPr txBox="1"/>
          <p:nvPr/>
        </p:nvSpPr>
        <p:spPr>
          <a:xfrm>
            <a:off x="1042061" y="1595021"/>
            <a:ext cx="10785762" cy="7109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We can repeat values and arrays to create bigger ones using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repeat()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Courier New" panose="02070309020205020404" pitchFamily="49" charset="0"/>
              </a:rPr>
              <a:t>tile repeats the whole input array for a specified number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177953-24F0-1791-D96D-0E6479655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Repeat Arrays in NumPy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74C462-B829-9D82-0F57-4D556FF839E9}"/>
              </a:ext>
            </a:extLst>
          </p:cNvPr>
          <p:cNvSpPr txBox="1"/>
          <p:nvPr/>
        </p:nvSpPr>
        <p:spPr>
          <a:xfrm>
            <a:off x="1349839" y="2191125"/>
            <a:ext cx="9800100" cy="120032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NumPy array of 10 repeated 5 times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np.repeat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(10,5)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68F0AFB-2175-1073-5ABD-65153C1A6F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000168"/>
              </p:ext>
            </p:extLst>
          </p:nvPr>
        </p:nvGraphicFramePr>
        <p:xfrm>
          <a:off x="5867729" y="2707418"/>
          <a:ext cx="2314370" cy="426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874">
                  <a:extLst>
                    <a:ext uri="{9D8B030D-6E8A-4147-A177-3AD203B41FA5}">
                      <a16:colId xmlns:a16="http://schemas.microsoft.com/office/drawing/2014/main" val="730551547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4285457210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3428100711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921627255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2255004614"/>
                    </a:ext>
                  </a:extLst>
                </a:gridCol>
              </a:tblGrid>
              <a:tr h="42633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8863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C801BB3-554A-27DD-2CE4-772CF9957AC2}"/>
              </a:ext>
            </a:extLst>
          </p:cNvPr>
          <p:cNvSpPr txBox="1"/>
          <p:nvPr/>
        </p:nvSpPr>
        <p:spPr>
          <a:xfrm>
            <a:off x="4595751" y="3330135"/>
            <a:ext cx="6758049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Tip: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np.repeat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(number to repeat, iterations)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0278F6-E125-B0DC-E359-A8CA189DCD92}"/>
              </a:ext>
            </a:extLst>
          </p:cNvPr>
          <p:cNvSpPr txBox="1"/>
          <p:nvPr/>
        </p:nvSpPr>
        <p:spPr>
          <a:xfrm>
            <a:off x="1349839" y="4339147"/>
            <a:ext cx="9800100" cy="120032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NumPy array repeated x times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np.tile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(vector, 2)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3AA71D6-0350-86BD-DD48-16E0FD234B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8805088"/>
              </p:ext>
            </p:extLst>
          </p:nvPr>
        </p:nvGraphicFramePr>
        <p:xfrm>
          <a:off x="5911933" y="4930810"/>
          <a:ext cx="2314370" cy="426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874">
                  <a:extLst>
                    <a:ext uri="{9D8B030D-6E8A-4147-A177-3AD203B41FA5}">
                      <a16:colId xmlns:a16="http://schemas.microsoft.com/office/drawing/2014/main" val="730551547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4285457210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3428100711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921627255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2255004614"/>
                    </a:ext>
                  </a:extLst>
                </a:gridCol>
              </a:tblGrid>
              <a:tr h="42633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8863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6F48917-15B0-ADE2-AFFD-0BCF8CCF5A13}"/>
              </a:ext>
            </a:extLst>
          </p:cNvPr>
          <p:cNvSpPr txBox="1"/>
          <p:nvPr/>
        </p:nvSpPr>
        <p:spPr>
          <a:xfrm>
            <a:off x="4595751" y="5431247"/>
            <a:ext cx="6758049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Tip: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np.tile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(array, reps)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CC2EA9-E828-E730-A9BF-B29E4C03C2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5107915"/>
              </p:ext>
            </p:extLst>
          </p:nvPr>
        </p:nvGraphicFramePr>
        <p:xfrm>
          <a:off x="8226303" y="4929988"/>
          <a:ext cx="2314370" cy="426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874">
                  <a:extLst>
                    <a:ext uri="{9D8B030D-6E8A-4147-A177-3AD203B41FA5}">
                      <a16:colId xmlns:a16="http://schemas.microsoft.com/office/drawing/2014/main" val="4260308261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3449372708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1972649190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1990521770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2017674500"/>
                    </a:ext>
                  </a:extLst>
                </a:gridCol>
              </a:tblGrid>
              <a:tr h="42633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5954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2416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D5CC95-BB3A-9A8E-7458-6C4B97F96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D4EBBB8B-BB66-09D7-0107-C56DE853BF1A}"/>
              </a:ext>
            </a:extLst>
          </p:cNvPr>
          <p:cNvSpPr txBox="1"/>
          <p:nvPr/>
        </p:nvSpPr>
        <p:spPr>
          <a:xfrm>
            <a:off x="1042061" y="1595021"/>
            <a:ext cx="1078576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Simulating Data with NumPy</a:t>
            </a:r>
          </a:p>
          <a:p>
            <a:pPr marL="800100" lvl="1" indent="-342900">
              <a:buFont typeface="Courier New" panose="02070309020205020404" pitchFamily="49" charset="0"/>
              <a:buChar char="o"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Useful for testing analyses or models</a:t>
            </a:r>
          </a:p>
          <a:p>
            <a:pPr marL="800100" lvl="1" indent="-342900">
              <a:buFont typeface="Courier New" panose="02070309020205020404" pitchFamily="49" charset="0"/>
              <a:buChar char="o"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NumPy supports drawing random samples from various distributions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Courier New" panose="02070309020205020404" pitchFamily="49" charset="0"/>
              </a:rPr>
              <a:t>Example, creating a random number generator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endParaRPr lang="en-CA" sz="2400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endParaRPr lang="en-CA" sz="2400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Courier New" panose="02070309020205020404" pitchFamily="49" charset="0"/>
              </a:rPr>
              <a:t>From this, you can specify the distribution you want to sample from</a:t>
            </a:r>
          </a:p>
          <a:p>
            <a:pPr marL="800100" lvl="1" indent="-342900">
              <a:buFont typeface="Courier New" panose="02070309020205020404" pitchFamily="49" charset="0"/>
              <a:buChar char="o"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800100" lvl="1" indent="-342900">
              <a:buFont typeface="Courier New" panose="02070309020205020404" pitchFamily="49" charset="0"/>
              <a:buChar char="o"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6DE1A9-4B82-FFFF-50F4-DCAA0F57C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Simulating data in NumPy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5EDD7A-8E7A-2B7C-157A-5F7E0BE95F5F}"/>
              </a:ext>
            </a:extLst>
          </p:cNvPr>
          <p:cNvSpPr txBox="1"/>
          <p:nvPr/>
        </p:nvSpPr>
        <p:spPr>
          <a:xfrm>
            <a:off x="1349839" y="3615970"/>
            <a:ext cx="9800100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Create a Generator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rng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np.random.default_rng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00A01E-5D69-08D0-4FA7-D128FFCF5E87}"/>
              </a:ext>
            </a:extLst>
          </p:cNvPr>
          <p:cNvSpPr txBox="1"/>
          <p:nvPr/>
        </p:nvSpPr>
        <p:spPr>
          <a:xfrm>
            <a:off x="1349839" y="5015280"/>
            <a:ext cx="9800100" cy="1569660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10 data points from </a:t>
            </a:r>
            <a:r>
              <a:rPr lang="en-CA" sz="2400" dirty="0">
                <a:solidFill>
                  <a:srgbClr val="196B24"/>
                </a:solidFill>
                <a:latin typeface="Courier New" panose="02070309020205020404" pitchFamily="49" charset="0"/>
              </a:rPr>
              <a:t>no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rmal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distributed data with a mean of 0,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sd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r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ng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.normal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(0,1,10)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accent1"/>
                </a:solidFill>
                <a:latin typeface="Courier New" panose="02070309020205020404" pitchFamily="49" charset="0"/>
              </a:rPr>
              <a:t># can also use uniform distribution, </a:t>
            </a:r>
            <a:r>
              <a:rPr lang="en-CA" sz="2400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poisson</a:t>
            </a:r>
            <a:r>
              <a:rPr lang="en-CA" sz="2400" dirty="0">
                <a:solidFill>
                  <a:schemeClr val="accent1"/>
                </a:solidFill>
                <a:latin typeface="Courier New" panose="02070309020205020404" pitchFamily="49" charset="0"/>
              </a:rPr>
              <a:t> </a:t>
            </a:r>
            <a:r>
              <a:rPr lang="en-CA" sz="2400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etc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pic>
        <p:nvPicPr>
          <p:cNvPr id="12" name="Graphic 11" descr="Normal Distribution outline">
            <a:extLst>
              <a:ext uri="{FF2B5EF4-FFF2-40B4-BE49-F238E27FC236}">
                <a16:creationId xmlns:a16="http://schemas.microsoft.com/office/drawing/2014/main" id="{10A077FD-1A60-4783-03FB-5C05AA2C62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20646" y="5271126"/>
            <a:ext cx="1745673" cy="1745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21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BE35AA-FD7B-7AFD-FC7B-465AC35B6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3F1A1F8F-46EA-73C7-3F0A-6CE8AA57C7CB}"/>
              </a:ext>
            </a:extLst>
          </p:cNvPr>
          <p:cNvSpPr txBox="1"/>
          <p:nvPr/>
        </p:nvSpPr>
        <p:spPr>
          <a:xfrm>
            <a:off x="1042061" y="1595021"/>
            <a:ext cx="1078576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We can change the shape of an array in various ways, while leaving elements the same.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Courier New" panose="02070309020205020404" pitchFamily="49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Courier New" panose="02070309020205020404" pitchFamily="49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Courier New" panose="02070309020205020404" pitchFamily="49" charset="0"/>
              </a:rPr>
              <a:t>We can </a:t>
            </a: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Courier New" panose="02070309020205020404" pitchFamily="49" charset="0"/>
              </a:rPr>
              <a:t>transpose an array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FBC396-24C6-9DCE-01ED-110AAC691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Reshaping arrays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33B6CD-177E-19C2-B425-3112E4925BBB}"/>
              </a:ext>
            </a:extLst>
          </p:cNvPr>
          <p:cNvSpPr txBox="1"/>
          <p:nvPr/>
        </p:nvSpPr>
        <p:spPr>
          <a:xfrm>
            <a:off x="1042060" y="3706549"/>
            <a:ext cx="10515599" cy="2677656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2 rows x 3 columns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matrix =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np.array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([[1, 2, 3],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               [4, 5, 6]])</a:t>
            </a:r>
          </a:p>
          <a:p>
            <a:pPr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3 rows x 2 column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matrix.</a:t>
            </a:r>
            <a:r>
              <a:rPr lang="en-CA" sz="2400" dirty="0">
                <a:solidFill>
                  <a:schemeClr val="accent3"/>
                </a:solidFill>
                <a:latin typeface="Courier New" panose="02070309020205020404" pitchFamily="49" charset="0"/>
              </a:rPr>
              <a:t>T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EF193C7-1A72-6E33-833C-EAFE8849BD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335748"/>
              </p:ext>
            </p:extLst>
          </p:nvPr>
        </p:nvGraphicFramePr>
        <p:xfrm>
          <a:off x="8014193" y="4158679"/>
          <a:ext cx="1388622" cy="852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874">
                  <a:extLst>
                    <a:ext uri="{9D8B030D-6E8A-4147-A177-3AD203B41FA5}">
                      <a16:colId xmlns:a16="http://schemas.microsoft.com/office/drawing/2014/main" val="730551547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4285457210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3428100711"/>
                    </a:ext>
                  </a:extLst>
                </a:gridCol>
              </a:tblGrid>
              <a:tr h="42633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88638"/>
                  </a:ext>
                </a:extLst>
              </a:tr>
              <a:tr h="426331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877739"/>
                  </a:ext>
                </a:extLst>
              </a:tr>
            </a:tbl>
          </a:graphicData>
        </a:graphic>
      </p:graphicFrame>
      <p:sp>
        <p:nvSpPr>
          <p:cNvPr id="5" name="Right Arrow 4">
            <a:extLst>
              <a:ext uri="{FF2B5EF4-FFF2-40B4-BE49-F238E27FC236}">
                <a16:creationId xmlns:a16="http://schemas.microsoft.com/office/drawing/2014/main" id="{D87315D2-C107-ECB0-B107-95F0F7D7A344}"/>
              </a:ext>
            </a:extLst>
          </p:cNvPr>
          <p:cNvSpPr/>
          <p:nvPr/>
        </p:nvSpPr>
        <p:spPr>
          <a:xfrm>
            <a:off x="9690265" y="4393870"/>
            <a:ext cx="890649" cy="403761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1325E84-F3F1-D618-1489-45DD2BBEB2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3291855"/>
              </p:ext>
            </p:extLst>
          </p:nvPr>
        </p:nvGraphicFramePr>
        <p:xfrm>
          <a:off x="10312762" y="4988205"/>
          <a:ext cx="925748" cy="12789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874">
                  <a:extLst>
                    <a:ext uri="{9D8B030D-6E8A-4147-A177-3AD203B41FA5}">
                      <a16:colId xmlns:a16="http://schemas.microsoft.com/office/drawing/2014/main" val="730551547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4285457210"/>
                    </a:ext>
                  </a:extLst>
                </a:gridCol>
              </a:tblGrid>
              <a:tr h="42633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88638"/>
                  </a:ext>
                </a:extLst>
              </a:tr>
              <a:tr h="426331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877739"/>
                  </a:ext>
                </a:extLst>
              </a:tr>
              <a:tr h="426331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44239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04018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08BB12-4A88-7290-B2BA-F1288C0E3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DE50FFBB-E888-F1FB-D3E2-376438DEF819}"/>
              </a:ext>
            </a:extLst>
          </p:cNvPr>
          <p:cNvSpPr txBox="1"/>
          <p:nvPr/>
        </p:nvSpPr>
        <p:spPr>
          <a:xfrm>
            <a:off x="1042061" y="1595021"/>
            <a:ext cx="1078576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We can change the shape of an array in various ways, while leaving elements the same.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Courier New" panose="02070309020205020404" pitchFamily="49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Courier New" panose="02070309020205020404" pitchFamily="49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Courier New" panose="02070309020205020404" pitchFamily="49" charset="0"/>
              </a:rPr>
              <a:t>We can </a:t>
            </a: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Courier New" panose="02070309020205020404" pitchFamily="49" charset="0"/>
              </a:rPr>
              <a:t>change the dimensions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34EB75-DFBA-44DA-A8F7-2DDD1D5A6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Reshaping arrays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07249C-276C-3D9F-EE45-7CD6A342EC8E}"/>
              </a:ext>
            </a:extLst>
          </p:cNvPr>
          <p:cNvSpPr txBox="1"/>
          <p:nvPr/>
        </p:nvSpPr>
        <p:spPr>
          <a:xfrm>
            <a:off x="1042060" y="3706549"/>
            <a:ext cx="10515599" cy="2677656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2 rows x 3 columns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matrix =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np.array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([[1, 2, 3],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               [4, 5, 6]])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6 rows x 1 column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matrix.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reshape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(6,1)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981FABB-157C-8085-31FF-B5B96710BB19}"/>
              </a:ext>
            </a:extLst>
          </p:cNvPr>
          <p:cNvGraphicFramePr>
            <a:graphicFrameLocks noGrp="1"/>
          </p:cNvGraphicFramePr>
          <p:nvPr/>
        </p:nvGraphicFramePr>
        <p:xfrm>
          <a:off x="8014193" y="4158679"/>
          <a:ext cx="1388622" cy="852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874">
                  <a:extLst>
                    <a:ext uri="{9D8B030D-6E8A-4147-A177-3AD203B41FA5}">
                      <a16:colId xmlns:a16="http://schemas.microsoft.com/office/drawing/2014/main" val="730551547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4285457210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3428100711"/>
                    </a:ext>
                  </a:extLst>
                </a:gridCol>
              </a:tblGrid>
              <a:tr h="42633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88638"/>
                  </a:ext>
                </a:extLst>
              </a:tr>
              <a:tr h="426331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87773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7A2A3B2-7B22-6B9B-2EF7-794E33E275E0}"/>
              </a:ext>
            </a:extLst>
          </p:cNvPr>
          <p:cNvGraphicFramePr>
            <a:graphicFrameLocks noGrp="1"/>
          </p:cNvGraphicFramePr>
          <p:nvPr/>
        </p:nvGraphicFramePr>
        <p:xfrm>
          <a:off x="10863349" y="3826219"/>
          <a:ext cx="462874" cy="255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874">
                  <a:extLst>
                    <a:ext uri="{9D8B030D-6E8A-4147-A177-3AD203B41FA5}">
                      <a16:colId xmlns:a16="http://schemas.microsoft.com/office/drawing/2014/main" val="730551547"/>
                    </a:ext>
                  </a:extLst>
                </a:gridCol>
              </a:tblGrid>
              <a:tr h="42633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88638"/>
                  </a:ext>
                </a:extLst>
              </a:tr>
              <a:tr h="426331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877739"/>
                  </a:ext>
                </a:extLst>
              </a:tr>
              <a:tr h="426331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278368"/>
                  </a:ext>
                </a:extLst>
              </a:tr>
              <a:tr h="426331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8086058"/>
                  </a:ext>
                </a:extLst>
              </a:tr>
              <a:tr h="426331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460424"/>
                  </a:ext>
                </a:extLst>
              </a:tr>
              <a:tr h="426331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5019337"/>
                  </a:ext>
                </a:extLst>
              </a:tr>
            </a:tbl>
          </a:graphicData>
        </a:graphic>
      </p:graphicFrame>
      <p:sp>
        <p:nvSpPr>
          <p:cNvPr id="5" name="Right Arrow 4">
            <a:extLst>
              <a:ext uri="{FF2B5EF4-FFF2-40B4-BE49-F238E27FC236}">
                <a16:creationId xmlns:a16="http://schemas.microsoft.com/office/drawing/2014/main" id="{42BDBFA8-B51A-6D18-D180-A35D33FA01E1}"/>
              </a:ext>
            </a:extLst>
          </p:cNvPr>
          <p:cNvSpPr/>
          <p:nvPr/>
        </p:nvSpPr>
        <p:spPr>
          <a:xfrm>
            <a:off x="9690265" y="4393870"/>
            <a:ext cx="890649" cy="403761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33751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854EBB-C95E-E8C2-00BB-D69D8D4AF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431F73D-07D0-9ECD-3442-1D2ABCE198F1}"/>
              </a:ext>
            </a:extLst>
          </p:cNvPr>
          <p:cNvSpPr txBox="1"/>
          <p:nvPr/>
        </p:nvSpPr>
        <p:spPr>
          <a:xfrm>
            <a:off x="1042061" y="1595021"/>
            <a:ext cx="1078576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We can change the shape of an array in various ways, while leaving elements the same.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Courier New" panose="02070309020205020404" pitchFamily="49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Courier New" panose="02070309020205020404" pitchFamily="49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Courier New" panose="02070309020205020404" pitchFamily="49" charset="0"/>
              </a:rPr>
              <a:t>We can </a:t>
            </a: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Courier New" panose="02070309020205020404" pitchFamily="49" charset="0"/>
              </a:rPr>
              <a:t>collapse an array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Courier New" panose="02070309020205020404" pitchFamily="49" charset="0"/>
              </a:rPr>
              <a:t>to one dimension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849686-1FD5-326E-4115-27077EB65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Reshaping arrays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C9C3C4-8282-2E1A-E0F6-519B59B7FB74}"/>
              </a:ext>
            </a:extLst>
          </p:cNvPr>
          <p:cNvSpPr txBox="1"/>
          <p:nvPr/>
        </p:nvSpPr>
        <p:spPr>
          <a:xfrm>
            <a:off x="1042060" y="3706549"/>
            <a:ext cx="10515599" cy="2677656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2 rows x 3 columns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matrix =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np.array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([[1, 2, 3],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               [4, 5, 6]])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1 row x 6 columns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matrix.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flatten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D65D78A-840A-2B10-457F-68D0E9CB503E}"/>
              </a:ext>
            </a:extLst>
          </p:cNvPr>
          <p:cNvGraphicFramePr>
            <a:graphicFrameLocks noGrp="1"/>
          </p:cNvGraphicFramePr>
          <p:nvPr/>
        </p:nvGraphicFramePr>
        <p:xfrm>
          <a:off x="8014193" y="4158679"/>
          <a:ext cx="1388622" cy="852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874">
                  <a:extLst>
                    <a:ext uri="{9D8B030D-6E8A-4147-A177-3AD203B41FA5}">
                      <a16:colId xmlns:a16="http://schemas.microsoft.com/office/drawing/2014/main" val="730551547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4285457210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3428100711"/>
                    </a:ext>
                  </a:extLst>
                </a:gridCol>
              </a:tblGrid>
              <a:tr h="42633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88638"/>
                  </a:ext>
                </a:extLst>
              </a:tr>
              <a:tr h="426331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877739"/>
                  </a:ext>
                </a:extLst>
              </a:tr>
            </a:tbl>
          </a:graphicData>
        </a:graphic>
      </p:graphicFrame>
      <p:sp>
        <p:nvSpPr>
          <p:cNvPr id="5" name="Right Arrow 4">
            <a:extLst>
              <a:ext uri="{FF2B5EF4-FFF2-40B4-BE49-F238E27FC236}">
                <a16:creationId xmlns:a16="http://schemas.microsoft.com/office/drawing/2014/main" id="{D727631E-EE0B-4B64-7E23-4FF682802908}"/>
              </a:ext>
            </a:extLst>
          </p:cNvPr>
          <p:cNvSpPr/>
          <p:nvPr/>
        </p:nvSpPr>
        <p:spPr>
          <a:xfrm>
            <a:off x="9690265" y="4393870"/>
            <a:ext cx="890649" cy="403761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5221E83-CD71-AEBA-DF65-710E3881EC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3383292"/>
              </p:ext>
            </p:extLst>
          </p:nvPr>
        </p:nvGraphicFramePr>
        <p:xfrm>
          <a:off x="8014193" y="5329198"/>
          <a:ext cx="2768604" cy="426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1434">
                  <a:extLst>
                    <a:ext uri="{9D8B030D-6E8A-4147-A177-3AD203B41FA5}">
                      <a16:colId xmlns:a16="http://schemas.microsoft.com/office/drawing/2014/main" val="730551547"/>
                    </a:ext>
                  </a:extLst>
                </a:gridCol>
                <a:gridCol w="461434">
                  <a:extLst>
                    <a:ext uri="{9D8B030D-6E8A-4147-A177-3AD203B41FA5}">
                      <a16:colId xmlns:a16="http://schemas.microsoft.com/office/drawing/2014/main" val="4285457210"/>
                    </a:ext>
                  </a:extLst>
                </a:gridCol>
                <a:gridCol w="461434">
                  <a:extLst>
                    <a:ext uri="{9D8B030D-6E8A-4147-A177-3AD203B41FA5}">
                      <a16:colId xmlns:a16="http://schemas.microsoft.com/office/drawing/2014/main" val="3428100711"/>
                    </a:ext>
                  </a:extLst>
                </a:gridCol>
                <a:gridCol w="461434">
                  <a:extLst>
                    <a:ext uri="{9D8B030D-6E8A-4147-A177-3AD203B41FA5}">
                      <a16:colId xmlns:a16="http://schemas.microsoft.com/office/drawing/2014/main" val="3997440042"/>
                    </a:ext>
                  </a:extLst>
                </a:gridCol>
                <a:gridCol w="461434">
                  <a:extLst>
                    <a:ext uri="{9D8B030D-6E8A-4147-A177-3AD203B41FA5}">
                      <a16:colId xmlns:a16="http://schemas.microsoft.com/office/drawing/2014/main" val="2315262072"/>
                    </a:ext>
                  </a:extLst>
                </a:gridCol>
                <a:gridCol w="461434">
                  <a:extLst>
                    <a:ext uri="{9D8B030D-6E8A-4147-A177-3AD203B41FA5}">
                      <a16:colId xmlns:a16="http://schemas.microsoft.com/office/drawing/2014/main" val="4056686014"/>
                    </a:ext>
                  </a:extLst>
                </a:gridCol>
              </a:tblGrid>
              <a:tr h="42633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886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83194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72B942-CA32-2FE7-1734-E714C9AE9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C6AEFBF7-49D5-62C8-C446-796C87CA0D46}"/>
              </a:ext>
            </a:extLst>
          </p:cNvPr>
          <p:cNvSpPr txBox="1"/>
          <p:nvPr/>
        </p:nvSpPr>
        <p:spPr>
          <a:xfrm>
            <a:off x="1042061" y="1595021"/>
            <a:ext cx="1078576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We can change the shape of an array in various ways, while leaving elements the same.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Courier New" panose="02070309020205020404" pitchFamily="49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Courier New" panose="02070309020205020404" pitchFamily="49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Courier New" panose="02070309020205020404" pitchFamily="49" charset="0"/>
              </a:rPr>
              <a:t>If two arrays share the same size along an axis, we can </a:t>
            </a: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Courier New" panose="02070309020205020404" pitchFamily="49" charset="0"/>
              </a:rPr>
              <a:t>stack them either horizontally or vertically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9DB9B-42BF-9E62-EB4D-BD923F87B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Reshaping arrays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235B7E-AF39-104A-A57F-D21CF9BAFB65}"/>
              </a:ext>
            </a:extLst>
          </p:cNvPr>
          <p:cNvSpPr txBox="1"/>
          <p:nvPr/>
        </p:nvSpPr>
        <p:spPr>
          <a:xfrm>
            <a:off x="1042060" y="3706549"/>
            <a:ext cx="11015550" cy="2677656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matrix1 =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np.array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([[1, 2, 3],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               [4, 5, 6]])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2400" dirty="0">
              <a:solidFill>
                <a:schemeClr val="bg1"/>
              </a:solidFill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matrix2 =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np.array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([[7, 8, 9],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               [10,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11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12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]])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 err="1">
                <a:solidFill>
                  <a:schemeClr val="bg1"/>
                </a:solidFill>
                <a:latin typeface="Courier New" panose="02070309020205020404" pitchFamily="49" charset="0"/>
              </a:rPr>
              <a:t>np.</a:t>
            </a:r>
            <a:r>
              <a:rPr lang="en-CA" sz="2400" b="1" dirty="0" err="1">
                <a:solidFill>
                  <a:schemeClr val="bg1"/>
                </a:solidFill>
                <a:latin typeface="Courier New" panose="02070309020205020404" pitchFamily="49" charset="0"/>
              </a:rPr>
              <a:t>vstack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((matrix1,matrix2))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#vertical stack</a:t>
            </a:r>
            <a:endParaRPr lang="en-CA" sz="2400" dirty="0">
              <a:solidFill>
                <a:schemeClr val="bg1"/>
              </a:solidFill>
              <a:latin typeface="Courier New" panose="020703090202050204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4A5976F-C4F2-0A91-3616-C969E67086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1896420"/>
              </p:ext>
            </p:extLst>
          </p:nvPr>
        </p:nvGraphicFramePr>
        <p:xfrm>
          <a:off x="6773882" y="3802216"/>
          <a:ext cx="1388622" cy="852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874">
                  <a:extLst>
                    <a:ext uri="{9D8B030D-6E8A-4147-A177-3AD203B41FA5}">
                      <a16:colId xmlns:a16="http://schemas.microsoft.com/office/drawing/2014/main" val="730551547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4285457210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3428100711"/>
                    </a:ext>
                  </a:extLst>
                </a:gridCol>
              </a:tblGrid>
              <a:tr h="42633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88638"/>
                  </a:ext>
                </a:extLst>
              </a:tr>
              <a:tr h="426331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87773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3A1DA21-8482-9A15-E6B9-EDFF6ADFBF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1033245"/>
              </p:ext>
            </p:extLst>
          </p:nvPr>
        </p:nvGraphicFramePr>
        <p:xfrm>
          <a:off x="7242164" y="4750545"/>
          <a:ext cx="1388622" cy="852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874">
                  <a:extLst>
                    <a:ext uri="{9D8B030D-6E8A-4147-A177-3AD203B41FA5}">
                      <a16:colId xmlns:a16="http://schemas.microsoft.com/office/drawing/2014/main" val="730551547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4285457210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3428100711"/>
                    </a:ext>
                  </a:extLst>
                </a:gridCol>
              </a:tblGrid>
              <a:tr h="42633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88638"/>
                  </a:ext>
                </a:extLst>
              </a:tr>
              <a:tr h="426331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877739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1AB2974-8641-AB22-AD97-5AB40CF264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0004610"/>
              </p:ext>
            </p:extLst>
          </p:nvPr>
        </p:nvGraphicFramePr>
        <p:xfrm>
          <a:off x="9281158" y="4192715"/>
          <a:ext cx="1388622" cy="852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874">
                  <a:extLst>
                    <a:ext uri="{9D8B030D-6E8A-4147-A177-3AD203B41FA5}">
                      <a16:colId xmlns:a16="http://schemas.microsoft.com/office/drawing/2014/main" val="730551547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4285457210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3428100711"/>
                    </a:ext>
                  </a:extLst>
                </a:gridCol>
              </a:tblGrid>
              <a:tr h="42633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88638"/>
                  </a:ext>
                </a:extLst>
              </a:tr>
              <a:tr h="426331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877739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B5B609C-170C-6B53-0158-B8BAC9939D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2957519"/>
              </p:ext>
            </p:extLst>
          </p:nvPr>
        </p:nvGraphicFramePr>
        <p:xfrm>
          <a:off x="9281158" y="5045377"/>
          <a:ext cx="1388622" cy="852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874">
                  <a:extLst>
                    <a:ext uri="{9D8B030D-6E8A-4147-A177-3AD203B41FA5}">
                      <a16:colId xmlns:a16="http://schemas.microsoft.com/office/drawing/2014/main" val="730551547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4285457210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3428100711"/>
                    </a:ext>
                  </a:extLst>
                </a:gridCol>
              </a:tblGrid>
              <a:tr h="426331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7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88638"/>
                  </a:ext>
                </a:extLst>
              </a:tr>
              <a:tr h="426331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bg1"/>
                          </a:solidFill>
                        </a:rPr>
                        <a:t>10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bg1"/>
                          </a:solidFill>
                        </a:rPr>
                        <a:t>11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877739"/>
                  </a:ext>
                </a:extLst>
              </a:tr>
            </a:tbl>
          </a:graphicData>
        </a:graphic>
      </p:graphicFrame>
      <p:sp>
        <p:nvSpPr>
          <p:cNvPr id="14" name="Right Arrow 13">
            <a:extLst>
              <a:ext uri="{FF2B5EF4-FFF2-40B4-BE49-F238E27FC236}">
                <a16:creationId xmlns:a16="http://schemas.microsoft.com/office/drawing/2014/main" id="{D24DAB31-E9F2-6330-5327-2EA96B1F1F18}"/>
              </a:ext>
            </a:extLst>
          </p:cNvPr>
          <p:cNvSpPr/>
          <p:nvPr/>
        </p:nvSpPr>
        <p:spPr>
          <a:xfrm>
            <a:off x="8288578" y="4298950"/>
            <a:ext cx="890649" cy="403761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9287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DD0922-112D-8706-3275-F30A2CEE7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579A9EE-A248-90B4-1061-D65677ED7DE2}"/>
              </a:ext>
            </a:extLst>
          </p:cNvPr>
          <p:cNvSpPr txBox="1"/>
          <p:nvPr/>
        </p:nvSpPr>
        <p:spPr>
          <a:xfrm>
            <a:off x="1042061" y="1595021"/>
            <a:ext cx="1078576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We can change the shape of an array in various ways, while leaving elements the same.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Courier New" panose="02070309020205020404" pitchFamily="49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Courier New" panose="02070309020205020404" pitchFamily="49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Courier New" panose="02070309020205020404" pitchFamily="49" charset="0"/>
              </a:rPr>
              <a:t>If two arrays share the same size along an axis, we can </a:t>
            </a: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Courier New" panose="02070309020205020404" pitchFamily="49" charset="0"/>
              </a:rPr>
              <a:t>stack them either horizontally or vertically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62B7D2-CDA0-A001-CD1E-7FEFF66FC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Reshaping arrays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B50B9B-2038-A4CF-AE25-B641BF19B8BE}"/>
              </a:ext>
            </a:extLst>
          </p:cNvPr>
          <p:cNvSpPr txBox="1"/>
          <p:nvPr/>
        </p:nvSpPr>
        <p:spPr>
          <a:xfrm>
            <a:off x="1042060" y="3706549"/>
            <a:ext cx="11015550" cy="2677656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matrix1 =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np.array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([[1, 2, 3],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               [4, 5, 6]])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matrix2 =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np.array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([[7, 8, 9],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               [10, 11, 12]])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np.</a:t>
            </a:r>
            <a:r>
              <a:rPr kumimoji="0" lang="en-CA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hstack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((matrix1,matrix2))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#horizontal stack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4F322D3-2CB8-751E-3969-E13E4DC41A85}"/>
              </a:ext>
            </a:extLst>
          </p:cNvPr>
          <p:cNvGraphicFramePr>
            <a:graphicFrameLocks noGrp="1"/>
          </p:cNvGraphicFramePr>
          <p:nvPr/>
        </p:nvGraphicFramePr>
        <p:xfrm>
          <a:off x="6773882" y="3802216"/>
          <a:ext cx="1388622" cy="852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874">
                  <a:extLst>
                    <a:ext uri="{9D8B030D-6E8A-4147-A177-3AD203B41FA5}">
                      <a16:colId xmlns:a16="http://schemas.microsoft.com/office/drawing/2014/main" val="730551547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4285457210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3428100711"/>
                    </a:ext>
                  </a:extLst>
                </a:gridCol>
              </a:tblGrid>
              <a:tr h="42633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88638"/>
                  </a:ext>
                </a:extLst>
              </a:tr>
              <a:tr h="426331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87773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40085D2-FF29-179D-CC89-5330F991483F}"/>
              </a:ext>
            </a:extLst>
          </p:cNvPr>
          <p:cNvGraphicFramePr>
            <a:graphicFrameLocks noGrp="1"/>
          </p:cNvGraphicFramePr>
          <p:nvPr/>
        </p:nvGraphicFramePr>
        <p:xfrm>
          <a:off x="7242164" y="4750545"/>
          <a:ext cx="1388622" cy="852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874">
                  <a:extLst>
                    <a:ext uri="{9D8B030D-6E8A-4147-A177-3AD203B41FA5}">
                      <a16:colId xmlns:a16="http://schemas.microsoft.com/office/drawing/2014/main" val="730551547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4285457210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3428100711"/>
                    </a:ext>
                  </a:extLst>
                </a:gridCol>
              </a:tblGrid>
              <a:tr h="42633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88638"/>
                  </a:ext>
                </a:extLst>
              </a:tr>
              <a:tr h="426331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877739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5DBE243-21F5-9FCB-0872-1EB8455DE193}"/>
              </a:ext>
            </a:extLst>
          </p:cNvPr>
          <p:cNvGraphicFramePr>
            <a:graphicFrameLocks noGrp="1"/>
          </p:cNvGraphicFramePr>
          <p:nvPr/>
        </p:nvGraphicFramePr>
        <p:xfrm>
          <a:off x="9281158" y="4192715"/>
          <a:ext cx="1388622" cy="852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874">
                  <a:extLst>
                    <a:ext uri="{9D8B030D-6E8A-4147-A177-3AD203B41FA5}">
                      <a16:colId xmlns:a16="http://schemas.microsoft.com/office/drawing/2014/main" val="730551547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4285457210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3428100711"/>
                    </a:ext>
                  </a:extLst>
                </a:gridCol>
              </a:tblGrid>
              <a:tr h="42633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88638"/>
                  </a:ext>
                </a:extLst>
              </a:tr>
              <a:tr h="426331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877739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D24585A-3D94-B421-EAD8-53B2CC26D7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6760715"/>
              </p:ext>
            </p:extLst>
          </p:nvPr>
        </p:nvGraphicFramePr>
        <p:xfrm>
          <a:off x="10669780" y="4192715"/>
          <a:ext cx="1388622" cy="852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874">
                  <a:extLst>
                    <a:ext uri="{9D8B030D-6E8A-4147-A177-3AD203B41FA5}">
                      <a16:colId xmlns:a16="http://schemas.microsoft.com/office/drawing/2014/main" val="730551547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4285457210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3428100711"/>
                    </a:ext>
                  </a:extLst>
                </a:gridCol>
              </a:tblGrid>
              <a:tr h="426331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7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88638"/>
                  </a:ext>
                </a:extLst>
              </a:tr>
              <a:tr h="426331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bg1"/>
                          </a:solidFill>
                        </a:rPr>
                        <a:t>10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877739"/>
                  </a:ext>
                </a:extLst>
              </a:tr>
            </a:tbl>
          </a:graphicData>
        </a:graphic>
      </p:graphicFrame>
      <p:sp>
        <p:nvSpPr>
          <p:cNvPr id="14" name="Right Arrow 13">
            <a:extLst>
              <a:ext uri="{FF2B5EF4-FFF2-40B4-BE49-F238E27FC236}">
                <a16:creationId xmlns:a16="http://schemas.microsoft.com/office/drawing/2014/main" id="{A6095640-F506-08E0-75E3-DE13F0EF3F4C}"/>
              </a:ext>
            </a:extLst>
          </p:cNvPr>
          <p:cNvSpPr/>
          <p:nvPr/>
        </p:nvSpPr>
        <p:spPr>
          <a:xfrm>
            <a:off x="8288578" y="4298950"/>
            <a:ext cx="890649" cy="403761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02763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8BC8C7-E0C7-DA11-D498-D70A5BD04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CEC8D36-F362-E4A1-3CB9-A20342F59F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CA" sz="2400" dirty="0">
                <a:solidFill>
                  <a:schemeClr val="bg1"/>
                </a:solidFill>
                <a:cs typeface="Courier New" panose="02070309020205020404" pitchFamily="49" charset="0"/>
              </a:rPr>
              <a:t>With NumPy, you can apply operations to all values at once</a:t>
            </a:r>
          </a:p>
          <a:p>
            <a:pPr>
              <a:lnSpc>
                <a:spcPct val="150000"/>
              </a:lnSpc>
            </a:pPr>
            <a:endParaRPr lang="en-CA" sz="2400" dirty="0">
              <a:solidFill>
                <a:schemeClr val="bg1"/>
              </a:solidFill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endParaRPr lang="en-CA" sz="2400" dirty="0">
              <a:solidFill>
                <a:schemeClr val="bg1"/>
              </a:solidFill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endParaRPr lang="en-CA" sz="2400" dirty="0">
              <a:solidFill>
                <a:schemeClr val="bg1"/>
              </a:solidFill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cs typeface="Calibri Light" panose="020F0302020204030204" pitchFamily="34" charset="0"/>
              </a:rPr>
              <a:t>Doing this with a list requires a loop.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7222D2-833A-2B8E-CDAB-746FBFBA9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Why NumPy is useful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399F41-1FB5-41DC-57CC-7BB6D7D77920}"/>
              </a:ext>
            </a:extLst>
          </p:cNvPr>
          <p:cNvSpPr txBox="1"/>
          <p:nvPr/>
        </p:nvSpPr>
        <p:spPr>
          <a:xfrm>
            <a:off x="933203" y="2175119"/>
            <a:ext cx="9800100" cy="2308324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NumPy array multiplied by 2</a:t>
            </a:r>
          </a:p>
          <a:p>
            <a:pPr>
              <a:defRPr/>
            </a:pPr>
            <a:r>
              <a:rPr lang="en-CA" sz="2400" dirty="0" err="1">
                <a:solidFill>
                  <a:schemeClr val="bg1"/>
                </a:solidFill>
                <a:latin typeface="Courier New" panose="02070309020205020404" pitchFamily="49" charset="0"/>
              </a:rPr>
              <a:t>numbers_array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 = </a:t>
            </a:r>
            <a:r>
              <a:rPr lang="en-CA" sz="2400" dirty="0" err="1">
                <a:solidFill>
                  <a:schemeClr val="bg1"/>
                </a:solidFill>
                <a:latin typeface="Courier New" panose="02070309020205020404" pitchFamily="49" charset="0"/>
              </a:rPr>
              <a:t>np.array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([1, 2, 3, 4, 5])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196B24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numbers_array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*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array([ 2,  4,  6,  8, 10])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02E4438-C928-F6FE-DCA4-478E8323FA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0320226"/>
              </p:ext>
            </p:extLst>
          </p:nvPr>
        </p:nvGraphicFramePr>
        <p:xfrm>
          <a:off x="7250892" y="3122003"/>
          <a:ext cx="2314370" cy="426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874">
                  <a:extLst>
                    <a:ext uri="{9D8B030D-6E8A-4147-A177-3AD203B41FA5}">
                      <a16:colId xmlns:a16="http://schemas.microsoft.com/office/drawing/2014/main" val="730551547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4285457210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3428100711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921627255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2255004614"/>
                    </a:ext>
                  </a:extLst>
                </a:gridCol>
              </a:tblGrid>
              <a:tr h="42633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8863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DC860A6-3F18-92AE-6E7D-5A91EBA418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4084453"/>
              </p:ext>
            </p:extLst>
          </p:nvPr>
        </p:nvGraphicFramePr>
        <p:xfrm>
          <a:off x="7250892" y="3671973"/>
          <a:ext cx="2314370" cy="426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874">
                  <a:extLst>
                    <a:ext uri="{9D8B030D-6E8A-4147-A177-3AD203B41FA5}">
                      <a16:colId xmlns:a16="http://schemas.microsoft.com/office/drawing/2014/main" val="730551547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4285457210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3428100711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921627255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2255004614"/>
                    </a:ext>
                  </a:extLst>
                </a:gridCol>
              </a:tblGrid>
              <a:tr h="42633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8863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AF11B12-4EC0-5DDE-68D0-0BFA78768745}"/>
              </a:ext>
            </a:extLst>
          </p:cNvPr>
          <p:cNvSpPr txBox="1"/>
          <p:nvPr/>
        </p:nvSpPr>
        <p:spPr>
          <a:xfrm>
            <a:off x="9565262" y="3136318"/>
            <a:ext cx="45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2</a:t>
            </a:r>
          </a:p>
        </p:txBody>
      </p:sp>
    </p:spTree>
    <p:extLst>
      <p:ext uri="{BB962C8B-B14F-4D97-AF65-F5344CB8AC3E}">
        <p14:creationId xmlns:p14="http://schemas.microsoft.com/office/powerpoint/2010/main" val="31890563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4BABF6-656E-B343-BEC5-29D65942C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409A1E2-B5EE-6DC3-69D1-89C1453AB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CA" sz="2400" dirty="0">
                <a:solidFill>
                  <a:schemeClr val="bg1"/>
                </a:solidFill>
                <a:cs typeface="Courier New" panose="02070309020205020404" pitchFamily="49" charset="0"/>
              </a:rPr>
              <a:t>We can also perform operations when arrays are the same length</a:t>
            </a:r>
          </a:p>
          <a:p>
            <a:pPr>
              <a:lnSpc>
                <a:spcPct val="150000"/>
              </a:lnSpc>
            </a:pPr>
            <a:endParaRPr lang="en-CA" sz="2400" dirty="0">
              <a:solidFill>
                <a:schemeClr val="bg1"/>
              </a:solidFill>
              <a:cs typeface="Courier New" panose="02070309020205020404" pitchFamily="49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611B3E-F61A-9FEB-F2F7-753A5F72D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Why NumPy is useful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100F9CA-7005-32CD-68E5-5527B6B90912}"/>
              </a:ext>
            </a:extLst>
          </p:cNvPr>
          <p:cNvGraphicFramePr>
            <a:graphicFrameLocks noGrp="1"/>
          </p:cNvGraphicFramePr>
          <p:nvPr/>
        </p:nvGraphicFramePr>
        <p:xfrm>
          <a:off x="7250892" y="3122003"/>
          <a:ext cx="2314370" cy="426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874">
                  <a:extLst>
                    <a:ext uri="{9D8B030D-6E8A-4147-A177-3AD203B41FA5}">
                      <a16:colId xmlns:a16="http://schemas.microsoft.com/office/drawing/2014/main" val="730551547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4285457210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3428100711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921627255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2255004614"/>
                    </a:ext>
                  </a:extLst>
                </a:gridCol>
              </a:tblGrid>
              <a:tr h="42633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8863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BD4D4C9-89FC-5696-D7DB-7AB5A3B09840}"/>
              </a:ext>
            </a:extLst>
          </p:cNvPr>
          <p:cNvGraphicFramePr>
            <a:graphicFrameLocks noGrp="1"/>
          </p:cNvGraphicFramePr>
          <p:nvPr/>
        </p:nvGraphicFramePr>
        <p:xfrm>
          <a:off x="7250892" y="3671973"/>
          <a:ext cx="2314370" cy="426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874">
                  <a:extLst>
                    <a:ext uri="{9D8B030D-6E8A-4147-A177-3AD203B41FA5}">
                      <a16:colId xmlns:a16="http://schemas.microsoft.com/office/drawing/2014/main" val="730551547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4285457210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3428100711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921627255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2255004614"/>
                    </a:ext>
                  </a:extLst>
                </a:gridCol>
              </a:tblGrid>
              <a:tr h="42633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8863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6FE63BA-801F-8B75-E196-258EB884E6E1}"/>
              </a:ext>
            </a:extLst>
          </p:cNvPr>
          <p:cNvSpPr txBox="1"/>
          <p:nvPr/>
        </p:nvSpPr>
        <p:spPr>
          <a:xfrm>
            <a:off x="9565262" y="3136318"/>
            <a:ext cx="45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x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4A80DA-0563-EFB2-8FA6-C68EDCCF3A3D}"/>
              </a:ext>
            </a:extLst>
          </p:cNvPr>
          <p:cNvSpPr txBox="1"/>
          <p:nvPr/>
        </p:nvSpPr>
        <p:spPr>
          <a:xfrm>
            <a:off x="657558" y="2413085"/>
            <a:ext cx="11015550" cy="2677656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matrix1 =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np.array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([[1, 2, 3],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               [4, 5, 6]])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2400" dirty="0">
              <a:solidFill>
                <a:schemeClr val="bg1"/>
              </a:solidFill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matrix2 =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np.array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([[7, 8, 9],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               [10,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11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12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]])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matrix2 – matrix1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BF2A96B-E3C9-C1FF-F311-FD7CF80853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7207433"/>
              </p:ext>
            </p:extLst>
          </p:nvPr>
        </p:nvGraphicFramePr>
        <p:xfrm>
          <a:off x="6809508" y="2709987"/>
          <a:ext cx="1388622" cy="852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874">
                  <a:extLst>
                    <a:ext uri="{9D8B030D-6E8A-4147-A177-3AD203B41FA5}">
                      <a16:colId xmlns:a16="http://schemas.microsoft.com/office/drawing/2014/main" val="730551547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4285457210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3428100711"/>
                    </a:ext>
                  </a:extLst>
                </a:gridCol>
              </a:tblGrid>
              <a:tr h="42633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88638"/>
                  </a:ext>
                </a:extLst>
              </a:tr>
              <a:tr h="426331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877739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16CCD89-A473-E0B2-0659-260CCC6F4C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5791781"/>
              </p:ext>
            </p:extLst>
          </p:nvPr>
        </p:nvGraphicFramePr>
        <p:xfrm>
          <a:off x="7277790" y="3658316"/>
          <a:ext cx="1388622" cy="852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874">
                  <a:extLst>
                    <a:ext uri="{9D8B030D-6E8A-4147-A177-3AD203B41FA5}">
                      <a16:colId xmlns:a16="http://schemas.microsoft.com/office/drawing/2014/main" val="730551547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4285457210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3428100711"/>
                    </a:ext>
                  </a:extLst>
                </a:gridCol>
              </a:tblGrid>
              <a:tr h="42633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88638"/>
                  </a:ext>
                </a:extLst>
              </a:tr>
              <a:tr h="426331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877739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E49229F-EE5C-2035-A54B-9188709FD7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1685404"/>
              </p:ext>
            </p:extLst>
          </p:nvPr>
        </p:nvGraphicFramePr>
        <p:xfrm>
          <a:off x="9316784" y="3100486"/>
          <a:ext cx="1388622" cy="852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874">
                  <a:extLst>
                    <a:ext uri="{9D8B030D-6E8A-4147-A177-3AD203B41FA5}">
                      <a16:colId xmlns:a16="http://schemas.microsoft.com/office/drawing/2014/main" val="730551547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4285457210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3428100711"/>
                    </a:ext>
                  </a:extLst>
                </a:gridCol>
              </a:tblGrid>
              <a:tr h="42633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88638"/>
                  </a:ext>
                </a:extLst>
              </a:tr>
              <a:tr h="426331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877739"/>
                  </a:ext>
                </a:extLst>
              </a:tr>
            </a:tbl>
          </a:graphicData>
        </a:graphic>
      </p:graphicFrame>
      <p:sp>
        <p:nvSpPr>
          <p:cNvPr id="13" name="Right Arrow 12">
            <a:extLst>
              <a:ext uri="{FF2B5EF4-FFF2-40B4-BE49-F238E27FC236}">
                <a16:creationId xmlns:a16="http://schemas.microsoft.com/office/drawing/2014/main" id="{273CD63C-A2E3-5158-A7BA-CA4E6B56F31B}"/>
              </a:ext>
            </a:extLst>
          </p:cNvPr>
          <p:cNvSpPr/>
          <p:nvPr/>
        </p:nvSpPr>
        <p:spPr>
          <a:xfrm>
            <a:off x="8478982" y="3136318"/>
            <a:ext cx="724395" cy="412016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4020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E89F44-0AC2-6BA8-B9F6-0BA753FEC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7D2A565-F1A8-02A3-4C31-6E4457202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CA" sz="2400" dirty="0">
                <a:solidFill>
                  <a:schemeClr val="bg1"/>
                </a:solidFill>
                <a:cs typeface="Courier New" panose="02070309020205020404" pitchFamily="49" charset="0"/>
              </a:rPr>
              <a:t>We can also summarize values in an array</a:t>
            </a:r>
          </a:p>
          <a:p>
            <a:pPr>
              <a:lnSpc>
                <a:spcPct val="150000"/>
              </a:lnSpc>
            </a:pPr>
            <a:endParaRPr lang="en-CA" sz="2400" dirty="0">
              <a:solidFill>
                <a:schemeClr val="bg1"/>
              </a:solidFill>
              <a:cs typeface="Courier New" panose="02070309020205020404" pitchFamily="49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BDF54C-3DF6-D425-6572-6B1736A0D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Why NumPy is useful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720D62-136B-A490-0FB9-0B7A503EF538}"/>
              </a:ext>
            </a:extLst>
          </p:cNvPr>
          <p:cNvSpPr txBox="1"/>
          <p:nvPr/>
        </p:nvSpPr>
        <p:spPr>
          <a:xfrm>
            <a:off x="838200" y="2536438"/>
            <a:ext cx="11015550" cy="2677656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matrix1 =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np.array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([[1, 2, 3],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               [4, 5, 6]])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m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atrix1.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sum() 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#1 + 2 + 3 + 4 + 5 + 6 = 21 </a:t>
            </a:r>
            <a:endParaRPr lang="en-CA" sz="2400" dirty="0">
              <a:solidFill>
                <a:schemeClr val="accent3"/>
              </a:solidFill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m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atrix1.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max()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#6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m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atrix1.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mean()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1 + 2 + 3 + 4 + 5 + 6 / 6 = 3.5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DCCB388-F71D-A2B0-71D4-3C900E149643}"/>
              </a:ext>
            </a:extLst>
          </p:cNvPr>
          <p:cNvGraphicFramePr>
            <a:graphicFrameLocks noGrp="1"/>
          </p:cNvGraphicFramePr>
          <p:nvPr/>
        </p:nvGraphicFramePr>
        <p:xfrm>
          <a:off x="6809508" y="2709987"/>
          <a:ext cx="1388622" cy="852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874">
                  <a:extLst>
                    <a:ext uri="{9D8B030D-6E8A-4147-A177-3AD203B41FA5}">
                      <a16:colId xmlns:a16="http://schemas.microsoft.com/office/drawing/2014/main" val="730551547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4285457210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3428100711"/>
                    </a:ext>
                  </a:extLst>
                </a:gridCol>
              </a:tblGrid>
              <a:tr h="42633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88638"/>
                  </a:ext>
                </a:extLst>
              </a:tr>
              <a:tr h="426331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877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7464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DC8158-F0AD-0FA9-3524-E6C919AC9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629C3AB-3682-79E2-F5F0-4C8ADE56E4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CA" sz="2400" dirty="0">
                <a:solidFill>
                  <a:schemeClr val="bg1"/>
                </a:solidFill>
                <a:cs typeface="Courier New" panose="02070309020205020404" pitchFamily="49" charset="0"/>
              </a:rPr>
              <a:t>We can be more specific with how we calculate for multidimensional arrays</a:t>
            </a:r>
          </a:p>
          <a:p>
            <a:pPr>
              <a:lnSpc>
                <a:spcPct val="150000"/>
              </a:lnSpc>
            </a:pPr>
            <a:r>
              <a:rPr lang="en-CA" sz="2400" dirty="0">
                <a:solidFill>
                  <a:schemeClr val="bg1"/>
                </a:solidFill>
                <a:cs typeface="Courier New" panose="02070309020205020404" pitchFamily="49" charset="0"/>
              </a:rPr>
              <a:t>We use </a:t>
            </a:r>
            <a:r>
              <a:rPr lang="en-CA" sz="2400" b="1" dirty="0">
                <a:solidFill>
                  <a:schemeClr val="bg1"/>
                </a:solidFill>
                <a:cs typeface="Courier New" panose="02070309020205020404" pitchFamily="49" charset="0"/>
              </a:rPr>
              <a:t>axis</a:t>
            </a:r>
            <a:r>
              <a:rPr lang="en-CA" sz="2400" dirty="0">
                <a:solidFill>
                  <a:schemeClr val="bg1"/>
                </a:solidFill>
                <a:cs typeface="Courier New" panose="02070309020205020404" pitchFamily="49" charset="0"/>
              </a:rPr>
              <a:t> to specify the direction (0 </a:t>
            </a:r>
            <a:r>
              <a:rPr lang="en-CA" sz="2400" dirty="0">
                <a:solidFill>
                  <a:schemeClr val="bg1"/>
                </a:solidFill>
                <a:cs typeface="Courier New" panose="02070309020205020404" pitchFamily="49" charset="0"/>
                <a:sym typeface="Wingdings" pitchFamily="2" charset="2"/>
              </a:rPr>
              <a:t> column-wise, 1 row-wise operations</a:t>
            </a:r>
            <a:r>
              <a:rPr lang="en-CA" sz="2400" dirty="0">
                <a:solidFill>
                  <a:schemeClr val="bg1"/>
                </a:solidFill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endParaRPr lang="en-CA" sz="2400" dirty="0">
              <a:solidFill>
                <a:schemeClr val="bg1"/>
              </a:solidFill>
              <a:cs typeface="Courier New" panose="02070309020205020404" pitchFamily="49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3B9E82-FF54-EFFF-76EB-C31962618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Operations in multiple dimensions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7FD8EF-BDEA-36B6-530D-AF48AC149ADF}"/>
              </a:ext>
            </a:extLst>
          </p:cNvPr>
          <p:cNvSpPr txBox="1"/>
          <p:nvPr/>
        </p:nvSpPr>
        <p:spPr>
          <a:xfrm>
            <a:off x="838200" y="3136318"/>
            <a:ext cx="11015550" cy="2677656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matrix1 =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np.array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([[1, 2, 3],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               [4, 5, 6]])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matrix1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.mean(axis=0)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2400" dirty="0">
              <a:solidFill>
                <a:srgbClr val="156082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matrix1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.mean(axis=1)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83C7C82-E867-8254-503D-F10CBFA80B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605058"/>
              </p:ext>
            </p:extLst>
          </p:nvPr>
        </p:nvGraphicFramePr>
        <p:xfrm>
          <a:off x="8662058" y="3662338"/>
          <a:ext cx="1388622" cy="852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874">
                  <a:extLst>
                    <a:ext uri="{9D8B030D-6E8A-4147-A177-3AD203B41FA5}">
                      <a16:colId xmlns:a16="http://schemas.microsoft.com/office/drawing/2014/main" val="730551547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4285457210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3428100711"/>
                    </a:ext>
                  </a:extLst>
                </a:gridCol>
              </a:tblGrid>
              <a:tr h="42633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88638"/>
                  </a:ext>
                </a:extLst>
              </a:tr>
              <a:tr h="426331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87773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30E7432-F0A5-4F33-4766-3A97AFB3E6A4}"/>
              </a:ext>
            </a:extLst>
          </p:cNvPr>
          <p:cNvSpPr txBox="1"/>
          <p:nvPr/>
        </p:nvSpPr>
        <p:spPr>
          <a:xfrm>
            <a:off x="8662058" y="4521312"/>
            <a:ext cx="1540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2.5    3.5     4.5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2E1EF31-AD40-6642-0180-8FACBB29A1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8786630"/>
              </p:ext>
            </p:extLst>
          </p:nvPr>
        </p:nvGraphicFramePr>
        <p:xfrm>
          <a:off x="8657495" y="4964468"/>
          <a:ext cx="1388622" cy="852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874">
                  <a:extLst>
                    <a:ext uri="{9D8B030D-6E8A-4147-A177-3AD203B41FA5}">
                      <a16:colId xmlns:a16="http://schemas.microsoft.com/office/drawing/2014/main" val="730551547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4285457210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3428100711"/>
                    </a:ext>
                  </a:extLst>
                </a:gridCol>
              </a:tblGrid>
              <a:tr h="42633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88638"/>
                  </a:ext>
                </a:extLst>
              </a:tr>
              <a:tr h="426331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87773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4C460F0-C55E-82AA-7D18-960974634285}"/>
              </a:ext>
            </a:extLst>
          </p:cNvPr>
          <p:cNvSpPr txBox="1"/>
          <p:nvPr/>
        </p:nvSpPr>
        <p:spPr>
          <a:xfrm>
            <a:off x="10085137" y="4982977"/>
            <a:ext cx="308098" cy="8156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</a:t>
            </a:r>
          </a:p>
          <a:p>
            <a:endParaRPr lang="en-US" sz="1100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6204171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44CF1D-D3D3-ECD6-4A2E-D79BF7CCE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9D87D8D-9D53-7B11-5F83-3744C45BA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CA" sz="2400" dirty="0">
                <a:solidFill>
                  <a:schemeClr val="bg1"/>
                </a:solidFill>
                <a:cs typeface="Courier New" panose="02070309020205020404" pitchFamily="49" charset="0"/>
              </a:rPr>
              <a:t>We can index and slice arrays similar to a list</a:t>
            </a:r>
          </a:p>
          <a:p>
            <a:pPr>
              <a:lnSpc>
                <a:spcPct val="150000"/>
              </a:lnSpc>
            </a:pPr>
            <a:r>
              <a:rPr lang="en-CA" sz="2400" dirty="0">
                <a:solidFill>
                  <a:schemeClr val="bg1"/>
                </a:solidFill>
                <a:cs typeface="Courier New" panose="02070309020205020404" pitchFamily="49" charset="0"/>
              </a:rPr>
              <a:t>Indexing goes [row, column]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10CA14-DBF3-0FCF-9F95-CCDF68A70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Operations in multiple dimensions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203E4C-63E2-EA73-A8EE-3CCE94720E7E}"/>
              </a:ext>
            </a:extLst>
          </p:cNvPr>
          <p:cNvSpPr txBox="1"/>
          <p:nvPr/>
        </p:nvSpPr>
        <p:spPr>
          <a:xfrm>
            <a:off x="838200" y="3136318"/>
            <a:ext cx="11015550" cy="3046988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matrix1 =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np.array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([[1, 2, 3],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               [4, 5, 6]])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m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atrix1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[0,:] </a:t>
            </a:r>
            <a:r>
              <a:rPr lang="en-CA" sz="2400" dirty="0">
                <a:solidFill>
                  <a:schemeClr val="accent1"/>
                </a:solidFill>
                <a:latin typeface="Courier New" panose="02070309020205020404" pitchFamily="49" charset="0"/>
              </a:rPr>
              <a:t>#first row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matrix[:,1] </a:t>
            </a:r>
            <a:r>
              <a:rPr lang="en-CA" sz="2400" dirty="0">
                <a:solidFill>
                  <a:schemeClr val="accent1"/>
                </a:solidFill>
                <a:latin typeface="Courier New" panose="02070309020205020404" pitchFamily="49" charset="0"/>
              </a:rPr>
              <a:t>#second column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m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atrix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[1,1] </a:t>
            </a:r>
            <a:r>
              <a:rPr lang="en-CA" sz="2400" dirty="0">
                <a:solidFill>
                  <a:schemeClr val="accent1"/>
                </a:solidFill>
                <a:latin typeface="Courier New" panose="02070309020205020404" pitchFamily="49" charset="0"/>
              </a:rPr>
              <a:t>#second row, second column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66FE84C-AB4C-E757-57C2-5FBCD41E4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0860857"/>
              </p:ext>
            </p:extLst>
          </p:nvPr>
        </p:nvGraphicFramePr>
        <p:xfrm>
          <a:off x="7268082" y="3751913"/>
          <a:ext cx="1388622" cy="852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874">
                  <a:extLst>
                    <a:ext uri="{9D8B030D-6E8A-4147-A177-3AD203B41FA5}">
                      <a16:colId xmlns:a16="http://schemas.microsoft.com/office/drawing/2014/main" val="730551547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4285457210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3428100711"/>
                    </a:ext>
                  </a:extLst>
                </a:gridCol>
              </a:tblGrid>
              <a:tr h="42633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88638"/>
                  </a:ext>
                </a:extLst>
              </a:tr>
              <a:tr h="426331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87773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9585365-7C25-D89A-12DC-E359EC5442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0340"/>
              </p:ext>
            </p:extLst>
          </p:nvPr>
        </p:nvGraphicFramePr>
        <p:xfrm>
          <a:off x="7268082" y="4793839"/>
          <a:ext cx="1388622" cy="852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874">
                  <a:extLst>
                    <a:ext uri="{9D8B030D-6E8A-4147-A177-3AD203B41FA5}">
                      <a16:colId xmlns:a16="http://schemas.microsoft.com/office/drawing/2014/main" val="730551547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4285457210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3428100711"/>
                    </a:ext>
                  </a:extLst>
                </a:gridCol>
              </a:tblGrid>
              <a:tr h="42633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88638"/>
                  </a:ext>
                </a:extLst>
              </a:tr>
              <a:tr h="426331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87773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9EF78FE-E3FD-FD3F-FC2E-2259AE299B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6717681"/>
              </p:ext>
            </p:extLst>
          </p:nvPr>
        </p:nvGraphicFramePr>
        <p:xfrm>
          <a:off x="9201780" y="5202782"/>
          <a:ext cx="1388622" cy="852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874">
                  <a:extLst>
                    <a:ext uri="{9D8B030D-6E8A-4147-A177-3AD203B41FA5}">
                      <a16:colId xmlns:a16="http://schemas.microsoft.com/office/drawing/2014/main" val="730551547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4285457210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3428100711"/>
                    </a:ext>
                  </a:extLst>
                </a:gridCol>
              </a:tblGrid>
              <a:tr h="42633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88638"/>
                  </a:ext>
                </a:extLst>
              </a:tr>
              <a:tr h="426331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877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55442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40F50F-7099-9A83-7C96-C255703C4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F7CC072-FD9F-5992-471F-510E9F3FB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CA" sz="2400" dirty="0">
                <a:solidFill>
                  <a:schemeClr val="bg1"/>
                </a:solidFill>
                <a:cs typeface="Courier New" panose="02070309020205020404" pitchFamily="49" charset="0"/>
              </a:rPr>
              <a:t>We can mutate or update elements in an array</a:t>
            </a:r>
          </a:p>
          <a:p>
            <a:pPr>
              <a:lnSpc>
                <a:spcPct val="150000"/>
              </a:lnSpc>
            </a:pPr>
            <a:r>
              <a:rPr lang="en-CA" sz="2400" dirty="0">
                <a:solidFill>
                  <a:schemeClr val="bg1"/>
                </a:solidFill>
                <a:cs typeface="Courier New" panose="02070309020205020404" pitchFamily="49" charset="0"/>
              </a:rPr>
              <a:t>We can also make a copy to ensure the original does not get modified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F272E1-89A8-BD68-E957-D7A0463E0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Operations in multiple dimensions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B4A584-A71C-3452-DA9E-0C59D0E431DC}"/>
              </a:ext>
            </a:extLst>
          </p:cNvPr>
          <p:cNvSpPr txBox="1"/>
          <p:nvPr/>
        </p:nvSpPr>
        <p:spPr>
          <a:xfrm>
            <a:off x="838200" y="3136318"/>
            <a:ext cx="11015550" cy="1938992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matrix1 =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np.array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([[1, 2, 3],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               [4, 5, 6]])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matrix3 = matrix1.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copy()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matrix3[1,1] = 50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#replace 5 with 50, original not changed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B8CBF23-61F2-0F6F-AEF2-F61A5E0FCD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7799660"/>
              </p:ext>
            </p:extLst>
          </p:nvPr>
        </p:nvGraphicFramePr>
        <p:xfrm>
          <a:off x="8465510" y="3550032"/>
          <a:ext cx="1388622" cy="852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874">
                  <a:extLst>
                    <a:ext uri="{9D8B030D-6E8A-4147-A177-3AD203B41FA5}">
                      <a16:colId xmlns:a16="http://schemas.microsoft.com/office/drawing/2014/main" val="730551547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4285457210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3428100711"/>
                    </a:ext>
                  </a:extLst>
                </a:gridCol>
              </a:tblGrid>
              <a:tr h="42633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88638"/>
                  </a:ext>
                </a:extLst>
              </a:tr>
              <a:tr h="426331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50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877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70663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E0D16D-D0BD-F031-797B-DA061B8EF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1F799CC-DF26-59CD-B39E-BE16EA630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CA" sz="2400" dirty="0">
                <a:solidFill>
                  <a:schemeClr val="bg1"/>
                </a:solidFill>
                <a:cs typeface="Courier New" panose="02070309020205020404" pitchFamily="49" charset="0"/>
              </a:rPr>
              <a:t>E.g. Evaluate whether each element is divisible by 3</a:t>
            </a:r>
          </a:p>
          <a:p>
            <a:pPr>
              <a:lnSpc>
                <a:spcPct val="150000"/>
              </a:lnSpc>
            </a:pPr>
            <a:endParaRPr lang="en-CA" sz="2400" dirty="0">
              <a:solidFill>
                <a:schemeClr val="bg1"/>
              </a:solidFill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endParaRPr lang="en-CA" sz="2400" dirty="0">
              <a:solidFill>
                <a:schemeClr val="bg1"/>
              </a:solidFill>
              <a:cs typeface="Courier New" panose="02070309020205020404" pitchFamily="49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CA" sz="2400" dirty="0">
              <a:solidFill>
                <a:schemeClr val="bg1"/>
              </a:solidFill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CA" sz="2400" dirty="0">
                <a:solidFill>
                  <a:schemeClr val="bg1"/>
                </a:solidFill>
                <a:cs typeface="Courier New" panose="02070309020205020404" pitchFamily="49" charset="0"/>
              </a:rPr>
              <a:t>To filter, use a Boolean expression as a mask, pass it into square brackets after the array to mask.</a:t>
            </a:r>
          </a:p>
          <a:p>
            <a:pPr>
              <a:lnSpc>
                <a:spcPct val="150000"/>
              </a:lnSpc>
            </a:pPr>
            <a:endParaRPr lang="en-CA" sz="2400" dirty="0">
              <a:solidFill>
                <a:schemeClr val="bg1"/>
              </a:solidFill>
              <a:cs typeface="Courier New" panose="02070309020205020404" pitchFamily="49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B9931F-9080-6686-11ED-83C62279A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Operations in multiple dimensions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E2C4A3-8F0E-1D59-CF85-4D958BA5199B}"/>
              </a:ext>
            </a:extLst>
          </p:cNvPr>
          <p:cNvSpPr txBox="1"/>
          <p:nvPr/>
        </p:nvSpPr>
        <p:spPr>
          <a:xfrm>
            <a:off x="838200" y="2376297"/>
            <a:ext cx="11015550" cy="1938992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matrix3 % 3 == 0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196B24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array([[False, False, True], </a:t>
            </a:r>
          </a:p>
          <a:p>
            <a:pPr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[False, False, True]])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DE65F7F-95A9-D1C7-DF7F-9C2D2C03BF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2403761"/>
              </p:ext>
            </p:extLst>
          </p:nvPr>
        </p:nvGraphicFramePr>
        <p:xfrm>
          <a:off x="7687072" y="2790011"/>
          <a:ext cx="1388622" cy="852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874">
                  <a:extLst>
                    <a:ext uri="{9D8B030D-6E8A-4147-A177-3AD203B41FA5}">
                      <a16:colId xmlns:a16="http://schemas.microsoft.com/office/drawing/2014/main" val="730551547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4285457210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3428100711"/>
                    </a:ext>
                  </a:extLst>
                </a:gridCol>
              </a:tblGrid>
              <a:tr h="42633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88638"/>
                  </a:ext>
                </a:extLst>
              </a:tr>
              <a:tr h="426331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50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87773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6C04A0B-FCA1-715F-3334-BF7F052493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302104"/>
              </p:ext>
            </p:extLst>
          </p:nvPr>
        </p:nvGraphicFramePr>
        <p:xfrm>
          <a:off x="10244830" y="2790011"/>
          <a:ext cx="1388622" cy="852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874">
                  <a:extLst>
                    <a:ext uri="{9D8B030D-6E8A-4147-A177-3AD203B41FA5}">
                      <a16:colId xmlns:a16="http://schemas.microsoft.com/office/drawing/2014/main" val="730551547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4285457210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3428100711"/>
                    </a:ext>
                  </a:extLst>
                </a:gridCol>
              </a:tblGrid>
              <a:tr h="42633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88638"/>
                  </a:ext>
                </a:extLst>
              </a:tr>
              <a:tr h="426331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877739"/>
                  </a:ext>
                </a:extLst>
              </a:tr>
            </a:tbl>
          </a:graphicData>
        </a:graphic>
      </p:graphicFrame>
      <p:sp>
        <p:nvSpPr>
          <p:cNvPr id="4" name="Right Arrow 3">
            <a:extLst>
              <a:ext uri="{FF2B5EF4-FFF2-40B4-BE49-F238E27FC236}">
                <a16:creationId xmlns:a16="http://schemas.microsoft.com/office/drawing/2014/main" id="{C78915BD-3DB6-F69B-0493-0173B6F88387}"/>
              </a:ext>
            </a:extLst>
          </p:cNvPr>
          <p:cNvSpPr/>
          <p:nvPr/>
        </p:nvSpPr>
        <p:spPr>
          <a:xfrm>
            <a:off x="9205134" y="3014461"/>
            <a:ext cx="890649" cy="403761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8A5F53-BA58-0082-72F2-F799FC78C81D}"/>
              </a:ext>
            </a:extLst>
          </p:cNvPr>
          <p:cNvSpPr txBox="1"/>
          <p:nvPr/>
        </p:nvSpPr>
        <p:spPr>
          <a:xfrm>
            <a:off x="838200" y="5571392"/>
            <a:ext cx="11015550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m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atrix3[matrix3 % 3 == 0]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array([</a:t>
            </a: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3,6])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196B24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79630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3FE5DF-6B1C-0B2D-5736-DB43353F6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B4B0883-995E-D525-46D9-3BA71FE7C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CA" sz="2400" dirty="0">
                <a:solidFill>
                  <a:schemeClr val="bg1"/>
                </a:solidFill>
                <a:cs typeface="Courier New" panose="02070309020205020404" pitchFamily="49" charset="0"/>
              </a:rPr>
              <a:t>We can even use masks </a:t>
            </a:r>
            <a:r>
              <a:rPr lang="en-CA" sz="2400" b="1" dirty="0">
                <a:solidFill>
                  <a:schemeClr val="bg1"/>
                </a:solidFill>
                <a:cs typeface="Courier New" panose="02070309020205020404" pitchFamily="49" charset="0"/>
              </a:rPr>
              <a:t>to generate new arrays with conditionals</a:t>
            </a:r>
            <a:r>
              <a:rPr lang="en-CA" sz="2400" dirty="0">
                <a:solidFill>
                  <a:schemeClr val="bg1"/>
                </a:solidFill>
                <a:cs typeface="Courier New" panose="02070309020205020404" pitchFamily="49" charset="0"/>
              </a:rPr>
              <a:t>. </a:t>
            </a:r>
          </a:p>
          <a:p>
            <a:pPr>
              <a:lnSpc>
                <a:spcPct val="100000"/>
              </a:lnSpc>
            </a:pPr>
            <a:r>
              <a:rPr lang="en-CA" sz="2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np.where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CA" sz="2400" dirty="0">
                <a:solidFill>
                  <a:schemeClr val="bg1"/>
                </a:solidFill>
                <a:cs typeface="Courier New" panose="02070309020205020404" pitchFamily="49" charset="0"/>
              </a:rPr>
              <a:t>takes as its arguments a Boolean expression, an expression to evaluate if `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CA" sz="2400" dirty="0">
                <a:solidFill>
                  <a:schemeClr val="bg1"/>
                </a:solidFill>
                <a:cs typeface="Courier New" panose="02070309020205020404" pitchFamily="49" charset="0"/>
              </a:rPr>
              <a:t>`, and an expression to evaluate elsewise. </a:t>
            </a:r>
          </a:p>
          <a:p>
            <a:pPr>
              <a:lnSpc>
                <a:spcPct val="100000"/>
              </a:lnSpc>
            </a:pPr>
            <a:r>
              <a:rPr lang="en-CA" sz="2400" dirty="0">
                <a:solidFill>
                  <a:schemeClr val="bg1"/>
                </a:solidFill>
                <a:cs typeface="Courier New" panose="02070309020205020404" pitchFamily="49" charset="0"/>
              </a:rPr>
              <a:t>This is analogous to creating a new array based on an old one with a `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CA" sz="2400" dirty="0">
                <a:solidFill>
                  <a:schemeClr val="bg1"/>
                </a:solidFill>
                <a:cs typeface="Courier New" panose="02070309020205020404" pitchFamily="49" charset="0"/>
              </a:rPr>
              <a:t>` loop and `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if`/`else</a:t>
            </a:r>
            <a:r>
              <a:rPr lang="en-CA" sz="2400" dirty="0">
                <a:solidFill>
                  <a:schemeClr val="bg1"/>
                </a:solidFill>
                <a:cs typeface="Courier New" panose="02070309020205020404" pitchFamily="49" charset="0"/>
              </a:rPr>
              <a:t>` statements, but much faster.</a:t>
            </a:r>
          </a:p>
          <a:p>
            <a:pPr>
              <a:lnSpc>
                <a:spcPct val="100000"/>
              </a:lnSpc>
            </a:pPr>
            <a:endParaRPr lang="en-CA" sz="2400" dirty="0">
              <a:solidFill>
                <a:schemeClr val="bg1"/>
              </a:solidFill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endParaRPr lang="en-CA" sz="2400" dirty="0">
              <a:solidFill>
                <a:schemeClr val="bg1"/>
              </a:solidFill>
              <a:cs typeface="Courier New" panose="02070309020205020404" pitchFamily="49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CA" sz="2400" dirty="0">
              <a:solidFill>
                <a:schemeClr val="bg1"/>
              </a:solidFill>
              <a:cs typeface="Courier New" panose="02070309020205020404" pitchFamily="49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7DD7B2-672D-B87D-9FD3-18FA01B4C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Operations in multiple dimensions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BA23B5-31A3-66F0-60B3-9DD0570EFEAD}"/>
              </a:ext>
            </a:extLst>
          </p:cNvPr>
          <p:cNvSpPr txBox="1"/>
          <p:nvPr/>
        </p:nvSpPr>
        <p:spPr>
          <a:xfrm>
            <a:off x="838200" y="3870666"/>
            <a:ext cx="11015550" cy="2308324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np.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where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(matrix3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%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3 == 0,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condition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matrix3,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return the element if True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0)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return 0 if False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array([[ 0, 0, 3], [ 0, 0, 6]])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BB9D879-40EC-5BD1-0C1F-C3CB2711E4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161959"/>
              </p:ext>
            </p:extLst>
          </p:nvPr>
        </p:nvGraphicFramePr>
        <p:xfrm>
          <a:off x="7592069" y="5074920"/>
          <a:ext cx="1388622" cy="852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874">
                  <a:extLst>
                    <a:ext uri="{9D8B030D-6E8A-4147-A177-3AD203B41FA5}">
                      <a16:colId xmlns:a16="http://schemas.microsoft.com/office/drawing/2014/main" val="730551547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4285457210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3428100711"/>
                    </a:ext>
                  </a:extLst>
                </a:gridCol>
              </a:tblGrid>
              <a:tr h="42633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88638"/>
                  </a:ext>
                </a:extLst>
              </a:tr>
              <a:tr h="426331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50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877739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3BA3810-BAAE-3596-BD51-C13D0C6643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7092454"/>
              </p:ext>
            </p:extLst>
          </p:nvPr>
        </p:nvGraphicFramePr>
        <p:xfrm>
          <a:off x="10149827" y="5074920"/>
          <a:ext cx="1388622" cy="852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874">
                  <a:extLst>
                    <a:ext uri="{9D8B030D-6E8A-4147-A177-3AD203B41FA5}">
                      <a16:colId xmlns:a16="http://schemas.microsoft.com/office/drawing/2014/main" val="730551547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4285457210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3428100711"/>
                    </a:ext>
                  </a:extLst>
                </a:gridCol>
              </a:tblGrid>
              <a:tr h="42633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88638"/>
                  </a:ext>
                </a:extLst>
              </a:tr>
              <a:tr h="426331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877739"/>
                  </a:ext>
                </a:extLst>
              </a:tr>
            </a:tbl>
          </a:graphicData>
        </a:graphic>
      </p:graphicFrame>
      <p:sp>
        <p:nvSpPr>
          <p:cNvPr id="11" name="Right Arrow 10">
            <a:extLst>
              <a:ext uri="{FF2B5EF4-FFF2-40B4-BE49-F238E27FC236}">
                <a16:creationId xmlns:a16="http://schemas.microsoft.com/office/drawing/2014/main" id="{5A9263E7-77BE-D526-629F-6C264F1BF526}"/>
              </a:ext>
            </a:extLst>
          </p:cNvPr>
          <p:cNvSpPr/>
          <p:nvPr/>
        </p:nvSpPr>
        <p:spPr>
          <a:xfrm>
            <a:off x="9110131" y="5299370"/>
            <a:ext cx="890649" cy="403761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5891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5ABC29-105D-19A5-7045-F04EF75F3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A8847-1767-3986-CB9F-E9AA01CC8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9DEDD-A7E3-E819-3B22-D2323475B5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457200" indent="-457200">
              <a:buAutoNum type="arabicPeriod"/>
            </a:pPr>
            <a:r>
              <a:rPr lang="en-CA" sz="2400" b="1" dirty="0">
                <a:solidFill>
                  <a:schemeClr val="bg1"/>
                </a:solidFill>
              </a:rPr>
              <a:t>What is the shape of this array?</a:t>
            </a:r>
          </a:p>
          <a:p>
            <a:pPr marL="457200" indent="-457200">
              <a:buAutoNum type="arabicPeriod"/>
            </a:pPr>
            <a:endParaRPr lang="en-CA" sz="24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CA" sz="2400" dirty="0">
              <a:solidFill>
                <a:schemeClr val="bg1"/>
              </a:solidFill>
            </a:endParaRP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(3,2)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(2,3)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(6,)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(3,3)</a:t>
            </a:r>
          </a:p>
          <a:p>
            <a:pPr marL="0" indent="0">
              <a:buNone/>
            </a:pP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7C9AF2-1796-4584-D116-FFBEA3E0417B}"/>
              </a:ext>
            </a:extLst>
          </p:cNvPr>
          <p:cNvSpPr txBox="1"/>
          <p:nvPr/>
        </p:nvSpPr>
        <p:spPr>
          <a:xfrm>
            <a:off x="1332021" y="2008641"/>
            <a:ext cx="9800100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np.array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([[1, 2, 3], [4, 5, 6]])</a:t>
            </a:r>
          </a:p>
        </p:txBody>
      </p:sp>
    </p:spTree>
    <p:extLst>
      <p:ext uri="{BB962C8B-B14F-4D97-AF65-F5344CB8AC3E}">
        <p14:creationId xmlns:p14="http://schemas.microsoft.com/office/powerpoint/2010/main" val="17555467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C5BA54-DFB8-4EBD-4575-6F113958E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97CFE-456D-AB36-C222-7BB5713D9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051F4-3B5C-670F-1969-5FFA52F9D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2. What does the following produce?</a:t>
            </a:r>
          </a:p>
          <a:p>
            <a:pPr marL="457200" indent="-457200">
              <a:buAutoNum type="arabicPeriod"/>
            </a:pPr>
            <a:endParaRPr lang="en-CA" sz="24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CA" sz="2400" dirty="0">
              <a:solidFill>
                <a:schemeClr val="bg1"/>
              </a:solidFill>
            </a:endParaRP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10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20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30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40</a:t>
            </a:r>
          </a:p>
          <a:p>
            <a:pPr marL="0" indent="0">
              <a:buNone/>
            </a:pP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877AA1-72B3-ADC2-8275-47224A23EFD3}"/>
              </a:ext>
            </a:extLst>
          </p:cNvPr>
          <p:cNvSpPr txBox="1"/>
          <p:nvPr/>
        </p:nvSpPr>
        <p:spPr>
          <a:xfrm>
            <a:off x="1332021" y="2008641"/>
            <a:ext cx="9800100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a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rr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np.array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([10,20,30,40])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 err="1">
                <a:solidFill>
                  <a:prstClr val="black"/>
                </a:solidFill>
                <a:latin typeface="Courier New" panose="02070309020205020404" pitchFamily="49" charset="0"/>
              </a:rPr>
              <a:t>arr</a:t>
            </a: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[2]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45693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6473D7-313A-CE5F-7A8F-959FB12E4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11A14-A557-4A57-CF8B-3E93B9CDA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B97C9-9072-888A-5D3F-73DE519FA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3. What does the following produce?</a:t>
            </a:r>
          </a:p>
          <a:p>
            <a:pPr marL="457200" indent="-457200">
              <a:buAutoNum type="arabicPeriod"/>
            </a:pPr>
            <a:endParaRPr lang="en-CA" sz="24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CA" sz="2400" dirty="0">
              <a:solidFill>
                <a:schemeClr val="bg1"/>
              </a:solidFill>
            </a:endParaRP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2,4,6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1,2,3,2,4,6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3,4,5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Error</a:t>
            </a:r>
          </a:p>
          <a:p>
            <a:pPr marL="0" indent="0">
              <a:buNone/>
            </a:pP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24F11B-E2FF-E5CE-2835-D36A018FCC33}"/>
              </a:ext>
            </a:extLst>
          </p:cNvPr>
          <p:cNvSpPr txBox="1"/>
          <p:nvPr/>
        </p:nvSpPr>
        <p:spPr>
          <a:xfrm>
            <a:off x="1332021" y="2008641"/>
            <a:ext cx="9800100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arr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np.array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([1,2,3])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a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rr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* 2</a:t>
            </a:r>
          </a:p>
        </p:txBody>
      </p:sp>
    </p:spTree>
    <p:extLst>
      <p:ext uri="{BB962C8B-B14F-4D97-AF65-F5344CB8AC3E}">
        <p14:creationId xmlns:p14="http://schemas.microsoft.com/office/powerpoint/2010/main" val="41062740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FCB24F-068F-2EF3-7DA5-FAB2905B3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C1D7B-A149-5A5B-F4F9-46432DC80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AE905-602A-B35F-E53C-AFA36A766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4. What does the following produce?</a:t>
            </a:r>
          </a:p>
          <a:p>
            <a:pPr marL="457200" indent="-457200">
              <a:buAutoNum type="arabicPeriod"/>
            </a:pPr>
            <a:endParaRPr lang="en-CA" sz="24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CA" sz="2400" dirty="0">
              <a:solidFill>
                <a:schemeClr val="bg1"/>
              </a:solidFill>
            </a:endParaRP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2x3 array of zeros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3x2 array of zeros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Array [0,0,0]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Error</a:t>
            </a:r>
          </a:p>
          <a:p>
            <a:pPr marL="0" indent="0">
              <a:buNone/>
            </a:pP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0ECE38-C1EF-6B4F-1F18-7B1B2F5EFFD6}"/>
              </a:ext>
            </a:extLst>
          </p:cNvPr>
          <p:cNvSpPr txBox="1"/>
          <p:nvPr/>
        </p:nvSpPr>
        <p:spPr>
          <a:xfrm>
            <a:off x="1332021" y="2008641"/>
            <a:ext cx="9800100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arr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np.zeros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((2,3))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arr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22641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AA7D1A-5098-6697-901D-5B283FE86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A8EF0-C780-DFDB-30E9-E131CA636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2AAB5-C32D-4C5E-B23C-2DD498AD5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5. What does the following produce?</a:t>
            </a:r>
          </a:p>
          <a:p>
            <a:pPr marL="457200" indent="-457200">
              <a:buAutoNum type="arabicPeriod"/>
            </a:pPr>
            <a:endParaRPr lang="en-CA" sz="24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CA" sz="2400" dirty="0">
              <a:solidFill>
                <a:schemeClr val="bg1"/>
              </a:solidFill>
            </a:endParaRP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 </a:t>
            </a:r>
          </a:p>
          <a:p>
            <a:pPr marL="457200" indent="-457200">
              <a:buAutoNum type="alphaUcPeriod"/>
            </a:pPr>
            <a:endParaRPr lang="en-CA" sz="2400" dirty="0">
              <a:solidFill>
                <a:schemeClr val="bg1"/>
              </a:solidFill>
            </a:endParaRP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 </a:t>
            </a:r>
          </a:p>
          <a:p>
            <a:pPr marL="457200" indent="-457200">
              <a:buAutoNum type="alphaUcPeriod"/>
            </a:pPr>
            <a:endParaRPr lang="en-CA" sz="2400" dirty="0">
              <a:solidFill>
                <a:schemeClr val="bg1"/>
              </a:solidFill>
            </a:endParaRP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 </a:t>
            </a:r>
          </a:p>
          <a:p>
            <a:pPr marL="457200" indent="-457200">
              <a:buAutoNum type="alphaUcPeriod"/>
            </a:pPr>
            <a:endParaRPr lang="en-CA" sz="2400" dirty="0">
              <a:solidFill>
                <a:schemeClr val="bg1"/>
              </a:solidFill>
            </a:endParaRP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 </a:t>
            </a:r>
          </a:p>
          <a:p>
            <a:pPr marL="0" indent="0">
              <a:buNone/>
            </a:pPr>
            <a:r>
              <a:rPr lang="en-CA" sz="2400" dirty="0">
                <a:solidFill>
                  <a:schemeClr val="bg1"/>
                </a:solidFill>
              </a:rPr>
              <a:t> </a:t>
            </a:r>
          </a:p>
          <a:p>
            <a:pPr marL="0" indent="0">
              <a:buNone/>
            </a:pP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38DFB1-0862-6031-4854-620C7B3F595E}"/>
              </a:ext>
            </a:extLst>
          </p:cNvPr>
          <p:cNvSpPr txBox="1"/>
          <p:nvPr/>
        </p:nvSpPr>
        <p:spPr>
          <a:xfrm>
            <a:off x="1332021" y="2008641"/>
            <a:ext cx="9800100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arr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np.array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([1,2,3,4,5,6])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a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rr.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reshape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((2,3))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9CB00CF-8AF9-A2CE-39B3-4E7D3FD44D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8097971"/>
              </p:ext>
            </p:extLst>
          </p:nvPr>
        </p:nvGraphicFramePr>
        <p:xfrm>
          <a:off x="1516116" y="2956473"/>
          <a:ext cx="1388622" cy="852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874">
                  <a:extLst>
                    <a:ext uri="{9D8B030D-6E8A-4147-A177-3AD203B41FA5}">
                      <a16:colId xmlns:a16="http://schemas.microsoft.com/office/drawing/2014/main" val="730551547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4285457210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3428100711"/>
                    </a:ext>
                  </a:extLst>
                </a:gridCol>
              </a:tblGrid>
              <a:tr h="42633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88638"/>
                  </a:ext>
                </a:extLst>
              </a:tr>
              <a:tr h="426331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87773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06777E7-779D-F048-431D-72AC95ABD8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5785255"/>
              </p:ext>
            </p:extLst>
          </p:nvPr>
        </p:nvGraphicFramePr>
        <p:xfrm>
          <a:off x="1516115" y="3925970"/>
          <a:ext cx="2559774" cy="426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629">
                  <a:extLst>
                    <a:ext uri="{9D8B030D-6E8A-4147-A177-3AD203B41FA5}">
                      <a16:colId xmlns:a16="http://schemas.microsoft.com/office/drawing/2014/main" val="730551547"/>
                    </a:ext>
                  </a:extLst>
                </a:gridCol>
                <a:gridCol w="426629">
                  <a:extLst>
                    <a:ext uri="{9D8B030D-6E8A-4147-A177-3AD203B41FA5}">
                      <a16:colId xmlns:a16="http://schemas.microsoft.com/office/drawing/2014/main" val="4285457210"/>
                    </a:ext>
                  </a:extLst>
                </a:gridCol>
                <a:gridCol w="426629">
                  <a:extLst>
                    <a:ext uri="{9D8B030D-6E8A-4147-A177-3AD203B41FA5}">
                      <a16:colId xmlns:a16="http://schemas.microsoft.com/office/drawing/2014/main" val="3428100711"/>
                    </a:ext>
                  </a:extLst>
                </a:gridCol>
                <a:gridCol w="426629">
                  <a:extLst>
                    <a:ext uri="{9D8B030D-6E8A-4147-A177-3AD203B41FA5}">
                      <a16:colId xmlns:a16="http://schemas.microsoft.com/office/drawing/2014/main" val="3356265803"/>
                    </a:ext>
                  </a:extLst>
                </a:gridCol>
                <a:gridCol w="426629">
                  <a:extLst>
                    <a:ext uri="{9D8B030D-6E8A-4147-A177-3AD203B41FA5}">
                      <a16:colId xmlns:a16="http://schemas.microsoft.com/office/drawing/2014/main" val="1745186697"/>
                    </a:ext>
                  </a:extLst>
                </a:gridCol>
                <a:gridCol w="426629">
                  <a:extLst>
                    <a:ext uri="{9D8B030D-6E8A-4147-A177-3AD203B41FA5}">
                      <a16:colId xmlns:a16="http://schemas.microsoft.com/office/drawing/2014/main" val="1829785301"/>
                    </a:ext>
                  </a:extLst>
                </a:gridCol>
              </a:tblGrid>
              <a:tr h="42633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8863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1CAE135-5555-DD28-C9F9-806DEC8B9D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3207"/>
              </p:ext>
            </p:extLst>
          </p:nvPr>
        </p:nvGraphicFramePr>
        <p:xfrm>
          <a:off x="1516116" y="4469136"/>
          <a:ext cx="925748" cy="12789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874">
                  <a:extLst>
                    <a:ext uri="{9D8B030D-6E8A-4147-A177-3AD203B41FA5}">
                      <a16:colId xmlns:a16="http://schemas.microsoft.com/office/drawing/2014/main" val="730551547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4285457210"/>
                    </a:ext>
                  </a:extLst>
                </a:gridCol>
              </a:tblGrid>
              <a:tr h="42633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88638"/>
                  </a:ext>
                </a:extLst>
              </a:tr>
              <a:tr h="426331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5867256"/>
                  </a:ext>
                </a:extLst>
              </a:tr>
              <a:tr h="426331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87773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08F7FCE-AFD9-ED18-E9A4-A27EE430D8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616992"/>
              </p:ext>
            </p:extLst>
          </p:nvPr>
        </p:nvGraphicFramePr>
        <p:xfrm>
          <a:off x="1516116" y="5862560"/>
          <a:ext cx="1388622" cy="852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874">
                  <a:extLst>
                    <a:ext uri="{9D8B030D-6E8A-4147-A177-3AD203B41FA5}">
                      <a16:colId xmlns:a16="http://schemas.microsoft.com/office/drawing/2014/main" val="730551547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4285457210"/>
                    </a:ext>
                  </a:extLst>
                </a:gridCol>
                <a:gridCol w="462874">
                  <a:extLst>
                    <a:ext uri="{9D8B030D-6E8A-4147-A177-3AD203B41FA5}">
                      <a16:colId xmlns:a16="http://schemas.microsoft.com/office/drawing/2014/main" val="3428100711"/>
                    </a:ext>
                  </a:extLst>
                </a:gridCol>
              </a:tblGrid>
              <a:tr h="42633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88638"/>
                  </a:ext>
                </a:extLst>
              </a:tr>
              <a:tr h="426331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877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86405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E49CFF-50AB-E0F7-BA1B-5451FC321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B0942-0BFA-C53B-C9B6-AE250C3C9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4145"/>
            <a:ext cx="11023599" cy="4351338"/>
          </a:xfrm>
        </p:spPr>
        <p:txBody>
          <a:bodyPr>
            <a:normAutofit/>
          </a:bodyPr>
          <a:lstStyle/>
          <a:p>
            <a:r>
              <a:rPr lang="en-CA" sz="2400" b="0" dirty="0">
                <a:solidFill>
                  <a:schemeClr val="bg1"/>
                </a:solidFill>
                <a:effectLst/>
              </a:rPr>
              <a:t>Try this on your own:</a:t>
            </a:r>
          </a:p>
          <a:p>
            <a:pPr lvl="1"/>
            <a:r>
              <a:rPr lang="en-CA" sz="2000" b="0" dirty="0">
                <a:solidFill>
                  <a:schemeClr val="bg1"/>
                </a:solidFill>
                <a:effectLst/>
              </a:rPr>
              <a:t>Create a 1D array of numbers from 1 to 20.</a:t>
            </a:r>
          </a:p>
          <a:p>
            <a:pPr lvl="1"/>
            <a:r>
              <a:rPr lang="en-CA" sz="2000" b="0" dirty="0">
                <a:solidFill>
                  <a:schemeClr val="bg1"/>
                </a:solidFill>
                <a:effectLst/>
              </a:rPr>
              <a:t>Compute the sum, mean, and standard deviation of the array (</a:t>
            </a:r>
            <a:r>
              <a:rPr lang="en-CA" sz="2000" b="0" i="1" dirty="0">
                <a:solidFill>
                  <a:schemeClr val="bg1"/>
                </a:solidFill>
                <a:effectLst/>
              </a:rPr>
              <a:t>Note</a:t>
            </a:r>
            <a:r>
              <a:rPr lang="en-CA" sz="2000" b="0" dirty="0">
                <a:solidFill>
                  <a:schemeClr val="bg1"/>
                </a:solidFill>
                <a:effectLst/>
              </a:rPr>
              <a:t>, these are all </a:t>
            </a:r>
            <a:r>
              <a:rPr lang="en-CA" sz="2000" b="0" dirty="0" err="1">
                <a:solidFill>
                  <a:schemeClr val="bg1"/>
                </a:solidFill>
                <a:effectLst/>
              </a:rPr>
              <a:t>numpy</a:t>
            </a:r>
            <a:r>
              <a:rPr lang="en-CA" sz="2000" b="0" dirty="0">
                <a:solidFill>
                  <a:schemeClr val="bg1"/>
                </a:solidFill>
                <a:effectLst/>
              </a:rPr>
              <a:t> methods!)</a:t>
            </a:r>
          </a:p>
          <a:p>
            <a:pPr lvl="1"/>
            <a:endParaRPr lang="en-CA" sz="2000" b="0" dirty="0">
              <a:solidFill>
                <a:schemeClr val="bg1"/>
              </a:solidFill>
              <a:effectLst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DF1731-A654-0B6F-4DBA-C7778A30B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Exercise # 1</a:t>
            </a:r>
          </a:p>
        </p:txBody>
      </p:sp>
    </p:spTree>
    <p:extLst>
      <p:ext uri="{BB962C8B-B14F-4D97-AF65-F5344CB8AC3E}">
        <p14:creationId xmlns:p14="http://schemas.microsoft.com/office/powerpoint/2010/main" val="18737365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6C5DC0-7744-A2E9-72B0-3113F0BD4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D03D8-0B53-5E07-1D5A-AA3715D6E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4145"/>
            <a:ext cx="11023599" cy="4351338"/>
          </a:xfrm>
        </p:spPr>
        <p:txBody>
          <a:bodyPr>
            <a:normAutofit/>
          </a:bodyPr>
          <a:lstStyle/>
          <a:p>
            <a:r>
              <a:rPr lang="en-CA" sz="2400" b="0" dirty="0">
                <a:solidFill>
                  <a:schemeClr val="bg1"/>
                </a:solidFill>
                <a:effectLst/>
              </a:rPr>
              <a:t>Try this on your own:</a:t>
            </a:r>
          </a:p>
          <a:p>
            <a:pPr lvl="1"/>
            <a:r>
              <a:rPr lang="en-CA" sz="2000" b="0" dirty="0">
                <a:solidFill>
                  <a:schemeClr val="bg1"/>
                </a:solidFill>
                <a:effectLst/>
              </a:rPr>
              <a:t>From the following 2D array</a:t>
            </a:r>
          </a:p>
          <a:p>
            <a:pPr marL="914400" lvl="2" indent="0">
              <a:buNone/>
            </a:pPr>
            <a:r>
              <a:rPr lang="en-CA" sz="2000" b="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CA" sz="2000" b="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CA" sz="2000" b="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  <a:r>
              <a:rPr lang="en-CA" sz="2000" b="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([[2, 7, 12],</a:t>
            </a:r>
          </a:p>
          <a:p>
            <a:pPr marL="914400" lvl="2" indent="0">
              <a:buNone/>
            </a:pPr>
            <a:r>
              <a:rPr lang="en-CA" sz="2000" b="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    [4, 15, 3],</a:t>
            </a:r>
          </a:p>
          <a:p>
            <a:pPr marL="914400" lvl="2" indent="0">
              <a:buNone/>
            </a:pPr>
            <a:r>
              <a:rPr lang="en-CA" sz="2000" b="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    [8, 1, 20]])</a:t>
            </a:r>
          </a:p>
          <a:p>
            <a:pPr lvl="1"/>
            <a:endParaRPr lang="en-CA" sz="2000" b="0" dirty="0">
              <a:solidFill>
                <a:schemeClr val="bg1"/>
              </a:solidFill>
              <a:effectLst/>
            </a:endParaRPr>
          </a:p>
          <a:p>
            <a:pPr lvl="1"/>
            <a:r>
              <a:rPr lang="en-CA" sz="2000" b="0" dirty="0">
                <a:solidFill>
                  <a:schemeClr val="bg1"/>
                </a:solidFill>
                <a:effectLst/>
              </a:rPr>
              <a:t>Select all elements greater than 10 </a:t>
            </a:r>
          </a:p>
          <a:p>
            <a:pPr lvl="1"/>
            <a:r>
              <a:rPr lang="en-CA" sz="2000" b="0" dirty="0">
                <a:solidFill>
                  <a:schemeClr val="bg1"/>
                </a:solidFill>
                <a:effectLst/>
              </a:rPr>
              <a:t>Replace all elements less than 5 with 0</a:t>
            </a:r>
          </a:p>
          <a:p>
            <a:pPr lvl="1"/>
            <a:endParaRPr lang="en-CA" sz="2000" b="0" dirty="0">
              <a:solidFill>
                <a:schemeClr val="bg1"/>
              </a:solidFill>
              <a:effectLst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28B358-87DF-8838-AF7B-F6B9B0C0D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Exercise # 2</a:t>
            </a:r>
          </a:p>
        </p:txBody>
      </p:sp>
    </p:spTree>
    <p:extLst>
      <p:ext uri="{BB962C8B-B14F-4D97-AF65-F5344CB8AC3E}">
        <p14:creationId xmlns:p14="http://schemas.microsoft.com/office/powerpoint/2010/main" val="24178872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C225DF-67DA-4D94-0F04-AFD28706F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4CF4E-D092-12E3-78B1-7CFFC39E46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4145"/>
            <a:ext cx="11023599" cy="4351338"/>
          </a:xfrm>
        </p:spPr>
        <p:txBody>
          <a:bodyPr>
            <a:normAutofit/>
          </a:bodyPr>
          <a:lstStyle/>
          <a:p>
            <a:r>
              <a:rPr lang="en-CA" sz="2400" b="0" dirty="0">
                <a:solidFill>
                  <a:schemeClr val="bg1"/>
                </a:solidFill>
                <a:effectLst/>
              </a:rPr>
              <a:t>Try this on your own:</a:t>
            </a:r>
          </a:p>
          <a:p>
            <a:pPr lvl="1"/>
            <a:r>
              <a:rPr lang="en-CA" sz="2000" b="0" dirty="0">
                <a:solidFill>
                  <a:schemeClr val="bg1"/>
                </a:solidFill>
                <a:effectLst/>
              </a:rPr>
              <a:t>From the following 2D array</a:t>
            </a:r>
          </a:p>
          <a:p>
            <a:pPr marL="914400" lvl="2" indent="0">
              <a:buNone/>
            </a:pPr>
            <a:r>
              <a:rPr lang="en-CA" sz="2400" b="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CA" sz="2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CA" sz="2400" b="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  <a:r>
              <a:rPr lang="en-CA" sz="2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([[2, 7, 12],</a:t>
            </a:r>
          </a:p>
          <a:p>
            <a:pPr marL="914400" lvl="2" indent="0">
              <a:buNone/>
            </a:pPr>
            <a:r>
              <a:rPr lang="en-CA" sz="2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    [4, 15, 3],</a:t>
            </a:r>
          </a:p>
          <a:p>
            <a:pPr marL="914400" lvl="2" indent="0">
              <a:buNone/>
            </a:pPr>
            <a:r>
              <a:rPr lang="en-CA" sz="2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    [8, 1, 20]])</a:t>
            </a:r>
          </a:p>
          <a:p>
            <a:pPr lvl="1"/>
            <a:r>
              <a:rPr lang="en-CA" sz="2000" b="0" dirty="0">
                <a:solidFill>
                  <a:schemeClr val="bg1"/>
                </a:solidFill>
                <a:effectLst/>
              </a:rPr>
              <a:t>Print the first column</a:t>
            </a:r>
          </a:p>
          <a:p>
            <a:pPr lvl="1"/>
            <a:r>
              <a:rPr lang="en-CA" sz="2000" dirty="0">
                <a:solidFill>
                  <a:schemeClr val="bg1"/>
                </a:solidFill>
              </a:rPr>
              <a:t>Print the last row</a:t>
            </a:r>
          </a:p>
          <a:p>
            <a:pPr lvl="1"/>
            <a:r>
              <a:rPr lang="en-CA" sz="2000" b="0" dirty="0">
                <a:solidFill>
                  <a:schemeClr val="bg1"/>
                </a:solidFill>
                <a:effectLst/>
              </a:rPr>
              <a:t>Print the element in the 2</a:t>
            </a:r>
            <a:r>
              <a:rPr lang="en-CA" sz="2000" b="0" baseline="30000" dirty="0">
                <a:solidFill>
                  <a:schemeClr val="bg1"/>
                </a:solidFill>
                <a:effectLst/>
              </a:rPr>
              <a:t>nd</a:t>
            </a:r>
            <a:r>
              <a:rPr lang="en-CA" sz="2000" b="0" dirty="0">
                <a:solidFill>
                  <a:schemeClr val="bg1"/>
                </a:solidFill>
                <a:effectLst/>
              </a:rPr>
              <a:t> </a:t>
            </a:r>
            <a:r>
              <a:rPr lang="en-CA" sz="2000" dirty="0">
                <a:solidFill>
                  <a:schemeClr val="bg1"/>
                </a:solidFill>
              </a:rPr>
              <a:t>row, 3</a:t>
            </a:r>
            <a:r>
              <a:rPr lang="en-CA" sz="2000" baseline="30000" dirty="0">
                <a:solidFill>
                  <a:schemeClr val="bg1"/>
                </a:solidFill>
              </a:rPr>
              <a:t>rd</a:t>
            </a:r>
            <a:r>
              <a:rPr lang="en-CA" sz="2000" dirty="0">
                <a:solidFill>
                  <a:schemeClr val="bg1"/>
                </a:solidFill>
              </a:rPr>
              <a:t> column</a:t>
            </a:r>
            <a:endParaRPr lang="en-CA" sz="2000" b="0" dirty="0">
              <a:solidFill>
                <a:schemeClr val="bg1"/>
              </a:solidFill>
              <a:effectLst/>
            </a:endParaRPr>
          </a:p>
          <a:p>
            <a:pPr lvl="1"/>
            <a:endParaRPr lang="en-CA" sz="2000" b="0" dirty="0">
              <a:solidFill>
                <a:schemeClr val="bg1"/>
              </a:solidFill>
              <a:effectLst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6A5653-0DBF-1EF9-4D89-B30400456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Exercise # 3</a:t>
            </a:r>
          </a:p>
        </p:txBody>
      </p:sp>
    </p:spTree>
    <p:extLst>
      <p:ext uri="{BB962C8B-B14F-4D97-AF65-F5344CB8AC3E}">
        <p14:creationId xmlns:p14="http://schemas.microsoft.com/office/powerpoint/2010/main" val="26543406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CB8292-B533-5D1F-C1E7-40ED3FA92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699EF-6B62-0CC3-B32C-FB1CC72F6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4145"/>
            <a:ext cx="11023599" cy="4351338"/>
          </a:xfrm>
        </p:spPr>
        <p:txBody>
          <a:bodyPr>
            <a:normAutofit/>
          </a:bodyPr>
          <a:lstStyle/>
          <a:p>
            <a:r>
              <a:rPr lang="en-CA" sz="2400" b="0" dirty="0">
                <a:solidFill>
                  <a:schemeClr val="bg1"/>
                </a:solidFill>
                <a:effectLst/>
              </a:rPr>
              <a:t>Try this on your own:</a:t>
            </a:r>
          </a:p>
          <a:p>
            <a:pPr lvl="1"/>
            <a:r>
              <a:rPr lang="en-CA" sz="2000" b="0" dirty="0">
                <a:solidFill>
                  <a:schemeClr val="bg1"/>
                </a:solidFill>
                <a:effectLst/>
              </a:rPr>
              <a:t>From the following 2D array</a:t>
            </a:r>
          </a:p>
          <a:p>
            <a:pPr marL="914400" lvl="2" indent="0">
              <a:buNone/>
            </a:pPr>
            <a:r>
              <a:rPr lang="en-CA" sz="2400" b="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CA" sz="2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CA" sz="2400" b="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  <a:r>
              <a:rPr lang="en-CA" sz="2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([[2, 7, 12],</a:t>
            </a:r>
          </a:p>
          <a:p>
            <a:pPr marL="914400" lvl="2" indent="0">
              <a:buNone/>
            </a:pPr>
            <a:r>
              <a:rPr lang="en-CA" sz="2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    [4, 15, 3],</a:t>
            </a:r>
          </a:p>
          <a:p>
            <a:pPr marL="914400" lvl="2" indent="0">
              <a:buNone/>
            </a:pPr>
            <a:r>
              <a:rPr lang="en-CA" sz="2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    [8, 1, 20]])</a:t>
            </a:r>
          </a:p>
          <a:p>
            <a:pPr lvl="1"/>
            <a:r>
              <a:rPr lang="en-CA" sz="2000" b="0" dirty="0">
                <a:solidFill>
                  <a:schemeClr val="bg1"/>
                </a:solidFill>
                <a:effectLst/>
              </a:rPr>
              <a:t>Compute the sum of each column</a:t>
            </a:r>
          </a:p>
          <a:p>
            <a:pPr lvl="1"/>
            <a:r>
              <a:rPr lang="en-CA" sz="2000" dirty="0">
                <a:solidFill>
                  <a:schemeClr val="bg1"/>
                </a:solidFill>
              </a:rPr>
              <a:t>Compute the mean of each row</a:t>
            </a:r>
            <a:endParaRPr lang="en-CA" sz="2000" b="0" dirty="0">
              <a:solidFill>
                <a:schemeClr val="bg1"/>
              </a:solidFill>
              <a:effectLst/>
            </a:endParaRPr>
          </a:p>
          <a:p>
            <a:pPr lvl="1"/>
            <a:endParaRPr lang="en-CA" sz="2000" b="0" dirty="0">
              <a:solidFill>
                <a:schemeClr val="bg1"/>
              </a:solidFill>
              <a:effectLst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7709EB-21F6-2E35-D6CB-660436F75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Exercise # 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95FFBC-C707-5BF1-9BB8-1AD2B394033F}"/>
              </a:ext>
            </a:extLst>
          </p:cNvPr>
          <p:cNvSpPr/>
          <p:nvPr/>
        </p:nvSpPr>
        <p:spPr>
          <a:xfrm>
            <a:off x="7648436" y="2329246"/>
            <a:ext cx="2254321" cy="10997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Remember: </a:t>
            </a: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axis 0 = col, </a:t>
            </a: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axis 1 = row</a:t>
            </a:r>
          </a:p>
        </p:txBody>
      </p:sp>
    </p:spTree>
    <p:extLst>
      <p:ext uri="{BB962C8B-B14F-4D97-AF65-F5344CB8AC3E}">
        <p14:creationId xmlns:p14="http://schemas.microsoft.com/office/powerpoint/2010/main" val="25751034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926021-0D76-6D4F-3528-C03380132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numpy-cheat-sheet – Data Science Duniya">
            <a:extLst>
              <a:ext uri="{FF2B5EF4-FFF2-40B4-BE49-F238E27FC236}">
                <a16:creationId xmlns:a16="http://schemas.microsoft.com/office/drawing/2014/main" id="{826E24E3-17DF-B54A-3BC8-DFF8C7CDDD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600" y="0"/>
            <a:ext cx="97012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483128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823</TotalTime>
  <Words>2403</Words>
  <Application>Microsoft Macintosh PowerPoint</Application>
  <PresentationFormat>Widescreen</PresentationFormat>
  <Paragraphs>703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Aptos</vt:lpstr>
      <vt:lpstr>Aptos Display</vt:lpstr>
      <vt:lpstr>Arial</vt:lpstr>
      <vt:lpstr>Calibri Light</vt:lpstr>
      <vt:lpstr>Courier New</vt:lpstr>
      <vt:lpstr>1_Office Theme</vt:lpstr>
      <vt:lpstr>10. numpy</vt:lpstr>
      <vt:lpstr>Learning objectives</vt:lpstr>
      <vt:lpstr>What is a NumPy array?</vt:lpstr>
      <vt:lpstr>Loading NumPy</vt:lpstr>
      <vt:lpstr>Arrays vs lists</vt:lpstr>
      <vt:lpstr>Arrays vs lists</vt:lpstr>
      <vt:lpstr>Creating NumPy arrays</vt:lpstr>
      <vt:lpstr>Placeholder Arrays in NumPy</vt:lpstr>
      <vt:lpstr>Specific Number Arrays in NumPy</vt:lpstr>
      <vt:lpstr>Repeat Arrays in NumPy</vt:lpstr>
      <vt:lpstr>Simulating data in NumPy</vt:lpstr>
      <vt:lpstr>Reshaping arrays</vt:lpstr>
      <vt:lpstr>Reshaping arrays</vt:lpstr>
      <vt:lpstr>Reshaping arrays</vt:lpstr>
      <vt:lpstr>Reshaping arrays</vt:lpstr>
      <vt:lpstr>Reshaping arrays</vt:lpstr>
      <vt:lpstr>Why NumPy is useful</vt:lpstr>
      <vt:lpstr>Why NumPy is useful</vt:lpstr>
      <vt:lpstr>Why NumPy is useful</vt:lpstr>
      <vt:lpstr>Operations in multiple dimensions</vt:lpstr>
      <vt:lpstr>Operations in multiple dimensions</vt:lpstr>
      <vt:lpstr>Operations in multiple dimensions</vt:lpstr>
      <vt:lpstr>Operations in multiple dimensions</vt:lpstr>
      <vt:lpstr>Operations in multiple dimensions</vt:lpstr>
      <vt:lpstr>Quiz: Arrays</vt:lpstr>
      <vt:lpstr>Quiz: Arrays</vt:lpstr>
      <vt:lpstr>Quiz: Arrays</vt:lpstr>
      <vt:lpstr>Quiz: Arrays</vt:lpstr>
      <vt:lpstr>Quiz: Arrays</vt:lpstr>
      <vt:lpstr>Exercise # 1</vt:lpstr>
      <vt:lpstr>Exercise # 2</vt:lpstr>
      <vt:lpstr>Exercise # 3</vt:lpstr>
      <vt:lpstr>Exercise # 4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 Gallucci</dc:creator>
  <cp:lastModifiedBy>Julia Gallucci</cp:lastModifiedBy>
  <cp:revision>52</cp:revision>
  <dcterms:created xsi:type="dcterms:W3CDTF">2026-01-19T21:33:29Z</dcterms:created>
  <dcterms:modified xsi:type="dcterms:W3CDTF">2026-04-10T17:12:33Z</dcterms:modified>
</cp:coreProperties>
</file>