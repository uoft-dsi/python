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360" r:id="rId24"/>
    <p:sldId id="361" r:id="rId25"/>
    <p:sldId id="362" r:id="rId26"/>
    <p:sldId id="363" r:id="rId27"/>
    <p:sldId id="364" r:id="rId28"/>
    <p:sldId id="292" r:id="rId29"/>
    <p:sldId id="36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21"/>
    <p:restoredTop sz="96395"/>
  </p:normalViewPr>
  <p:slideViewPr>
    <p:cSldViewPr snapToGrid="0">
      <p:cViewPr varScale="1">
        <p:scale>
          <a:sx n="114" d="100"/>
          <a:sy n="114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EFF5B-8D55-7A44-9555-99022011B642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8D97B-4F20-D941-8325-393DF49E81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88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D1A2F-A334-4F43-9815-ACD08471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C1023-6D9A-DB7E-E825-6F6F05BE9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42A17-3332-4FD2-C0B6-F17052C76A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4641C-A6BB-4252-F90D-5E61A3913E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381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3E797-2C61-7F8F-C6BD-57724EEE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C05ED-16C0-9B8C-6922-00E424019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C9166-210E-8FAF-8900-44B6EEF32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500D5-CEE7-569E-800D-688B2AC3B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843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9BF23-3225-ACA3-806A-92CBEA88B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AE1E8-EACA-4673-13A2-8AC9F99B8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6F97F-85EE-076D-3804-A58F65180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026EC-91B2-2225-9646-370F85C12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8802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24F6F-ACA4-5917-3054-7795BC34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5BCD66-FD95-A8E6-E32D-0B87619E4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C80D0-E5F3-A980-CF91-3A80A3AAF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9714D-FFAB-6031-564B-84CC4A993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41895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385EA-2A90-E55D-37FB-63351B3E3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28400-EA8F-29E2-E300-9242CFE604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C5A0DC-E7B8-F628-03CD-0C6B484C1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5F490-BA2A-AB0B-FC72-8B3D6391EA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916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3BDC-8476-7E31-9770-917D14B62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EB06B-DBC3-124E-D24B-55508EE73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A82CC-1954-AF50-0DE4-A8F0E5A96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AA6D9-418E-F0A1-6CD3-58753FA68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674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8DCB-2822-0D7C-4204-F434EC5F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10BF0-28A6-3E14-0AC7-C2A35191F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CEFE0-C147-8E91-D274-9AA7B2CD8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3F3AF-B0A6-EFD6-79E0-0F4FF7C0D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7851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4EFE-F498-8A4D-AD68-410A14BE5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2E47A-E2F5-61ED-C8AB-6E66D62885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B54A0-AD8E-CF30-5D93-75EC4F7E9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15760-4984-FD90-DA0D-1D81D2B450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540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AFED5-E959-DAE3-617E-ED3D787D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F114B-2701-196C-622B-B9F8D41C6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40736-3662-D533-11C8-D09E48392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E27F3-B12D-43A7-36E3-A8E181809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9902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24DCA-853D-BFBD-496A-A937F7C07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78B008-9EE1-2176-86D7-0C1F2EBF4B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4D14B-6C15-3106-A0F2-A2AF66AE2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47FB0-FC75-82FA-9B7B-844D7D056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832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3C05A-0927-B64F-8901-AF4D829AE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D2F25-CDE2-8D75-B3F6-E88AFED682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5C1CA8-BE5F-9F65-F601-6CB3A7F63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11B4E-339E-E00C-BDDB-1C600C322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38270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08914-0C79-EC25-4CA0-6DFC975C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F52C8-F5BB-01D3-1BC8-24F969B09E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D2756-8BF2-45D3-AEC7-92DDDCC9D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624F0-01A2-1567-BD50-1A915636E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16629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8F757-8B36-F484-4CE4-10F67797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D89E3-4002-714B-62DA-D9E99D217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04F57-6245-0375-13A4-7D942CAE3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B195F-3EAE-09C7-E06A-3D6A0146B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738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1EE43-7A2A-69F5-ED8F-3DCFA7FE2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4DD84F-DF15-2B5B-BF17-10050DF70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77783-D56B-A9EE-B8FB-5A768808B5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9DB7D-09E0-B422-5DD6-08685FD4D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18765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66780-3BD2-B4F4-5D71-0CB423E5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4221C-D134-8195-F2F6-D6F2D731F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8BF59-07BC-3A9F-1B79-352AFB1EEC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4BFF0-96CD-C0EF-5825-2F37ED6C2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22703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02535-69B3-7E21-AB43-5A9736998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29934-2DE1-8B6A-F07D-D4CBC3DF8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04E077-8500-DCFA-E51A-0B8817762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88248-1E40-C333-81F6-3F150E36E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233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0CB37-E904-6164-564D-90C45790D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782D9-EC52-ADDC-044D-CB704C36E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71E09-780F-D616-CB5D-FB7CB23BA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69AA7-1B03-C2E6-6BB0-77C302584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612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20A1-388F-E106-17A1-E34887FC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A5143-DCDB-7EE2-22D2-E0D7DD675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0DC535-85A7-9B5F-5C0B-E3E21B783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224B0-6E65-216B-434E-8287C0B4D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466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B664-5F45-6F78-3892-126EA930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94DC7-594D-23BF-BC0C-9DB51D06E4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B9638-45B3-5F1A-F445-E29E89D25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CC9B-2F4A-5028-0C33-D37092E1F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58715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F158D-3105-24A8-D9E3-DABE3CCF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38AC1-94E1-9855-C815-715151B6E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631F5-AED2-D6F3-991A-64C85E557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B5967-5C35-7FD2-BCA9-4ED4F9407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918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788A0-0E75-4899-333F-28C10C7F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85453B-942E-B41A-788E-966F10C2F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9ADD2-11CA-9BE8-DA12-56C9BAD52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DE1788-5BA7-723D-A4ED-AC89FBAF2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03474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EC5F-AA91-085C-4454-2B7DE7D83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07FF0-ADBA-2E13-FCB1-62F3A15D0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4D431-CE3C-9A2D-CF60-233F5D05E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A31F5-E964-9D50-A027-E39D12DAA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3189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C2811-6F9F-3E2F-0374-322A8302D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D51E12-3BAC-C484-6BFF-79551164D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3747F-1908-F7B3-6D19-1DAA52CE93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EBAC8-C786-77E5-1A03-6004C3A3B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5768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942C9-838C-6575-5941-F45A0E9D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9CD2C-8ABD-8C3D-97F3-8AB38619B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32A4E-120D-CED1-9D34-DA094F712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D6E1-9E4C-9895-6E21-D1DD89980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7360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4B31-10F2-4562-F1FD-2FDC795F1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78ABC-4249-D937-2132-92B1EB0A2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0F636-4504-1FBC-9976-3B5F7B49D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6079AC-4FD2-88A2-2F3E-4A937E2F7E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50649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FEAA-E7B8-2801-0B6D-209F0402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41450-9DFD-C3E8-9C4E-532AC3E1C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06BE-608E-101A-6495-4F503C4E1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777A-958C-732B-2E98-958AA2DDC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8964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2D64-6E6F-4F6C-0FD7-B0E0BFB9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E1D44-AC86-6B47-C6E9-FDDA862C6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3C2EE-54D8-0ACF-9FFD-4195263426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F506F-4331-2BB9-673D-CC82454EC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364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48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1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2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0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76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0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476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15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80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2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9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9673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644" y="1122363"/>
            <a:ext cx="10806546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11. pandas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C134C40-81B2-0A4A-938A-B69BDD1C00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Understand what pandas is and why it is used.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Create and manipulate Series and </a:t>
            </a:r>
            <a:r>
              <a:rPr lang="en-CA" sz="2400" dirty="0" err="1">
                <a:solidFill>
                  <a:schemeClr val="bg1"/>
                </a:solidFill>
              </a:rPr>
              <a:t>DataFrames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Import/export data from CSV files.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Explore, subset, and filter data.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Handle missing values.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Perform basic aggregation and group operations.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Apply transformations to data.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FAC98C-7BDA-F133-51BD-4B7C1F00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12,700+ Panda Icon Stock Illustrations, Royalty-Free Vector Graphics &amp; Clip  Art - iStock | Red panda icon">
            <a:extLst>
              <a:ext uri="{FF2B5EF4-FFF2-40B4-BE49-F238E27FC236}">
                <a16:creationId xmlns:a16="http://schemas.microsoft.com/office/drawing/2014/main" id="{B60CEF2F-F4C9-71EA-0830-BDFED0DFD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5556" y="14444"/>
            <a:ext cx="2306444" cy="230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BECA628-C625-C188-3F70-DF1EE7E6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Pandas?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DDEF6-E259-5101-90A0-A8D2BB2C0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Python library for data analyses and manipulation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Works with tabular data (like Excel, or CSV files)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Core data structures include:</a:t>
            </a:r>
          </a:p>
          <a:p>
            <a:pPr lvl="1">
              <a:lnSpc>
                <a:spcPct val="150000"/>
              </a:lnSpc>
            </a:pPr>
            <a:r>
              <a:rPr lang="en-CA" dirty="0" err="1">
                <a:solidFill>
                  <a:schemeClr val="bg1"/>
                </a:solidFill>
                <a:cs typeface="Courier New" panose="02070309020205020404" pitchFamily="49" charset="0"/>
              </a:rPr>
              <a:t>DataFrames</a:t>
            </a:r>
            <a:r>
              <a:rPr lang="en-CA" dirty="0">
                <a:solidFill>
                  <a:schemeClr val="bg1"/>
                </a:solidFill>
                <a:cs typeface="Courier New" panose="02070309020205020404" pitchFamily="49" charset="0"/>
              </a:rPr>
              <a:t> (2D labeled tables)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Series – 1D labeled array (single column)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We usually import pandas with an alias: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D230E0-1798-601D-411F-4A85A4B66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4388606"/>
              </p:ext>
            </p:extLst>
          </p:nvPr>
        </p:nvGraphicFramePr>
        <p:xfrm>
          <a:off x="8215600" y="4000358"/>
          <a:ext cx="31382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4550">
                  <a:extLst>
                    <a:ext uri="{9D8B030D-6E8A-4147-A177-3AD203B41FA5}">
                      <a16:colId xmlns:a16="http://schemas.microsoft.com/office/drawing/2014/main" val="3095245602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2190742328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4208942020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2397094750"/>
                    </a:ext>
                  </a:extLst>
                </a:gridCol>
              </a:tblGrid>
              <a:tr h="3279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67803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54630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9273787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529779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669382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15446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56F366-6E9F-CD04-C9AF-F6CFD333F66F}"/>
              </a:ext>
            </a:extLst>
          </p:cNvPr>
          <p:cNvSpPr txBox="1"/>
          <p:nvPr/>
        </p:nvSpPr>
        <p:spPr>
          <a:xfrm>
            <a:off x="872171" y="5483353"/>
            <a:ext cx="6208460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import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pandas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as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pd</a:t>
            </a:r>
            <a:endParaRPr lang="en-CA" sz="2400" dirty="0">
              <a:solidFill>
                <a:schemeClr val="accent6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84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52A86-E6EF-E175-F3CB-EC78C70D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C2F55-3D47-810D-C7D7-6BE24585C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DataFrames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F03A4-4E01-B05C-800F-5256B6CBF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Columns are labeled with their names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Rows also have label, or index</a:t>
            </a:r>
          </a:p>
          <a:p>
            <a:pPr lvl="1">
              <a:lnSpc>
                <a:spcPct val="150000"/>
              </a:lnSpc>
            </a:pPr>
            <a:r>
              <a:rPr lang="en-CA" dirty="0">
                <a:solidFill>
                  <a:schemeClr val="bg1"/>
                </a:solidFill>
                <a:cs typeface="Courier New" panose="02070309020205020404" pitchFamily="49" charset="0"/>
              </a:rPr>
              <a:t>If the row label is not specified, pandas uses numbers by default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Each column is a Series, or a 1D array, where values share a data type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Unlike </a:t>
            </a:r>
            <a:r>
              <a:rPr lang="en-US" sz="2400" dirty="0" err="1">
                <a:solidFill>
                  <a:schemeClr val="bg1"/>
                </a:solidFill>
                <a:cs typeface="Calibri Light" panose="020F0302020204030204" pitchFamily="34" charset="0"/>
              </a:rPr>
              <a:t>Numpy</a:t>
            </a: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 arrays, </a:t>
            </a:r>
            <a:r>
              <a:rPr lang="en-US" sz="2400" dirty="0" err="1">
                <a:solidFill>
                  <a:schemeClr val="bg1"/>
                </a:solidFill>
                <a:cs typeface="Calibri Light" panose="020F0302020204030204" pitchFamily="34" charset="0"/>
              </a:rPr>
              <a:t>DataFrames</a:t>
            </a: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 can have columns with different data types</a:t>
            </a:r>
          </a:p>
          <a:p>
            <a:pPr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cs typeface="Calibri Light" panose="020F0302020204030204" pitchFamily="34" charset="0"/>
              </a:rPr>
              <a:t>DataFrames</a:t>
            </a:r>
            <a:r>
              <a:rPr lang="en-US" sz="2400" b="1" dirty="0">
                <a:solidFill>
                  <a:schemeClr val="bg1"/>
                </a:solidFill>
                <a:cs typeface="Calibri Light" panose="020F0302020204030204" pitchFamily="34" charset="0"/>
              </a:rPr>
              <a:t> are mutable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A80EF7-6A28-EA9A-55DF-D915E7A0C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246412"/>
              </p:ext>
            </p:extLst>
          </p:nvPr>
        </p:nvGraphicFramePr>
        <p:xfrm>
          <a:off x="8487743" y="478964"/>
          <a:ext cx="31382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4550">
                  <a:extLst>
                    <a:ext uri="{9D8B030D-6E8A-4147-A177-3AD203B41FA5}">
                      <a16:colId xmlns:a16="http://schemas.microsoft.com/office/drawing/2014/main" val="3095245602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2190742328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4208942020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2397094750"/>
                    </a:ext>
                  </a:extLst>
                </a:gridCol>
              </a:tblGrid>
              <a:tr h="3279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67803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“o”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54630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“a-”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273787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“b+”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29779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“b-”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669382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“o”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544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687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4DAFF6-8B4E-EC3C-CEA9-62E5F4FB8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F2980-C85B-F592-D739-C7042B5C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DataFrames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BBA90-3DDE-8D60-B474-9500A4F8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9" y="1728064"/>
            <a:ext cx="7572076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manually create a </a:t>
            </a:r>
            <a:r>
              <a:rPr lang="en-CA" sz="2400" dirty="0" err="1">
                <a:solidFill>
                  <a:schemeClr val="bg1"/>
                </a:solidFill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 using </a:t>
            </a:r>
            <a:r>
              <a:rPr lang="en-CA" sz="2400" dirty="0" err="1">
                <a:solidFill>
                  <a:schemeClr val="bg1"/>
                </a:solidFill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()</a:t>
            </a:r>
          </a:p>
          <a:p>
            <a:pPr lvl="1">
              <a:lnSpc>
                <a:spcPct val="150000"/>
              </a:lnSpc>
            </a:pPr>
            <a:r>
              <a:rPr lang="en-CA" b="1" dirty="0">
                <a:solidFill>
                  <a:schemeClr val="bg1"/>
                </a:solidFill>
                <a:cs typeface="Courier New" panose="02070309020205020404" pitchFamily="49" charset="0"/>
              </a:rPr>
              <a:t>If a dictionary is passed into this function, the keys become the column names, and the values become the rows</a:t>
            </a:r>
            <a:endParaRPr lang="en-US" b="1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44D85E-B6AA-22D3-8CA9-29E79B6DAB17}"/>
              </a:ext>
            </a:extLst>
          </p:cNvPr>
          <p:cNvGraphicFramePr>
            <a:graphicFrameLocks noGrp="1"/>
          </p:cNvGraphicFramePr>
          <p:nvPr/>
        </p:nvGraphicFramePr>
        <p:xfrm>
          <a:off x="8487743" y="478964"/>
          <a:ext cx="3138200" cy="21945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4550">
                  <a:extLst>
                    <a:ext uri="{9D8B030D-6E8A-4147-A177-3AD203B41FA5}">
                      <a16:colId xmlns:a16="http://schemas.microsoft.com/office/drawing/2014/main" val="3095245602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2190742328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4208942020"/>
                    </a:ext>
                  </a:extLst>
                </a:gridCol>
                <a:gridCol w="784550">
                  <a:extLst>
                    <a:ext uri="{9D8B030D-6E8A-4147-A177-3AD203B41FA5}">
                      <a16:colId xmlns:a16="http://schemas.microsoft.com/office/drawing/2014/main" val="2397094750"/>
                    </a:ext>
                  </a:extLst>
                </a:gridCol>
              </a:tblGrid>
              <a:tr h="32796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667803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3.14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“o”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54630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7.65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“a-”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273787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2.56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“b+”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529779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7.89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“b-”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669382"/>
                  </a:ext>
                </a:extLst>
              </a:tr>
              <a:tr h="327963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False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“o”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15446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6FAAA6D-F107-41A6-A50A-F9AAE0E87A58}"/>
              </a:ext>
            </a:extLst>
          </p:cNvPr>
          <p:cNvSpPr txBox="1"/>
          <p:nvPr/>
        </p:nvSpPr>
        <p:spPr>
          <a:xfrm>
            <a:off x="1461996" y="4635860"/>
            <a:ext cx="8139204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pd.DataFrame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   "X": [True, False, True, True, False],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   "Y": [3.14, 7.65, 2.56, 7.89, 1.23],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   "Z": 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"o", "a-", "b+", "b-", "o"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  <a:endParaRPr lang="en-CA" sz="2400" dirty="0">
              <a:solidFill>
                <a:schemeClr val="accent6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4085692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FE734-84EB-D572-3CD2-2D1E6B60D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A956-D001-12C1-304A-088EFC025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DataFrames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F3F88-3C04-78B5-705D-EAE76322C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955699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Of course, we are more likely to load data into a </a:t>
            </a:r>
            <a:r>
              <a:rPr lang="en-CA" sz="2400" dirty="0" err="1">
                <a:solidFill>
                  <a:schemeClr val="bg1"/>
                </a:solidFill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 than create one manually.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Pandas has a read function for different file formats. For example, to read in a csv or other delimited file, we use </a:t>
            </a:r>
            <a:r>
              <a:rPr lang="en-CA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CA" sz="2400" b="1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then pass in the local file path of the csv to read</a:t>
            </a:r>
            <a:endParaRPr lang="en-US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6C09C0-6EF2-23F4-C1FF-F34CCF948AF2}"/>
              </a:ext>
            </a:extLst>
          </p:cNvPr>
          <p:cNvSpPr txBox="1"/>
          <p:nvPr/>
        </p:nvSpPr>
        <p:spPr>
          <a:xfrm>
            <a:off x="838200" y="4903490"/>
            <a:ext cx="10787744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pd.read_csv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'../../05_src/data/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slides_data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bicycle_thefts_4326.csv'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42810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6F167D-F1FA-9D58-A610-72017315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4A7A-3ECB-DBFD-3F58-FF5EB98AF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Inspecting </a:t>
            </a:r>
            <a:r>
              <a:rPr lang="en-US" dirty="0" err="1">
                <a:solidFill>
                  <a:schemeClr val="bg1"/>
                </a:solidFill>
              </a:rPr>
              <a:t>DataFrames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35853-C90E-4A8B-2245-B13A6B49C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Once we got our data, we can start to understand it by checking  attributes:</a:t>
            </a:r>
          </a:p>
          <a:p>
            <a:pPr lvl="1">
              <a:lnSpc>
                <a:spcPct val="150000"/>
              </a:lnSpc>
            </a:pPr>
            <a:r>
              <a:rPr lang="en-CA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dtypes</a:t>
            </a:r>
            <a:r>
              <a:rPr lang="en-CA" sz="2000" dirty="0">
                <a:solidFill>
                  <a:schemeClr val="bg1"/>
                </a:solidFill>
                <a:cs typeface="Courier New" panose="02070309020205020404" pitchFamily="49" charset="0"/>
              </a:rPr>
              <a:t> which give us column data types </a:t>
            </a:r>
          </a:p>
          <a:p>
            <a:pPr lvl="1">
              <a:lnSpc>
                <a:spcPct val="150000"/>
              </a:lnSpc>
            </a:pP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 </a:t>
            </a:r>
            <a:r>
              <a:rPr lang="en-CA" sz="2000" dirty="0">
                <a:solidFill>
                  <a:schemeClr val="bg1"/>
                </a:solidFill>
                <a:cs typeface="Courier New" panose="02070309020205020404" pitchFamily="49" charset="0"/>
              </a:rPr>
              <a:t>which give us the row by column dimensions.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FE031-C7AF-725C-7AB6-33C5DB83CD98}"/>
              </a:ext>
            </a:extLst>
          </p:cNvPr>
          <p:cNvSpPr txBox="1"/>
          <p:nvPr/>
        </p:nvSpPr>
        <p:spPr>
          <a:xfrm>
            <a:off x="838200" y="3676856"/>
            <a:ext cx="10787744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f.shape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 (25569, 33) meaning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25569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rows, 33 cols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B814F-EEC3-7BCB-ADE5-299D86C7CEAA}"/>
              </a:ext>
            </a:extLst>
          </p:cNvPr>
          <p:cNvSpPr txBox="1"/>
          <p:nvPr/>
        </p:nvSpPr>
        <p:spPr>
          <a:xfrm>
            <a:off x="838200" y="4416464"/>
            <a:ext cx="10787744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f.dtypes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#the object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dtype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is python’s way of saying string and is a catch-all for columns that don’t fit neatly into a more specific type like int, float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etc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370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02D788-5B8A-D018-1F16-E4956720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465D-B0E0-315C-5C42-345A87C56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Inspecting </a:t>
            </a:r>
            <a:r>
              <a:rPr lang="en-US" dirty="0" err="1">
                <a:solidFill>
                  <a:schemeClr val="bg1"/>
                </a:solidFill>
              </a:rPr>
              <a:t>DataFrames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BAC8-5418-1034-FD13-CFBB627D0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We can also have a look at the first few rows using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head()</a:t>
            </a:r>
            <a:r>
              <a:rPr lang="en-CA" sz="2400" dirty="0">
                <a:solidFill>
                  <a:schemeClr val="bg1"/>
                </a:solidFill>
                <a:cs typeface="Courier New" panose="02070309020205020404" pitchFamily="49" charset="0"/>
              </a:rPr>
              <a:t> method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Similarly, the last few rows with the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tail() </a:t>
            </a:r>
            <a:r>
              <a:rPr lang="en-US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method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A267A-3E45-5BC7-0C5F-D53F444C50F3}"/>
              </a:ext>
            </a:extLst>
          </p:cNvPr>
          <p:cNvSpPr txBox="1"/>
          <p:nvPr/>
        </p:nvSpPr>
        <p:spPr>
          <a:xfrm>
            <a:off x="838200" y="3676856"/>
            <a:ext cx="10787744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df.head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5 is the default argument, but we can also specify the number of rows we want to return by passing it as an integer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FB4F1-2EB2-2E61-376E-1B3ABDDA1BC8}"/>
              </a:ext>
            </a:extLst>
          </p:cNvPr>
          <p:cNvSpPr txBox="1"/>
          <p:nvPr/>
        </p:nvSpPr>
        <p:spPr>
          <a:xfrm>
            <a:off x="838200" y="5016628"/>
            <a:ext cx="10787744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df.tail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(3)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last 3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14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AB927-B7A0-487B-EBB0-31A00E12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2D9A2-941A-4D76-887B-9A5B87BE0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Renaming Columns in a </a:t>
            </a:r>
            <a:r>
              <a:rPr lang="en-US" dirty="0" err="1">
                <a:solidFill>
                  <a:schemeClr val="bg1"/>
                </a:solidFill>
              </a:rPr>
              <a:t>DataFrames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ABF6E-05A9-179F-909D-F62C5865E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We can rename any columns in our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that may not be so intuitive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We use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rename()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method to do this. This typically takes a dictionary with the current column name as the key, and the new name as the value</a:t>
            </a:r>
            <a:endParaRPr lang="en-US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E1DE9-F686-A9EE-4699-542E1978E5AD}"/>
              </a:ext>
            </a:extLst>
          </p:cNvPr>
          <p:cNvSpPr txBox="1"/>
          <p:nvPr/>
        </p:nvSpPr>
        <p:spPr>
          <a:xfrm>
            <a:off x="838200" y="3990716"/>
            <a:ext cx="10787744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df.rename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(columns =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{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”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cost_of_bike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”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: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 “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bike_cost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” 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0138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82E1CB-7B2F-E7A7-91F2-D91D573B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C64E-9E9F-432E-3B76-9EE805F13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Profiling Columns in a </a:t>
            </a:r>
            <a:r>
              <a:rPr lang="en-US" dirty="0" err="1">
                <a:solidFill>
                  <a:schemeClr val="bg1"/>
                </a:solidFill>
              </a:rPr>
              <a:t>DataFrames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A09EC-C109-D1B0-EDC0-C663496DE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It can be useful to focus on a subset of columns and understand their values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To select a single column, we can simply supply the name of the column in the [ ]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Pandas returns the column as a Series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To get unique values, we use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unique()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series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18F0A-67C2-9876-1385-AD01263DC295}"/>
              </a:ext>
            </a:extLst>
          </p:cNvPr>
          <p:cNvSpPr txBox="1"/>
          <p:nvPr/>
        </p:nvSpPr>
        <p:spPr>
          <a:xfrm>
            <a:off x="838200" y="4110980"/>
            <a:ext cx="10787744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“Status”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].unique()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#Output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array(['STOLEN', 'RECOVERED', 'UNKNOWN'],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dtype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=object)</a:t>
            </a:r>
          </a:p>
        </p:txBody>
      </p:sp>
    </p:spTree>
    <p:extLst>
      <p:ext uri="{BB962C8B-B14F-4D97-AF65-F5344CB8AC3E}">
        <p14:creationId xmlns:p14="http://schemas.microsoft.com/office/powerpoint/2010/main" val="373884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6F1A0-F8CF-E59F-54DB-AC740EFD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45F7B-5910-83E2-9C65-C34F2E87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Profiling Columns in a </a:t>
            </a:r>
            <a:r>
              <a:rPr lang="en-US" dirty="0" err="1">
                <a:solidFill>
                  <a:schemeClr val="bg1"/>
                </a:solidFill>
              </a:rPr>
              <a:t>DataFrames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6F152-B257-EDCA-70F1-FADD35EC0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If we wanted to count how many times each value appears, we use the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value_counts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method</a:t>
            </a:r>
            <a:endParaRPr lang="en-US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552FDF-32DE-BED6-EFB6-E79C8F383773}"/>
              </a:ext>
            </a:extLst>
          </p:cNvPr>
          <p:cNvSpPr txBox="1"/>
          <p:nvPr/>
        </p:nvSpPr>
        <p:spPr>
          <a:xfrm>
            <a:off x="702128" y="2707223"/>
            <a:ext cx="10787744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“Status”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].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value_counts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()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#Output </a:t>
            </a:r>
          </a:p>
          <a:p>
            <a:pPr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STOLEN       24807</a:t>
            </a:r>
          </a:p>
          <a:p>
            <a:pPr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UNKNOWN        454</a:t>
            </a:r>
          </a:p>
          <a:p>
            <a:pPr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RECOVERED      308</a:t>
            </a:r>
          </a:p>
          <a:p>
            <a:pPr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Name: Status, </a:t>
            </a:r>
            <a:r>
              <a:rPr lang="en-CA" sz="24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dtype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: int64</a:t>
            </a:r>
          </a:p>
        </p:txBody>
      </p:sp>
    </p:spTree>
    <p:extLst>
      <p:ext uri="{BB962C8B-B14F-4D97-AF65-F5344CB8AC3E}">
        <p14:creationId xmlns:p14="http://schemas.microsoft.com/office/powerpoint/2010/main" val="647648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BBEEE6-2453-9BC9-15C0-72B5BD10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125F-9832-A47B-726C-4C3240900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We can get an overview of the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by profiling it with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info()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method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This gives us the shape, as the number of rows and columns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The column names and their </a:t>
            </a:r>
            <a:r>
              <a:rPr lang="en-CA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dtype</a:t>
            </a:r>
            <a:endParaRPr lang="en-CA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The number of non-null values in each column, etc.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EC8D12-00BE-5A4C-90D2-F8F6ACE9FBB9}"/>
              </a:ext>
            </a:extLst>
          </p:cNvPr>
          <p:cNvSpPr txBox="1"/>
          <p:nvPr/>
        </p:nvSpPr>
        <p:spPr>
          <a:xfrm>
            <a:off x="702128" y="3660103"/>
            <a:ext cx="10787744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.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info()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#Output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&lt;class 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pandas.core.frame.DataFrame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'&gt;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RangeIndex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 25569 entries, 0 to 25568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Data columns (total 33 columns):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#   Column                 Non-Null Count 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Dtype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---  ------                 --------------  -----  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0   _id                    25569 non-null  int64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F88876A-4F97-6B21-EC91-76B65991630F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Profiling Columns in a DataFrames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35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88C3B2-0900-0065-8B44-041CBD1B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886-529A-F803-42F4-B5EA836B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Changing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5F1BB-9345-EAC6-76C9-16F30DE48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Before exploring our data frame any further, we can fix the occurrence date column because it’s supposed to represent date and times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To do so, we can use pandas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to_datetime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function, passing the column to convert it and then reassign the output back to the column we are converting</a:t>
            </a:r>
            <a:endParaRPr lang="en-US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DB659-A325-38E7-D939-E81405C70C2E}"/>
              </a:ext>
            </a:extLst>
          </p:cNvPr>
          <p:cNvSpPr txBox="1"/>
          <p:nvPr/>
        </p:nvSpPr>
        <p:spPr>
          <a:xfrm>
            <a:off x="838200" y="3746314"/>
            <a:ext cx="10787744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Convert occurrence date columns to datetime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”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ccurrence_Date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 "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pd.to_datetime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”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ccurrence_Date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endParaRPr lang="en-CA" sz="2400" b="0" dirty="0">
              <a:solidFill>
                <a:schemeClr val="bg1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E74D03-342E-CF7A-1E08-4065FF4FAA36}"/>
              </a:ext>
            </a:extLst>
          </p:cNvPr>
          <p:cNvSpPr txBox="1"/>
          <p:nvPr/>
        </p:nvSpPr>
        <p:spPr>
          <a:xfrm>
            <a:off x="838200" y="5379017"/>
            <a:ext cx="10787744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Convert Status columns to category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”Status"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 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”Status"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CA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astype</a:t>
            </a: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(“category”)</a:t>
            </a:r>
            <a:endParaRPr lang="en-CA" sz="2400" b="0" dirty="0">
              <a:solidFill>
                <a:schemeClr val="bg1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13D1F-19F6-3E99-C693-48AF9C354F0C}"/>
              </a:ext>
            </a:extLst>
          </p:cNvPr>
          <p:cNvSpPr txBox="1"/>
          <p:nvPr/>
        </p:nvSpPr>
        <p:spPr>
          <a:xfrm>
            <a:off x="7844423" y="4232742"/>
            <a:ext cx="4187743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000" b="0" i="0" dirty="0">
                <a:solidFill>
                  <a:schemeClr val="bg1"/>
                </a:solidFill>
                <a:effectLst/>
              </a:rPr>
              <a:t>All other data type conversions can be done with the </a:t>
            </a:r>
            <a:r>
              <a:rPr lang="en-CA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2000" b="0" i="0" dirty="0">
                <a:solidFill>
                  <a:schemeClr val="bg1"/>
                </a:solidFill>
                <a:effectLst/>
              </a:rPr>
              <a:t>method</a:t>
            </a:r>
            <a:r>
              <a:rPr lang="en-CA" sz="2000" dirty="0">
                <a:solidFill>
                  <a:schemeClr val="bg1"/>
                </a:solidFill>
              </a:rPr>
              <a:t>!</a:t>
            </a:r>
            <a:r>
              <a:rPr lang="en-CA" sz="2000" b="0" i="0" dirty="0">
                <a:solidFill>
                  <a:schemeClr val="bg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8340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62AE0-7A03-5060-7501-FC823315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E9BF-70E5-853D-D4DC-89F7D380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Describing  </a:t>
            </a:r>
            <a:r>
              <a:rPr lang="en-US" dirty="0" err="1">
                <a:solidFill>
                  <a:schemeClr val="bg1"/>
                </a:solidFill>
              </a:rPr>
              <a:t>DataFrame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E9D21-97A2-FF2F-294F-71A6CBE59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To get a sense of the values in a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, we can use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describe()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method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This summarizes only numeric columns by default, passing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include= all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argument produces summary statistics for all the columns</a:t>
            </a:r>
            <a:endParaRPr lang="en-US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F4351-49FD-269E-D8CA-7D031C90EC5A}"/>
              </a:ext>
            </a:extLst>
          </p:cNvPr>
          <p:cNvSpPr txBox="1"/>
          <p:nvPr/>
        </p:nvSpPr>
        <p:spPr>
          <a:xfrm>
            <a:off x="838200" y="3746314"/>
            <a:ext cx="10787744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f.describe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(include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“all”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 Output includes counts, unique values, top values, frequencies etc.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2753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78FBD8-21E3-2160-71E5-026280C1C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7C4F1-98C1-277E-6FE4-3F61BCC0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Dropping columns, creating new 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E859D-11EF-097F-4B81-C140FD7AB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We can drop a column using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drop()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method and passing the column name we want to drop in the columns keyword argument</a:t>
            </a:r>
            <a:endParaRPr lang="en-US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CB07E-C2B1-6AD3-9AD5-40E45D08317C}"/>
              </a:ext>
            </a:extLst>
          </p:cNvPr>
          <p:cNvSpPr txBox="1"/>
          <p:nvPr/>
        </p:nvSpPr>
        <p:spPr>
          <a:xfrm>
            <a:off x="838200" y="2703404"/>
            <a:ext cx="10787744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df.drop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(columns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“_id”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Output would be the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dataframe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without _id column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0E9CB4-A76F-37BD-565F-2F5C690887B9}"/>
              </a:ext>
            </a:extLst>
          </p:cNvPr>
          <p:cNvSpPr txBox="1"/>
          <p:nvPr/>
        </p:nvSpPr>
        <p:spPr>
          <a:xfrm>
            <a:off x="6497782" y="3903733"/>
            <a:ext cx="5128162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</a:rPr>
              <a:t>In pandas, </a:t>
            </a:r>
            <a:r>
              <a:rPr lang="en-CA" sz="2000" b="1" dirty="0">
                <a:solidFill>
                  <a:schemeClr val="bg1"/>
                </a:solidFill>
              </a:rPr>
              <a:t>most operations return a new </a:t>
            </a:r>
            <a:r>
              <a:rPr lang="en-CA" sz="2000" b="1" dirty="0" err="1">
                <a:solidFill>
                  <a:schemeClr val="bg1"/>
                </a:solidFill>
              </a:rPr>
              <a:t>DataFrame</a:t>
            </a:r>
            <a:r>
              <a:rPr lang="en-CA" sz="2000" b="1" dirty="0">
                <a:solidFill>
                  <a:schemeClr val="bg1"/>
                </a:solidFill>
              </a:rPr>
              <a:t> by default</a:t>
            </a:r>
            <a:r>
              <a:rPr lang="en-CA" sz="2000" dirty="0">
                <a:solidFill>
                  <a:schemeClr val="bg1"/>
                </a:solidFill>
              </a:rPr>
              <a:t> and do </a:t>
            </a:r>
            <a:r>
              <a:rPr lang="en-CA" sz="2000" b="1" dirty="0">
                <a:solidFill>
                  <a:schemeClr val="bg1"/>
                </a:solidFill>
              </a:rPr>
              <a:t>not modify the original </a:t>
            </a:r>
            <a:r>
              <a:rPr lang="en-CA" sz="2000" b="1" dirty="0" err="1">
                <a:solidFill>
                  <a:schemeClr val="bg1"/>
                </a:solidFill>
              </a:rPr>
              <a:t>DataFrame</a:t>
            </a:r>
            <a:r>
              <a:rPr lang="en-CA" sz="2000" b="1" dirty="0">
                <a:solidFill>
                  <a:schemeClr val="bg1"/>
                </a:solidFill>
              </a:rPr>
              <a:t> in place</a:t>
            </a:r>
            <a:r>
              <a:rPr lang="en-CA" sz="2000" dirty="0">
                <a:solidFill>
                  <a:schemeClr val="bg1"/>
                </a:solidFill>
              </a:rPr>
              <a:t> unless you explicitly tell them to.</a:t>
            </a:r>
          </a:p>
          <a:p>
            <a:r>
              <a:rPr lang="en-CA" sz="2000" b="0" i="0" dirty="0">
                <a:solidFill>
                  <a:schemeClr val="bg1"/>
                </a:solidFill>
                <a:effectLst/>
              </a:rPr>
              <a:t>So, we need to assign this expression back to the variable to save our changes!</a:t>
            </a:r>
          </a:p>
        </p:txBody>
      </p:sp>
    </p:spTree>
    <p:extLst>
      <p:ext uri="{BB962C8B-B14F-4D97-AF65-F5344CB8AC3E}">
        <p14:creationId xmlns:p14="http://schemas.microsoft.com/office/powerpoint/2010/main" val="2864600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A682A-8C64-FBDD-8539-BE734C38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43AE0-B39E-5155-4EE7-ED3C1A9E5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Dropping columns, creating new 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03C22-D358-4385-2A2B-39049F113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Adding a new column to a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looks similar to adding a key-value pair to a dictionary. At its simplest, we can assign a single value to repeat down a column</a:t>
            </a:r>
          </a:p>
          <a:p>
            <a:pPr>
              <a:lnSpc>
                <a:spcPct val="100000"/>
              </a:lnSpc>
            </a:pPr>
            <a:endParaRPr lang="en-CA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CA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You can also create a new column by extracting specific parts of an existing column.</a:t>
            </a:r>
            <a:endParaRPr lang="en-CA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7780A-E6C4-25AB-8130-385629130C4C}"/>
              </a:ext>
            </a:extLst>
          </p:cNvPr>
          <p:cNvSpPr txBox="1"/>
          <p:nvPr/>
        </p:nvSpPr>
        <p:spPr>
          <a:xfrm>
            <a:off x="838200" y="2722418"/>
            <a:ext cx="10787744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current_year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7AF6CB-2069-6D7B-DD1C-8D387F56F10D}"/>
              </a:ext>
            </a:extLst>
          </p:cNvPr>
          <p:cNvSpPr txBox="1"/>
          <p:nvPr/>
        </p:nvSpPr>
        <p:spPr>
          <a:xfrm>
            <a:off x="838200" y="4400910"/>
            <a:ext cx="10787744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Occurrence_Month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"] </a:t>
            </a: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= </a:t>
            </a:r>
            <a:r>
              <a:rPr lang="en-CA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df</a:t>
            </a: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 </a:t>
            </a:r>
            <a:r>
              <a:rPr lang="en-CA" sz="2400" dirty="0" err="1">
                <a:solidFill>
                  <a:schemeClr val="accent6"/>
                </a:solidFill>
                <a:latin typeface="Courier New" panose="02070309020205020404" pitchFamily="49" charset="0"/>
              </a:rPr>
              <a:t>Occurrence_Month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</a:t>
            </a:r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].str[:3]</a:t>
            </a:r>
          </a:p>
        </p:txBody>
      </p:sp>
    </p:spTree>
    <p:extLst>
      <p:ext uri="{BB962C8B-B14F-4D97-AF65-F5344CB8AC3E}">
        <p14:creationId xmlns:p14="http://schemas.microsoft.com/office/powerpoint/2010/main" val="3436753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0F0B8-5AD9-A1ED-F4A4-A84F8B287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1E81-F096-2030-1A1A-367FE5F5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and 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E19B-43B2-DF25-AAC8-B50F38C7F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Let’s see if our 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contains any NA values.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We could identify them using .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loc[],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which allows us to access rows and columns based on either a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boolean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array or row/column labels.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In this case, the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boolean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array can be created using the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isna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method, which returns True for missing values and False otherwise.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E12201-DEE0-E086-8238-67B581DE2890}"/>
              </a:ext>
            </a:extLst>
          </p:cNvPr>
          <p:cNvSpPr txBox="1"/>
          <p:nvPr/>
        </p:nvSpPr>
        <p:spPr>
          <a:xfrm>
            <a:off x="838200" y="4181748"/>
            <a:ext cx="10787744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access rows of data where line is NA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df.loc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‘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Bike_Model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isna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()]</a:t>
            </a:r>
          </a:p>
        </p:txBody>
      </p:sp>
    </p:spTree>
    <p:extLst>
      <p:ext uri="{BB962C8B-B14F-4D97-AF65-F5344CB8AC3E}">
        <p14:creationId xmlns:p14="http://schemas.microsoft.com/office/powerpoint/2010/main" val="97931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11825-6E12-9DDC-C428-5AC96B8B0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EEE83-8808-67F2-D00E-80C34940E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and 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E481-BDA7-1210-275D-6694E9B6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Alternatively, we can use the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query()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method, which takes a filter condition as a string, and returns a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of records that meet a condition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5E0A20-C34E-EDC2-39E0-C5B3FC2CAA42}"/>
              </a:ext>
            </a:extLst>
          </p:cNvPr>
          <p:cNvSpPr txBox="1"/>
          <p:nvPr/>
        </p:nvSpPr>
        <p:spPr>
          <a:xfrm>
            <a:off x="935182" y="3013501"/>
            <a:ext cx="10787744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access rows of data where line is NA </a:t>
            </a:r>
            <a:endParaRPr lang="en-CA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df.query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Bike_Model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isna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()"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9E51B-9526-EBA3-D03D-B46824A95D10}"/>
              </a:ext>
            </a:extLst>
          </p:cNvPr>
          <p:cNvSpPr txBox="1"/>
          <p:nvPr/>
        </p:nvSpPr>
        <p:spPr>
          <a:xfrm>
            <a:off x="6497782" y="3903733"/>
            <a:ext cx="5128162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000" b="1" dirty="0">
                <a:solidFill>
                  <a:schemeClr val="bg1"/>
                </a:solidFill>
              </a:rPr>
              <a:t>query()</a:t>
            </a:r>
            <a:r>
              <a:rPr lang="en-CA" sz="2000" b="1" i="0" dirty="0">
                <a:solidFill>
                  <a:schemeClr val="bg1"/>
                </a:solidFill>
                <a:effectLst/>
                <a:latin typeface="system-ui"/>
              </a:rPr>
              <a:t> </a:t>
            </a:r>
            <a:r>
              <a:rPr lang="en-CA" sz="2000" b="0" i="0" dirty="0">
                <a:solidFill>
                  <a:schemeClr val="bg1"/>
                </a:solidFill>
                <a:effectLst/>
                <a:latin typeface="system-ui"/>
              </a:rPr>
              <a:t>is slower than </a:t>
            </a:r>
            <a:r>
              <a:rPr lang="en-CA" sz="2000" b="1" dirty="0">
                <a:solidFill>
                  <a:schemeClr val="bg1"/>
                </a:solidFill>
              </a:rPr>
              <a:t>loc[]</a:t>
            </a:r>
            <a:r>
              <a:rPr lang="en-CA" sz="2000" b="1" i="0" dirty="0">
                <a:solidFill>
                  <a:schemeClr val="bg1"/>
                </a:solidFill>
                <a:effectLst/>
                <a:latin typeface="system-ui"/>
              </a:rPr>
              <a:t>, </a:t>
            </a:r>
            <a:r>
              <a:rPr lang="en-CA" sz="2000" b="0" i="0" dirty="0">
                <a:solidFill>
                  <a:schemeClr val="bg1"/>
                </a:solidFill>
                <a:effectLst/>
                <a:latin typeface="system-ui"/>
              </a:rPr>
              <a:t>but it can be easier to read.</a:t>
            </a:r>
            <a:endParaRPr lang="en-CA" sz="2000" b="0" i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50971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E2D9F-39B7-9FE9-D6E4-F7D0D9EFA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EC82F-9F1B-400E-ECAE-AFC30B723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Filtering and 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8EB1A-3DD9-714E-3275-A09C0143A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We can use the .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loc[]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and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isin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to filter rows in a </a:t>
            </a:r>
            <a:r>
              <a:rPr lang="en-CA" sz="2400" dirty="0" err="1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DataFrame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 by providing a list of values for a column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3842AE-269B-D106-123C-DC64FFDC706A}"/>
              </a:ext>
            </a:extLst>
          </p:cNvPr>
          <p:cNvSpPr txBox="1"/>
          <p:nvPr/>
        </p:nvSpPr>
        <p:spPr>
          <a:xfrm>
            <a:off x="838200" y="3156511"/>
            <a:ext cx="10787744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Models_to_keep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"HYBRID","SIRRUS","ESCAPE"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]</a:t>
            </a:r>
          </a:p>
          <a:p>
            <a:r>
              <a:rPr lang="en-CA" sz="2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Filter using .loc[]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df.loc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Bike_Model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isin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Models_to_keep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47841C-21C2-461C-077F-50DCB35FD15F}"/>
              </a:ext>
            </a:extLst>
          </p:cNvPr>
          <p:cNvSpPr txBox="1"/>
          <p:nvPr/>
        </p:nvSpPr>
        <p:spPr>
          <a:xfrm>
            <a:off x="5529944" y="4609327"/>
            <a:ext cx="6096000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CA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isin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(list) </a:t>
            </a:r>
            <a:r>
              <a:rPr lang="en-CA" sz="2000" dirty="0">
                <a:solidFill>
                  <a:schemeClr val="bg1"/>
                </a:solidFill>
              </a:rPr>
              <a:t>checks if each element in the column exists in the list.</a:t>
            </a:r>
          </a:p>
          <a:p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.loc[] </a:t>
            </a:r>
            <a:r>
              <a:rPr lang="en-CA" sz="2000" dirty="0">
                <a:solidFill>
                  <a:schemeClr val="bg1"/>
                </a:solidFill>
              </a:rPr>
              <a:t>selects the rows that meet the condition.</a:t>
            </a:r>
          </a:p>
        </p:txBody>
      </p:sp>
    </p:spTree>
    <p:extLst>
      <p:ext uri="{BB962C8B-B14F-4D97-AF65-F5344CB8AC3E}">
        <p14:creationId xmlns:p14="http://schemas.microsoft.com/office/powerpoint/2010/main" val="1040576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98FC4-8E4A-2CAA-6C25-1ED1E6572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A205A-7673-D98C-39C2-B407945D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Replacing values with </a:t>
            </a:r>
            <a:r>
              <a:rPr lang="en-US" dirty="0" err="1">
                <a:solidFill>
                  <a:schemeClr val="bg1"/>
                </a:solidFill>
              </a:rPr>
              <a:t>str.replace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12A2A-4256-FD98-FFAB-9D005B3FA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As we’ve seen when investigating string methods, we can replace values using the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str.replace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5A6B1-AD4A-5937-5CFF-5A35362B2B05}"/>
              </a:ext>
            </a:extLst>
          </p:cNvPr>
          <p:cNvSpPr txBox="1"/>
          <p:nvPr/>
        </p:nvSpPr>
        <p:spPr>
          <a:xfrm>
            <a:off x="838200" y="3013501"/>
            <a:ext cx="11071302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chemeClr val="accent1"/>
                </a:solidFill>
                <a:effectLst/>
                <a:latin typeface="Courier New" panose="02070309020205020404" pitchFamily="49" charset="0"/>
              </a:rPr>
              <a:t>#This makes all the upper case A’s lowercase</a:t>
            </a: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‘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Bike_Model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(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‘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Bike_Model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</a:t>
            </a:r>
            <a:r>
              <a:rPr lang="en-CA" sz="2400" b="0" dirty="0" err="1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.replace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'A'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'a'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126708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65BD4-BDFA-857D-0DE7-A4B6B936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866CF-1749-465F-456F-A8C263BB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Grouping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34DA5-6566-0AA7-0EB5-9B8712517C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A core workflow in pandas is split-apply-combine</a:t>
            </a:r>
          </a:p>
          <a:p>
            <a:pPr lvl="1">
              <a:lnSpc>
                <a:spcPct val="100000"/>
              </a:lnSpc>
            </a:pPr>
            <a:r>
              <a:rPr lang="en-CA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Splitting data into groups</a:t>
            </a:r>
          </a:p>
          <a:p>
            <a:pPr lvl="1">
              <a:lnSpc>
                <a:spcPct val="100000"/>
              </a:lnSpc>
            </a:pPr>
            <a:r>
              <a:rPr lang="en-CA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Applying a function to each group</a:t>
            </a:r>
          </a:p>
          <a:p>
            <a:pPr lvl="1">
              <a:lnSpc>
                <a:spcPct val="100000"/>
              </a:lnSpc>
            </a:pPr>
            <a:r>
              <a:rPr lang="en-CA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Combining the result into a data structure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This workflow starts by grouping data , calling the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groupby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method</a:t>
            </a:r>
          </a:p>
          <a:p>
            <a:pPr>
              <a:lnSpc>
                <a:spcPct val="100000"/>
              </a:lnSpc>
            </a:pPr>
            <a:endParaRPr lang="en-CA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endParaRPr lang="en-CA" sz="2400" dirty="0">
              <a:solidFill>
                <a:schemeClr val="bg1"/>
              </a:solidFill>
              <a:latin typeface="+mj-lt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Then, we can apply a specific function to each group, for example</a:t>
            </a: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43C22-FD8C-161C-1E42-93F02C6ED034}"/>
              </a:ext>
            </a:extLst>
          </p:cNvPr>
          <p:cNvSpPr txBox="1"/>
          <p:nvPr/>
        </p:nvSpPr>
        <p:spPr>
          <a:xfrm>
            <a:off x="838200" y="4011028"/>
            <a:ext cx="10787744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#Let’s first group the data by </a:t>
            </a:r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bike model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Model_Groups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df.groupby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”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Bike_Model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EBCE0-33A0-A602-B2C6-12294E8F8B69}"/>
              </a:ext>
            </a:extLst>
          </p:cNvPr>
          <p:cNvSpPr txBox="1"/>
          <p:nvPr/>
        </p:nvSpPr>
        <p:spPr>
          <a:xfrm>
            <a:off x="838200" y="5562738"/>
            <a:ext cx="10787744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#Identify unique manufacturers for each group</a:t>
            </a: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Model_Groups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‘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Bike_Make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</a:rPr>
              <a:t>’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].unique()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34E75-523C-1803-BE07-6200AD2909DF}"/>
              </a:ext>
            </a:extLst>
          </p:cNvPr>
          <p:cNvSpPr txBox="1"/>
          <p:nvPr/>
        </p:nvSpPr>
        <p:spPr>
          <a:xfrm>
            <a:off x="6456217" y="324360"/>
            <a:ext cx="5403273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000" dirty="0">
                <a:solidFill>
                  <a:schemeClr val="bg1"/>
                </a:solidFill>
                <a:cs typeface="Courier New" panose="02070309020205020404" pitchFamily="49" charset="0"/>
              </a:rPr>
              <a:t>Note, we can group by more than one column by passing a list into the </a:t>
            </a:r>
            <a:r>
              <a:rPr lang="en-CA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groupby</a:t>
            </a:r>
            <a:r>
              <a:rPr lang="en-CA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810790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47878E-8625-565C-1FBF-B8F585FB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E17AB-8841-A292-57C6-44B60517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Writing to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9DD1-C6EE-7BE3-39C6-9E33E51CF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128" y="1728064"/>
            <a:ext cx="10787744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To save our modified </a:t>
            </a:r>
            <a:r>
              <a:rPr lang="en-CA" sz="2400" dirty="0" err="1">
                <a:solidFill>
                  <a:schemeClr val="bg1"/>
                </a:solidFill>
              </a:rPr>
              <a:t>DataFrame</a:t>
            </a:r>
            <a:r>
              <a:rPr lang="en-CA" sz="2400" dirty="0">
                <a:solidFill>
                  <a:schemeClr val="bg1"/>
                </a:solidFill>
              </a:rPr>
              <a:t> to a file for sharing or later use, we use the method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df.to_csv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First argument is the file path where the CSV will be saved.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If no path is specified, it saves to the current working directory.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BD4EB1-881D-155D-F495-7DC742F15C81}"/>
              </a:ext>
            </a:extLst>
          </p:cNvPr>
          <p:cNvSpPr txBox="1"/>
          <p:nvPr/>
        </p:nvSpPr>
        <p:spPr>
          <a:xfrm>
            <a:off x="838200" y="3444300"/>
            <a:ext cx="10787744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df.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to_csv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updated_df.csv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7141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8F5A4-247B-FD3B-7966-8BD4F463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4928-66AC-052C-A693-917A8FDD1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18933-B005-7556-C97E-44007787A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1. What is the primary data structure in pandas?</a:t>
            </a: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List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Dictionary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Series and </a:t>
            </a:r>
            <a:r>
              <a:rPr lang="en-CA" sz="2400" dirty="0" err="1">
                <a:solidFill>
                  <a:schemeClr val="bg1"/>
                </a:solidFill>
              </a:rPr>
              <a:t>DataFrames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Arrays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744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5328B-AA74-4DD1-070C-BA32C330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2131-F242-F3F5-B4B8-84E0A4A60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9D0A-A4DD-EA1E-9F3E-5D5E5B888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2.Which of the following creates a pandas </a:t>
            </a:r>
            <a:r>
              <a:rPr lang="en-CA" sz="2400" b="1" dirty="0" err="1">
                <a:solidFill>
                  <a:schemeClr val="bg1"/>
                </a:solidFill>
              </a:rPr>
              <a:t>DataFrame</a:t>
            </a:r>
            <a:r>
              <a:rPr lang="en-CA" sz="2400" b="1" dirty="0">
                <a:solidFill>
                  <a:schemeClr val="bg1"/>
                </a:solidFill>
              </a:rPr>
              <a:t> from a dictionary?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pd.DataFrame</a:t>
            </a:r>
            <a:r>
              <a:rPr lang="en-CA" sz="2400" dirty="0">
                <a:solidFill>
                  <a:schemeClr val="bg1"/>
                </a:solidFill>
              </a:rPr>
              <a:t>([1,2,3])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pd.DataFrame</a:t>
            </a:r>
            <a:r>
              <a:rPr lang="en-CA" sz="2400" dirty="0">
                <a:solidFill>
                  <a:schemeClr val="bg1"/>
                </a:solidFill>
              </a:rPr>
              <a:t>({'A':[1,2],'B':[3,4]})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pd.Series</a:t>
            </a:r>
            <a:r>
              <a:rPr lang="en-CA" sz="2400" dirty="0">
                <a:solidFill>
                  <a:schemeClr val="bg1"/>
                </a:solidFill>
              </a:rPr>
              <a:t>({'A':1,'B':2})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DataFrame</a:t>
            </a:r>
            <a:r>
              <a:rPr lang="en-CA" sz="2400" dirty="0">
                <a:solidFill>
                  <a:schemeClr val="bg1"/>
                </a:solidFill>
              </a:rPr>
              <a:t>([{'A':1,'B':2}])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828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14ABE-3F22-1B6A-198E-25EAF399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BBD23-CE99-EEE3-A665-35B97219A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49967-6C99-277D-AD99-D367FF8DA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3.How do you select the first 5 rows of a </a:t>
            </a:r>
            <a:r>
              <a:rPr lang="en-CA" sz="2400" b="1" dirty="0" err="1">
                <a:solidFill>
                  <a:schemeClr val="bg1"/>
                </a:solidFill>
              </a:rPr>
              <a:t>DataFrame</a:t>
            </a:r>
            <a:r>
              <a:rPr lang="en-CA" sz="2400" b="1" dirty="0">
                <a:solidFill>
                  <a:schemeClr val="bg1"/>
                </a:solidFill>
              </a:rPr>
              <a:t> </a:t>
            </a:r>
            <a:r>
              <a:rPr lang="en-CA" sz="2400" b="1" dirty="0" err="1">
                <a:solidFill>
                  <a:schemeClr val="bg1"/>
                </a:solidFill>
              </a:rPr>
              <a:t>df</a:t>
            </a:r>
            <a:r>
              <a:rPr lang="en-CA" sz="2400" b="1" dirty="0">
                <a:solidFill>
                  <a:schemeClr val="bg1"/>
                </a:solidFill>
              </a:rPr>
              <a:t>?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df.head</a:t>
            </a:r>
            <a:r>
              <a:rPr lang="en-CA" sz="2400" dirty="0">
                <a:solidFill>
                  <a:schemeClr val="bg1"/>
                </a:solidFill>
              </a:rPr>
              <a:t>()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df.tail</a:t>
            </a:r>
            <a:r>
              <a:rPr lang="en-CA" sz="2400" dirty="0">
                <a:solidFill>
                  <a:schemeClr val="bg1"/>
                </a:solidFill>
              </a:rPr>
              <a:t>()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df.first</a:t>
            </a:r>
            <a:r>
              <a:rPr lang="en-CA" sz="2400" dirty="0">
                <a:solidFill>
                  <a:schemeClr val="bg1"/>
                </a:solidFill>
              </a:rPr>
              <a:t>()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None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407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95E90-09A7-67CB-D6A6-740FA3F8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CFDC-BDB5-3BB5-8BA7-AF0124CB6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675D3-D920-4F03-91D2-66B01AB1D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4.How do you select the single column ‘age’ from the </a:t>
            </a:r>
            <a:r>
              <a:rPr lang="en-CA" sz="2400" b="1" dirty="0" err="1">
                <a:solidFill>
                  <a:schemeClr val="bg1"/>
                </a:solidFill>
              </a:rPr>
              <a:t>DataFrame</a:t>
            </a:r>
            <a:r>
              <a:rPr lang="en-CA" sz="2400" b="1" dirty="0">
                <a:solidFill>
                  <a:schemeClr val="bg1"/>
                </a:solidFill>
              </a:rPr>
              <a:t> </a:t>
            </a:r>
            <a:r>
              <a:rPr lang="en-CA" sz="2400" b="1" dirty="0" err="1">
                <a:solidFill>
                  <a:schemeClr val="bg1"/>
                </a:solidFill>
              </a:rPr>
              <a:t>df</a:t>
            </a: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</a:t>
            </a:r>
            <a:r>
              <a:rPr lang="en-CA" sz="2400" dirty="0">
                <a:solidFill>
                  <a:schemeClr val="bg1"/>
                </a:solidFill>
              </a:rPr>
              <a:t>[‘age’]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df$age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Both a &amp; b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None</a:t>
            </a: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90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26C61-6C03-2057-7111-AC563E1E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126EE-54B5-CA6E-5BCF-413F9E23D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Pandas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FEB9-12CA-51E5-08EC-4D1E2EBD4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5.How do you drop rows with missing values from a </a:t>
            </a:r>
            <a:r>
              <a:rPr lang="en-CA" sz="2400" b="1" dirty="0" err="1">
                <a:solidFill>
                  <a:schemeClr val="bg1"/>
                </a:solidFill>
              </a:rPr>
              <a:t>DataFrame</a:t>
            </a:r>
            <a:r>
              <a:rPr lang="en-CA" sz="2400" b="1" dirty="0">
                <a:solidFill>
                  <a:schemeClr val="bg1"/>
                </a:solidFill>
              </a:rPr>
              <a:t> </a:t>
            </a:r>
            <a:r>
              <a:rPr lang="en-CA" sz="2400" b="1" dirty="0" err="1">
                <a:solidFill>
                  <a:schemeClr val="bg1"/>
                </a:solidFill>
              </a:rPr>
              <a:t>df</a:t>
            </a:r>
            <a:r>
              <a:rPr lang="en-CA" sz="2400" b="1" dirty="0">
                <a:solidFill>
                  <a:schemeClr val="bg1"/>
                </a:solidFill>
              </a:rPr>
              <a:t>? 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df.dropna</a:t>
            </a:r>
            <a:r>
              <a:rPr lang="en-CA" sz="2400" dirty="0">
                <a:solidFill>
                  <a:schemeClr val="bg1"/>
                </a:solidFill>
              </a:rPr>
              <a:t>()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df.drop</a:t>
            </a:r>
            <a:r>
              <a:rPr lang="en-CA" sz="2400" dirty="0">
                <a:solidFill>
                  <a:schemeClr val="bg1"/>
                </a:solidFill>
              </a:rPr>
              <a:t>()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df.remove_na</a:t>
            </a:r>
            <a:r>
              <a:rPr lang="en-CA" sz="2400" dirty="0">
                <a:solidFill>
                  <a:schemeClr val="bg1"/>
                </a:solidFill>
              </a:rPr>
              <a:t>()</a:t>
            </a:r>
          </a:p>
          <a:p>
            <a:pPr marL="457200" indent="-457200">
              <a:buFont typeface="+mj-lt"/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df.delna</a:t>
            </a:r>
            <a:r>
              <a:rPr lang="en-CA" sz="2400" dirty="0">
                <a:solidFill>
                  <a:schemeClr val="bg1"/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970541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49CFF-50AB-E0F7-BA1B-5451FC32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1731-A654-0B6F-4DBA-C7778A30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0942-0BFA-C53B-C9B6-AE250C3C9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Read the CSV file </a:t>
            </a:r>
            <a:r>
              <a:rPr lang="en-CA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subway_stations.csv</a:t>
            </a:r>
            <a:r>
              <a:rPr lang="en-CA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b="0" dirty="0">
                <a:solidFill>
                  <a:schemeClr val="bg1"/>
                </a:solidFill>
                <a:effectLst/>
              </a:rPr>
              <a:t>into a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DataFrame</a:t>
            </a:r>
            <a:r>
              <a:rPr lang="en-CA" b="0" dirty="0">
                <a:solidFill>
                  <a:schemeClr val="bg1"/>
                </a:solidFill>
                <a:effectLst/>
              </a:rPr>
              <a:t> called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df</a:t>
            </a:r>
            <a:r>
              <a:rPr lang="en-CA" b="0" dirty="0">
                <a:solidFill>
                  <a:schemeClr val="bg1"/>
                </a:solidFill>
                <a:effectLst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Display the first 5 rows of the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DataFrame</a:t>
            </a:r>
            <a:r>
              <a:rPr lang="en-CA" b="0" dirty="0">
                <a:solidFill>
                  <a:schemeClr val="bg1"/>
                </a:solidFill>
                <a:effectLst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Display the last 2 rows of the </a:t>
            </a:r>
            <a:r>
              <a:rPr lang="en-CA" dirty="0" err="1">
                <a:solidFill>
                  <a:schemeClr val="bg1"/>
                </a:solidFill>
              </a:rPr>
              <a:t>DataFrame</a:t>
            </a:r>
            <a:r>
              <a:rPr lang="en-CA" dirty="0">
                <a:solidFill>
                  <a:schemeClr val="bg1"/>
                </a:solidFill>
              </a:rPr>
              <a:t>.</a:t>
            </a:r>
            <a:endParaRPr lang="en-CA" b="0" dirty="0">
              <a:solidFill>
                <a:schemeClr val="bg1"/>
              </a:solidFill>
              <a:effectLst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Check the number of rows and columns in the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DataFrame</a:t>
            </a:r>
            <a:r>
              <a:rPr lang="en-CA" b="0" dirty="0">
                <a:solidFill>
                  <a:schemeClr val="bg1"/>
                </a:solidFill>
                <a:effectLst/>
              </a:rPr>
              <a:t>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Filter the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DataFrame</a:t>
            </a:r>
            <a:r>
              <a:rPr lang="en-CA" b="0" dirty="0">
                <a:solidFill>
                  <a:schemeClr val="bg1"/>
                </a:solidFill>
                <a:effectLst/>
              </a:rPr>
              <a:t> to show only rows where station is "COLLEGE STATION” or “ROYAL YORK STATION”.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Export the filtered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DataFrame</a:t>
            </a:r>
            <a:r>
              <a:rPr lang="en-CA" b="0" dirty="0">
                <a:solidFill>
                  <a:schemeClr val="bg1"/>
                </a:solidFill>
                <a:effectLst/>
              </a:rPr>
              <a:t> to a CSV file called </a:t>
            </a:r>
            <a:r>
              <a:rPr lang="en-CA" b="0" dirty="0" err="1">
                <a:solidFill>
                  <a:schemeClr val="bg1"/>
                </a:solidFill>
                <a:effectLst/>
              </a:rPr>
              <a:t>exported_data.csv</a:t>
            </a:r>
            <a:r>
              <a:rPr lang="en-CA" b="0" dirty="0">
                <a:solidFill>
                  <a:schemeClr val="bg1"/>
                </a:solidFill>
                <a:effectLst/>
              </a:rPr>
              <a:t>.</a:t>
            </a:r>
          </a:p>
          <a:p>
            <a:pPr lvl="1"/>
            <a:endParaRPr lang="en-CA" b="0" dirty="0">
              <a:solidFill>
                <a:schemeClr val="bg1"/>
              </a:solidFill>
              <a:effectLst/>
              <a:cs typeface="Courier New" panose="02070309020205020404" pitchFamily="49" charset="0"/>
            </a:endParaRP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73736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DA621-36E5-93CB-975F-977142837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andas Cheat Sheet | PDF">
            <a:extLst>
              <a:ext uri="{FF2B5EF4-FFF2-40B4-BE49-F238E27FC236}">
                <a16:creationId xmlns:a16="http://schemas.microsoft.com/office/drawing/2014/main" id="{DCAA1ADF-1E58-6381-0707-853D86C51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0"/>
            <a:ext cx="8872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97287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</TotalTime>
  <Words>2030</Words>
  <Application>Microsoft Macintosh PowerPoint</Application>
  <PresentationFormat>Widescreen</PresentationFormat>
  <Paragraphs>276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Aptos</vt:lpstr>
      <vt:lpstr>Aptos Display</vt:lpstr>
      <vt:lpstr>Arial</vt:lpstr>
      <vt:lpstr>Calibri Light</vt:lpstr>
      <vt:lpstr>Courier New</vt:lpstr>
      <vt:lpstr>system-ui</vt:lpstr>
      <vt:lpstr>1_Office Theme</vt:lpstr>
      <vt:lpstr>11. pandas</vt:lpstr>
      <vt:lpstr>Learning objectives</vt:lpstr>
      <vt:lpstr>What is Pandas?</vt:lpstr>
      <vt:lpstr>DataFrames</vt:lpstr>
      <vt:lpstr>DataFrames</vt:lpstr>
      <vt:lpstr>DataFrames</vt:lpstr>
      <vt:lpstr>Inspecting DataFrames</vt:lpstr>
      <vt:lpstr>Inspecting DataFrames</vt:lpstr>
      <vt:lpstr>Renaming Columns in a DataFrames</vt:lpstr>
      <vt:lpstr>Profiling Columns in a DataFrames</vt:lpstr>
      <vt:lpstr>Profiling Columns in a DataFrames</vt:lpstr>
      <vt:lpstr>PowerPoint Presentation</vt:lpstr>
      <vt:lpstr>Changing data types</vt:lpstr>
      <vt:lpstr>Describing  DataFrame</vt:lpstr>
      <vt:lpstr>Dropping columns, creating new ones</vt:lpstr>
      <vt:lpstr>Dropping columns, creating new ones</vt:lpstr>
      <vt:lpstr>Filtering and selecting data</vt:lpstr>
      <vt:lpstr>Filtering and selecting data</vt:lpstr>
      <vt:lpstr>Filtering and selecting data</vt:lpstr>
      <vt:lpstr>Replacing values with str.replace</vt:lpstr>
      <vt:lpstr>Grouping</vt:lpstr>
      <vt:lpstr>Writing to file</vt:lpstr>
      <vt:lpstr>Quiz: Pandas</vt:lpstr>
      <vt:lpstr>Quiz: Pandas</vt:lpstr>
      <vt:lpstr>Quiz: Pandas</vt:lpstr>
      <vt:lpstr>Quiz: Pandas</vt:lpstr>
      <vt:lpstr>Quiz: Pandas</vt:lpstr>
      <vt:lpstr>Exercise: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101</cp:revision>
  <dcterms:created xsi:type="dcterms:W3CDTF">2026-01-19T21:33:29Z</dcterms:created>
  <dcterms:modified xsi:type="dcterms:W3CDTF">2026-04-10T17:12:41Z</dcterms:modified>
</cp:coreProperties>
</file>